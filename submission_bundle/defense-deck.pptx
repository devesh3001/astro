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417d71e3e8f44e4" /><Relationship Type="http://schemas.openxmlformats.org/officeDocument/2006/relationships/extended-properties" Target="/docProps/app.xml" Id="R317a93b5e3a94ee6" /><Relationship Type="http://schemas.openxmlformats.org/officeDocument/2006/relationships/officeDocument" Target="/ppt/presentation.xml" Id="R0a6ab2a5e9d447a1" /></Relationships>
</file>

<file path=ppt/presentation.xml><?xml version="1.0" encoding="utf-8"?>
<p:presentation xmlns:p="http://schemas.openxmlformats.org/presentationml/2006/main">
  <p:sldMasterIdLst>
    <p:sldMasterId xmlns:r="http://schemas.openxmlformats.org/officeDocument/2006/relationships" id="2147483648" r:id="R68dde7be5c7849f6"/>
  </p:sldMasterIdLst>
  <p:notesMasterIdLst>
    <p:notesMasterId xmlns:r="http://schemas.openxmlformats.org/officeDocument/2006/relationships" r:id="R563a810166564274"/>
  </p:notesMasterIdLst>
  <p:sldIdLst>
    <p:sldId xmlns:r="http://schemas.openxmlformats.org/officeDocument/2006/relationships" id="256" r:id="Rbf9ff73b7e9f48e5"/>
    <p:sldId xmlns:r="http://schemas.openxmlformats.org/officeDocument/2006/relationships" id="257" r:id="R48bedaf6beb34dc5"/>
    <p:sldId xmlns:r="http://schemas.openxmlformats.org/officeDocument/2006/relationships" id="258" r:id="R343364d7b77a4d06"/>
    <p:sldId xmlns:r="http://schemas.openxmlformats.org/officeDocument/2006/relationships" id="259" r:id="R5bf6de7d4f7f4e21"/>
    <p:sldId xmlns:r="http://schemas.openxmlformats.org/officeDocument/2006/relationships" id="260" r:id="R7a2d102ffa6f45fe"/>
    <p:sldId xmlns:r="http://schemas.openxmlformats.org/officeDocument/2006/relationships" id="261" r:id="R0aec0aa841fa47c9"/>
    <p:sldId xmlns:r="http://schemas.openxmlformats.org/officeDocument/2006/relationships" id="262" r:id="R6e9e2a5b22434f34"/>
    <p:sldId xmlns:r="http://schemas.openxmlformats.org/officeDocument/2006/relationships" id="263" r:id="R6aa87e8cce494292"/>
    <p:sldId xmlns:r="http://schemas.openxmlformats.org/officeDocument/2006/relationships" id="264" r:id="R82da38f329184792"/>
    <p:sldId xmlns:r="http://schemas.openxmlformats.org/officeDocument/2006/relationships" id="265" r:id="R159137bc250b40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803487690a54b1f" /><Relationship Type="http://schemas.openxmlformats.org/officeDocument/2006/relationships/slideMaster" Target="/ppt/slideMasters/slideMaster1.xml" Id="R68dde7be5c7849f6" /><Relationship Type="http://schemas.openxmlformats.org/officeDocument/2006/relationships/notesMaster" Target="/ppt/notesMasters/notesMaster1.xml" Id="R563a810166564274" /><Relationship Type="http://schemas.openxmlformats.org/officeDocument/2006/relationships/presProps" Target="/ppt/presProps.xml" Id="R0c29af2d4a6b42af" /><Relationship Type="http://schemas.openxmlformats.org/officeDocument/2006/relationships/tableStyles" Target="/ppt/tableStyles.xml" Id="Rfe14f16b8457438d" /><Relationship Type="http://schemas.openxmlformats.org/officeDocument/2006/relationships/slide" Target="/ppt/slides/slide1.xml" Id="Rbf9ff73b7e9f48e5" /><Relationship Type="http://schemas.openxmlformats.org/officeDocument/2006/relationships/slide" Target="/ppt/slides/slide2.xml" Id="R48bedaf6beb34dc5" /><Relationship Type="http://schemas.openxmlformats.org/officeDocument/2006/relationships/slide" Target="/ppt/slides/slide3.xml" Id="R343364d7b77a4d06" /><Relationship Type="http://schemas.openxmlformats.org/officeDocument/2006/relationships/slide" Target="/ppt/slides/slide4.xml" Id="R5bf6de7d4f7f4e21" /><Relationship Type="http://schemas.openxmlformats.org/officeDocument/2006/relationships/slide" Target="/ppt/slides/slide5.xml" Id="R7a2d102ffa6f45fe" /><Relationship Type="http://schemas.openxmlformats.org/officeDocument/2006/relationships/slide" Target="/ppt/slides/slide6.xml" Id="R0aec0aa841fa47c9" /><Relationship Type="http://schemas.openxmlformats.org/officeDocument/2006/relationships/slide" Target="/ppt/slides/slide7.xml" Id="R6e9e2a5b22434f34" /><Relationship Type="http://schemas.openxmlformats.org/officeDocument/2006/relationships/slide" Target="/ppt/slides/slide8.xml" Id="R6aa87e8cce494292" /><Relationship Type="http://schemas.openxmlformats.org/officeDocument/2006/relationships/slide" Target="/ppt/slides/slide9.xml" Id="R82da38f329184792" /><Relationship Type="http://schemas.openxmlformats.org/officeDocument/2006/relationships/slide" Target="/ppt/slides/slide10.xml" Id="R159137bc250b40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0cedcc68f749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a4ad4952334c84" /><Relationship Type="http://schemas.openxmlformats.org/officeDocument/2006/relationships/notesMaster" Target="/ppt/notesMasters/notesMaster1.xml" Id="Rdc8d0266ab5d4e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89f2f452e5cc435c" /><Relationship Type="http://schemas.openxmlformats.org/officeDocument/2006/relationships/notesMaster" Target="/ppt/notesMasters/notesMaster1.xml" Id="Ra29f01448196429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0343cdca3745d3" /><Relationship Type="http://schemas.openxmlformats.org/officeDocument/2006/relationships/notesMaster" Target="/ppt/notesMasters/notesMaster1.xml" Id="Ra7fbc2a1202c49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2b11aa073049a3" /><Relationship Type="http://schemas.openxmlformats.org/officeDocument/2006/relationships/notesMaster" Target="/ppt/notesMasters/notesMaster1.xml" Id="R86efd545bedc4be2" /></Relationships>
</file>

<file path=ppt/notesSlides/_rels/notesSlide5.xml.rels>&#65279;<?xml version="1.0" encoding="utf-8"?><Relationships xmlns="http://schemas.openxmlformats.org/package/2006/relationships"><Relationship Type="http://schemas.openxmlformats.org/officeDocument/2006/relationships/slide" Target="/ppt/slides/slide5.xml" Id="R3fe978b503d8423e" /><Relationship Type="http://schemas.openxmlformats.org/officeDocument/2006/relationships/notesMaster" Target="/ppt/notesMasters/notesMaster1.xml" Id="R50f652edac6f4e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8a38305b614783" /><Relationship Type="http://schemas.openxmlformats.org/officeDocument/2006/relationships/notesMaster" Target="/ppt/notesMasters/notesMaster1.xml" Id="R1f9f1ae5fba24a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441574706d5454a" /><Relationship Type="http://schemas.openxmlformats.org/officeDocument/2006/relationships/notesMaster" Target="/ppt/notesMasters/notesMaster1.xml" Id="R0785d6f21c894af0" /></Relationships>
</file>

<file path=ppt/notesSlides/_rels/notesSlide8.xml.rels>&#65279;<?xml version="1.0" encoding="utf-8"?><Relationships xmlns="http://schemas.openxmlformats.org/package/2006/relationships"><Relationship Type="http://schemas.openxmlformats.org/officeDocument/2006/relationships/slide" Target="/ppt/slides/slide8.xml" Id="R8e869a62bf3a471f" /><Relationship Type="http://schemas.openxmlformats.org/officeDocument/2006/relationships/notesMaster" Target="/ppt/notesMasters/notesMaster1.xml" Id="R000d0bdc2458405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098793162c64958" /><Relationship Type="http://schemas.openxmlformats.org/officeDocument/2006/relationships/notesMaster" Target="/ppt/notesMasters/notesMaster1.xml" Id="R15c93cb1805646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d4036b8517e44a5" /><Relationship Type="http://schemas.openxmlformats.org/officeDocument/2006/relationships/notesMaster" Target="/ppt/notesMasters/notesMaster1.xml" Id="R5021943c3ec2434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 We build an environment in which judges can evaluate an agent. The agent diagnoses and repairs a satellite simulation through tools. A separate verifier scores the actual mission history. We do not train a policy or claim flight certification. Sources: README.md and docs/model-assumptions.md.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0:35–1:25. Explain the transition from files and telemetry through tools to protected physical state. Ordinary successful tool calls cost 30 simulated seconds. step_orbit advances 1–30 minutes. Final scoring projects the remaining mission with the current configuration. Distinguish simulated time from the 600-second real execution budget.</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1:25–2:20. Be candid about the first five guided recovery tasks. Radio planning couples throughput, margin and energy. Early-pass recovery imposes a lost-contact deadline. Observation scheduling requires changing duty over time. Fixed nominal settings do not solve the three hard tasks in the measured policy comparison.</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2:20–3:25. Let d be constant duty over the 95-minute horizon. Exposure requires d at least 0.90. The energy allowance is 1.2 times full-window payload energy, giving d at most 1.2 times window length divided by 5700 seconds. For 600 or 900-second windows this is 0.126 or 0.189. The feasible reference plan turns the instrument off, waits, turns it on for the window, and turns it off. Tool time counts and the small switching overhead fits the budget. Alternative schedules also pass.</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3:25–4:25. Raw weights are power .35, thermal .25, pointing .20 and comms .20. Observation missions scale these by .8 and add exposure .20. Normalization measures progress beyond the projected no-op baseline. The implementation separately requires every mission check. A failed condition caps reward below .95 and a catastrophic event yields zero. Missed contact and exposure windows cannot be restored by editing final files.</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4:25–5:25. Walk through the harness, agent and behavioral evaluator. Verifier code is not in the sandbox image. Control endpoints require a rotated token. Workers run as UID 1001 and isolated scripts as UID 1002. Read-only root, internal network, bounded workspace, 128-process cgroup and descendant cleanup limit attacks. Docker and the host kernel remain trusted. Twelve real-container regressions passed, but finite tests do not prove absence of every exploit.</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5:25–6:30. These are scripted attacks, clearly labeled model_called false. They do not count as genuine model runs. Show that changing a deadband cannot change a protected pointing target, fabricated telemetry cannot forge the verifier, and missed temporal windows stay missed. The rewards below .95 are partial progress, not successes. Exact run IDs and reasons are in validation-evidence.json and the raw logs.</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6:30–7:35. Seventy-one Linux regressions include repeated reset hashes and reference/no-op checks across eight tasks and twenty seeds, 160 task-seed combinations. Twelve live tests cover real container isolation. All eight final-source gates pass. The table is a separate scripted HTTP policy comparison across eight tasks and five seeds. The reference is privileged, so 40/40 does not measure model reasoning. Nominal and max-radio fail every hard-task episode in this comparison. CI also enforces the isolated cold-build budget; consult the current workflow result for its measured time.</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7:35–8:45. Report all four provider attempts on the final fingerprint. Two EPS demos succeeded, with and without the sample append. Early pass received one reply, then APIConnectionError exhausted the retry cap. Observation received no reply and also exhausted retries. The zero-reply attempt is diagnostic evidence and does not qualify under our strict complete-run counter. Three complete runs remain, including the early-pass crash. There is no current-source hard-task model success claim. Elapsed values use the harness monotonic clock. Host or VM pauses produced much larger UTC gaps, so do not present these as independent external wall-clock certification. Previous six runs used an earlier source and remain historical.</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8:45–10:00. Open the verified Run A log for EPS seed zero: no append, reward one, seven replies, 29.31 harness seconds. During live demo start Compose and continue speaking while the model runs. Show gates, one tool result, live state and final verifier checks, without showing .env. Be explicit about simplified physics, guided introductory tasks, finite exploit tests and one tested deployment. The public repository remains an administrative exception to the private-repository PS instruction. Confirm exact team-name case, organizer access, deadline and form upload before claiming full compliance. Sources include docs/ps-checklist.md and the original PS.</a:t>
            </a:r>
          </a:p>
          <a:p xmlns:a="http://schemas.openxmlformats.org/drawingml/2006/main">
            <a:r>
              <a:t/>
            </a:r>
          </a:p>
          <a:p xmlns:a="http://schemas.openxmlformats.org/drawingml/2006/main">
            <a:r>
              <a:t>Sources: submission_bundle/validation-evidence.json, docs/model-assumptions.md and the supplied RL_Hackathon_by_2une_PS.pdf. Runtime fingerprint 9e2d94e2c2473ccc962847d23febc20536546690e6875a3d40c807b83bf755b2.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2fc5977c0548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d0da101b71e42c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9389c41042645d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e7e898e8fc34cb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fdbfc9e369845d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c055bbe7e584d1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315357-19A3-4070-8637-F312765D089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A95207-1034-4964-B47C-425756C34F5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91B61F-40B0-4C13-AF92-BAB1D3DF422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C902DC3-F4CC-42EE-86AC-8002A292D1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27357CF-9DB3-421D-B6A0-6C7A8EB8ADA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68E4062-4926-4DF1-A99F-8EAE963A73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DF338AF-213E-41D2-941E-64D625ABD26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E076147-D0E4-43BE-9277-89B2C2267B1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C752A9-F3F8-445C-A5CA-B7082E2E755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F90F5D9-48AE-47F4-9639-746CA949DE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e2c906c359f4c29" /><Relationship Type="http://schemas.openxmlformats.org/officeDocument/2006/relationships/slideLayout" Target="/ppt/slideLayouts/slideLayout1.xml" Id="R0ac323cea99d454a" /><Relationship Type="http://schemas.openxmlformats.org/officeDocument/2006/relationships/slideLayout" Target="/ppt/slideLayouts/slideLayout2.xml" Id="R0ee0d4c2d15e479a" /><Relationship Type="http://schemas.openxmlformats.org/officeDocument/2006/relationships/slideLayout" Target="/ppt/slideLayouts/slideLayout3.xml" Id="Rd50426eab6ba4aa4" /><Relationship Type="http://schemas.openxmlformats.org/officeDocument/2006/relationships/slideLayout" Target="/ppt/slideLayouts/slideLayout4.xml" Id="R3e0130a45bc84319" /><Relationship Type="http://schemas.openxmlformats.org/officeDocument/2006/relationships/slideLayout" Target="/ppt/slideLayouts/slideLayout5.xml" Id="Rf26d0bbdf37e4539" /><Relationship Type="http://schemas.openxmlformats.org/officeDocument/2006/relationships/slideLayout" Target="/ppt/slideLayouts/slideLayout6.xml" Id="R6d7113362b844a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c323cea99d454a"/>
    <p:sldLayoutId xmlns:r="http://schemas.openxmlformats.org/officeDocument/2006/relationships" id="2147483650" r:id="R0ee0d4c2d15e479a"/>
    <p:sldLayoutId xmlns:r="http://schemas.openxmlformats.org/officeDocument/2006/relationships" id="2147483651" r:id="Rd50426eab6ba4aa4"/>
    <p:sldLayoutId xmlns:r="http://schemas.openxmlformats.org/officeDocument/2006/relationships" id="2147483652" r:id="R3e0130a45bc84319"/>
    <p:sldLayoutId xmlns:r="http://schemas.openxmlformats.org/officeDocument/2006/relationships" id="2147483653" r:id="Rf26d0bbdf37e4539"/>
    <p:sldLayoutId xmlns:r="http://schemas.openxmlformats.org/officeDocument/2006/relationships" id="2147483654" r:id="R6d7113362b844a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1e3d0e980044de5" /><Relationship Type="http://schemas.openxmlformats.org/officeDocument/2006/relationships/notesSlide" Target="/ppt/notesSlides/notesSlide1.xml" Id="R0b473b7948174d4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2ab317fcc2847f3" /><Relationship Type="http://schemas.openxmlformats.org/officeDocument/2006/relationships/notesSlide" Target="/ppt/notesSlides/notesSlide2.xml" Id="R8ac70d6f817944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4b169cd3695439c" /><Relationship Type="http://schemas.openxmlformats.org/officeDocument/2006/relationships/notesSlide" Target="/ppt/notesSlides/notesSlide3.xml" Id="R7018d14faa0c43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1018ff6fd214914" /><Relationship Type="http://schemas.openxmlformats.org/officeDocument/2006/relationships/notesSlide" Target="/ppt/notesSlides/notesSlide4.xml" Id="R22694bcf2fd247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886ceb0c903432a" /><Relationship Type="http://schemas.openxmlformats.org/officeDocument/2006/relationships/notesSlide" Target="/ppt/notesSlides/notesSlide5.xml" Id="R82d9d94486bb48f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d6c64494a7f4e1c" /><Relationship Type="http://schemas.openxmlformats.org/officeDocument/2006/relationships/notesSlide" Target="/ppt/notesSlides/notesSlide6.xml" Id="R54864f7da40e44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f25dd5053724ba4" /><Relationship Type="http://schemas.openxmlformats.org/officeDocument/2006/relationships/notesSlide" Target="/ppt/notesSlides/notesSlide7.xml" Id="R24683e2d848f49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571da54c0234f01" /><Relationship Type="http://schemas.openxmlformats.org/officeDocument/2006/relationships/notesSlide" Target="/ppt/notesSlides/notesSlide8.xml" Id="R6b622fb6017543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ac4e6ff9e43453e" /><Relationship Type="http://schemas.openxmlformats.org/officeDocument/2006/relationships/notesSlide" Target="/ppt/notesSlides/notesSlide9.xml" Id="R9f7600ea10f045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04a10227f974459" /><Relationship Type="http://schemas.openxmlformats.org/officeDocument/2006/relationships/notesSlide" Target="/ppt/notesSlides/notesSlide10.xml" Id="R9251cafa92ec4b7a" /></Relationships>
</file>

<file path=ppt/slides/slide1.xml><?xml version="1.0" encoding="utf-8"?>
<p:sld xmlns:p="http://schemas.openxmlformats.org/presentationml/2006/main">
  <p:cSld>
    <p:bg>
      <p:bgPr>
        <a:solidFill xmlns:a="http://schemas.openxmlformats.org/drawingml/2006/main">
          <a:srgbClr val="10253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691A333-32B2-4274-B214-D5706C5E9DB8}"/>
              </a:ext>
            </a:extLst>
          </p:cNvPr>
          <p:cNvSpPr>
            <a:spLocks xmlns:a="http://schemas.openxmlformats.org/drawingml/2006/main" noGrp="1"/>
          </p:cNvSpPr>
          <p:nvPr/>
        </p:nvSpPr>
        <p:spPr>
          <a:xfrm xmlns:a="http://schemas.openxmlformats.org/drawingml/2006/main">
            <a:off x="609600" y="6572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55D9CB"/>
                </a:solidFill>
                <a:latin typeface="Arial"/>
                <a:ea typeface="Arial"/>
                <a:cs typeface="Arial"/>
              </a:defRPr>
            </a:defPPr>
            <a:lvl1pPr>
              <a:defRPr sz="1650" b="1">
                <a:solidFill>
                  <a:srgbClr val="55D9CB"/>
                </a:solidFill>
                <a:latin typeface="Arial"/>
                <a:ea typeface="Arial"/>
                <a:cs typeface="Arial"/>
              </a:defRPr>
            </a:lvl1pPr>
            <a:lvl2pPr>
              <a:defRPr sz="1650" b="1">
                <a:solidFill>
                  <a:srgbClr val="55D9CB"/>
                </a:solidFill>
                <a:latin typeface="Arial"/>
                <a:ea typeface="Arial"/>
                <a:cs typeface="Arial"/>
              </a:defRPr>
            </a:lvl2pPr>
            <a:lvl3pPr>
              <a:defRPr sz="1650" b="1">
                <a:solidFill>
                  <a:srgbClr val="55D9CB"/>
                </a:solidFill>
                <a:latin typeface="Arial"/>
                <a:ea typeface="Arial"/>
                <a:cs typeface="Arial"/>
              </a:defRPr>
            </a:lvl3pPr>
            <a:lvl4pPr>
              <a:defRPr sz="1650" b="1">
                <a:solidFill>
                  <a:srgbClr val="55D9CB"/>
                </a:solidFill>
                <a:latin typeface="Arial"/>
                <a:ea typeface="Arial"/>
                <a:cs typeface="Arial"/>
              </a:defRPr>
            </a:lvl4pPr>
            <a:lvl5pPr>
              <a:defRPr sz="1650" b="1">
                <a:solidFill>
                  <a:srgbClr val="55D9CB"/>
                </a:solidFill>
                <a:latin typeface="Arial"/>
                <a:ea typeface="Arial"/>
                <a:cs typeface="Arial"/>
              </a:defRPr>
            </a:lvl5pPr>
            <a:lvl6pPr>
              <a:defRPr sz="1650" b="1">
                <a:solidFill>
                  <a:srgbClr val="55D9CB"/>
                </a:solidFill>
                <a:latin typeface="Arial"/>
                <a:ea typeface="Arial"/>
                <a:cs typeface="Arial"/>
              </a:defRPr>
            </a:lvl6pPr>
            <a:lvl7pPr>
              <a:defRPr sz="1650" b="1">
                <a:solidFill>
                  <a:srgbClr val="55D9CB"/>
                </a:solidFill>
                <a:latin typeface="Arial"/>
                <a:ea typeface="Arial"/>
                <a:cs typeface="Arial"/>
              </a:defRPr>
            </a:lvl7pPr>
            <a:lvl8pPr>
              <a:defRPr sz="1650" b="1">
                <a:solidFill>
                  <a:srgbClr val="55D9CB"/>
                </a:solidFill>
                <a:latin typeface="Arial"/>
                <a:ea typeface="Arial"/>
                <a:cs typeface="Arial"/>
              </a:defRPr>
            </a:lvl8pPr>
            <a:lvl9pPr>
              <a:defRPr sz="1650" b="1">
                <a:solidFill>
                  <a:srgbClr val="55D9CB"/>
                </a:solidFill>
                <a:latin typeface="Arial"/>
                <a:ea typeface="Arial"/>
                <a:cs typeface="Arial"/>
              </a:defRPr>
            </a:lvl9pPr>
          </a:lstStyle>
          <a:p xmlns:a="http://schemas.openxmlformats.org/drawingml/2006/main">
            <a:pPr>
              <a:defRPr sz="1650" b="1">
                <a:solidFill>
                  <a:srgbClr val="55D9CB"/>
                </a:solidFill>
                <a:latin typeface="Arial"/>
                <a:ea typeface="Arial"/>
                <a:cs typeface="Arial"/>
              </a:defRPr>
            </a:pPr>
            <a:r>
              <a:rPr sz="1650" b="1">
                <a:solidFill>
                  <a:srgbClr val="55D9CB"/>
                </a:solidFill>
                <a:latin typeface="Arial"/>
                <a:ea typeface="Arial"/>
                <a:cs typeface="Arial"/>
              </a:rPr>
              <a:t>TEAM ASTRO</a:t>
            </a:r>
          </a:p>
        </p:txBody>
      </p:sp>
      <p:sp>
        <p:nvSpPr>
          <p:cNvPr id="2" name="">
            <a:extLst xmlns:a="http://schemas.openxmlformats.org/drawingml/2006/main">
              <a:ext uri="{FF2B5EF4-FFF2-40B4-BE49-F238E27FC236}">
                <a16:creationId xmlns:a16="http://schemas.microsoft.com/office/drawing/2014/main" id="{1E98D125-86A0-4B04-80FF-02F1498C1C89}"/>
              </a:ext>
            </a:extLst>
          </p:cNvPr>
          <p:cNvSpPr>
            <a:spLocks xmlns:a="http://schemas.openxmlformats.org/drawingml/2006/main" noGrp="1"/>
          </p:cNvSpPr>
          <p:nvPr/>
        </p:nvSpPr>
        <p:spPr>
          <a:xfrm xmlns:a="http://schemas.openxmlformats.org/drawingml/2006/main">
            <a:off x="609600" y="1885950"/>
            <a:ext cx="109728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FFFFFF"/>
                </a:solidFill>
                <a:latin typeface="Arial"/>
                <a:ea typeface="Arial"/>
                <a:cs typeface="Arial"/>
              </a:defRPr>
            </a:defPPr>
            <a:lvl1pPr>
              <a:defRPr sz="6150" b="1">
                <a:solidFill>
                  <a:srgbClr val="FFFFFF"/>
                </a:solidFill>
                <a:latin typeface="Arial"/>
                <a:ea typeface="Arial"/>
                <a:cs typeface="Arial"/>
              </a:defRPr>
            </a:lvl1pPr>
            <a:lvl2pPr>
              <a:defRPr sz="6150" b="1">
                <a:solidFill>
                  <a:srgbClr val="FFFFFF"/>
                </a:solidFill>
                <a:latin typeface="Arial"/>
                <a:ea typeface="Arial"/>
                <a:cs typeface="Arial"/>
              </a:defRPr>
            </a:lvl2pPr>
            <a:lvl3pPr>
              <a:defRPr sz="6150" b="1">
                <a:solidFill>
                  <a:srgbClr val="FFFFFF"/>
                </a:solidFill>
                <a:latin typeface="Arial"/>
                <a:ea typeface="Arial"/>
                <a:cs typeface="Arial"/>
              </a:defRPr>
            </a:lvl3pPr>
            <a:lvl4pPr>
              <a:defRPr sz="6150" b="1">
                <a:solidFill>
                  <a:srgbClr val="FFFFFF"/>
                </a:solidFill>
                <a:latin typeface="Arial"/>
                <a:ea typeface="Arial"/>
                <a:cs typeface="Arial"/>
              </a:defRPr>
            </a:lvl4pPr>
            <a:lvl5pPr>
              <a:defRPr sz="6150" b="1">
                <a:solidFill>
                  <a:srgbClr val="FFFFFF"/>
                </a:solidFill>
                <a:latin typeface="Arial"/>
                <a:ea typeface="Arial"/>
                <a:cs typeface="Arial"/>
              </a:defRPr>
            </a:lvl5pPr>
            <a:lvl6pPr>
              <a:defRPr sz="6150" b="1">
                <a:solidFill>
                  <a:srgbClr val="FFFFFF"/>
                </a:solidFill>
                <a:latin typeface="Arial"/>
                <a:ea typeface="Arial"/>
                <a:cs typeface="Arial"/>
              </a:defRPr>
            </a:lvl6pPr>
            <a:lvl7pPr>
              <a:defRPr sz="6150" b="1">
                <a:solidFill>
                  <a:srgbClr val="FFFFFF"/>
                </a:solidFill>
                <a:latin typeface="Arial"/>
                <a:ea typeface="Arial"/>
                <a:cs typeface="Arial"/>
              </a:defRPr>
            </a:lvl7pPr>
            <a:lvl8pPr>
              <a:defRPr sz="6150" b="1">
                <a:solidFill>
                  <a:srgbClr val="FFFFFF"/>
                </a:solidFill>
                <a:latin typeface="Arial"/>
                <a:ea typeface="Arial"/>
                <a:cs typeface="Arial"/>
              </a:defRPr>
            </a:lvl8pPr>
            <a:lvl9pPr>
              <a:defRPr sz="6150" b="1">
                <a:solidFill>
                  <a:srgbClr val="FFFFFF"/>
                </a:solidFill>
                <a:latin typeface="Arial"/>
                <a:ea typeface="Arial"/>
                <a:cs typeface="Arial"/>
              </a:defRPr>
            </a:lvl9pPr>
          </a:lstStyle>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AeroSentinel</a:t>
            </a:r>
          </a:p>
        </p:txBody>
      </p:sp>
      <p:sp>
        <p:nvSpPr>
          <p:cNvPr id="3" name="">
            <a:extLst xmlns:a="http://schemas.openxmlformats.org/drawingml/2006/main">
              <a:ext uri="{FF2B5EF4-FFF2-40B4-BE49-F238E27FC236}">
                <a16:creationId xmlns:a16="http://schemas.microsoft.com/office/drawing/2014/main" id="{29A628F0-BEC1-45D9-BF7E-FDBCD23D549E}"/>
              </a:ext>
            </a:extLst>
          </p:cNvPr>
          <p:cNvSpPr>
            <a:spLocks xmlns:a="http://schemas.openxmlformats.org/drawingml/2006/main" noGrp="1"/>
          </p:cNvSpPr>
          <p:nvPr/>
        </p:nvSpPr>
        <p:spPr>
          <a:xfrm xmlns:a="http://schemas.openxmlformats.org/drawingml/2006/main">
            <a:off x="609600" y="3314700"/>
            <a:ext cx="107632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FFFFFF"/>
                </a:solidFill>
                <a:latin typeface="Arial"/>
                <a:ea typeface="Arial"/>
                <a:cs typeface="Arial"/>
              </a:defRPr>
            </a:defPPr>
            <a:lvl1pPr>
              <a:defRPr sz="2925" b="0">
                <a:solidFill>
                  <a:srgbClr val="FFFFFF"/>
                </a:solidFill>
                <a:latin typeface="Arial"/>
                <a:ea typeface="Arial"/>
                <a:cs typeface="Arial"/>
              </a:defRPr>
            </a:lvl1pPr>
            <a:lvl2pPr>
              <a:defRPr sz="2925" b="0">
                <a:solidFill>
                  <a:srgbClr val="FFFFFF"/>
                </a:solidFill>
                <a:latin typeface="Arial"/>
                <a:ea typeface="Arial"/>
                <a:cs typeface="Arial"/>
              </a:defRPr>
            </a:lvl2pPr>
            <a:lvl3pPr>
              <a:defRPr sz="2925" b="0">
                <a:solidFill>
                  <a:srgbClr val="FFFFFF"/>
                </a:solidFill>
                <a:latin typeface="Arial"/>
                <a:ea typeface="Arial"/>
                <a:cs typeface="Arial"/>
              </a:defRPr>
            </a:lvl3pPr>
            <a:lvl4pPr>
              <a:defRPr sz="2925" b="0">
                <a:solidFill>
                  <a:srgbClr val="FFFFFF"/>
                </a:solidFill>
                <a:latin typeface="Arial"/>
                <a:ea typeface="Arial"/>
                <a:cs typeface="Arial"/>
              </a:defRPr>
            </a:lvl4pPr>
            <a:lvl5pPr>
              <a:defRPr sz="2925" b="0">
                <a:solidFill>
                  <a:srgbClr val="FFFFFF"/>
                </a:solidFill>
                <a:latin typeface="Arial"/>
                <a:ea typeface="Arial"/>
                <a:cs typeface="Arial"/>
              </a:defRPr>
            </a:lvl5pPr>
            <a:lvl6pPr>
              <a:defRPr sz="2925" b="0">
                <a:solidFill>
                  <a:srgbClr val="FFFFFF"/>
                </a:solidFill>
                <a:latin typeface="Arial"/>
                <a:ea typeface="Arial"/>
                <a:cs typeface="Arial"/>
              </a:defRPr>
            </a:lvl6pPr>
            <a:lvl7pPr>
              <a:defRPr sz="2925" b="0">
                <a:solidFill>
                  <a:srgbClr val="FFFFFF"/>
                </a:solidFill>
                <a:latin typeface="Arial"/>
                <a:ea typeface="Arial"/>
                <a:cs typeface="Arial"/>
              </a:defRPr>
            </a:lvl7pPr>
            <a:lvl8pPr>
              <a:defRPr sz="2925" b="0">
                <a:solidFill>
                  <a:srgbClr val="FFFFFF"/>
                </a:solidFill>
                <a:latin typeface="Arial"/>
                <a:ea typeface="Arial"/>
                <a:cs typeface="Arial"/>
              </a:defRPr>
            </a:lvl8pPr>
            <a:lvl9pPr>
              <a:defRPr sz="2925" b="0">
                <a:solidFill>
                  <a:srgbClr val="FFFFFF"/>
                </a:solidFill>
                <a:latin typeface="Arial"/>
                <a:ea typeface="Arial"/>
                <a:cs typeface="Arial"/>
              </a:defRPr>
            </a:lvl9pPr>
          </a:lstStyle>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Satellite recovery decisions</a:t>
            </a:r>
          </a:p>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with protected mission history</a:t>
            </a:r>
          </a:p>
        </p:txBody>
      </p:sp>
      <p:sp>
        <p:nvSpPr>
          <p:cNvPr id="4" name="">
            <a:extLst xmlns:a="http://schemas.openxmlformats.org/drawingml/2006/main">
              <a:ext uri="{FF2B5EF4-FFF2-40B4-BE49-F238E27FC236}">
                <a16:creationId xmlns:a16="http://schemas.microsoft.com/office/drawing/2014/main" id="{F80DDAA1-3160-4C1E-BB01-EA7737BE7C27}"/>
              </a:ext>
            </a:extLst>
          </p:cNvPr>
          <p:cNvSpPr>
            <a:spLocks xmlns:a="http://schemas.openxmlformats.org/drawingml/2006/main" noGrp="1"/>
          </p:cNvSpPr>
          <p:nvPr/>
        </p:nvSpPr>
        <p:spPr>
          <a:xfrm xmlns:a="http://schemas.openxmlformats.org/drawingml/2006/main">
            <a:off x="609600" y="5238750"/>
            <a:ext cx="10906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BCD0DB"/>
                </a:solidFill>
                <a:latin typeface="Arial"/>
                <a:ea typeface="Arial"/>
                <a:cs typeface="Arial"/>
              </a:defRPr>
            </a:defPPr>
            <a:lvl1pPr>
              <a:defRPr sz="1800" b="0">
                <a:solidFill>
                  <a:srgbClr val="BCD0DB"/>
                </a:solidFill>
                <a:latin typeface="Arial"/>
                <a:ea typeface="Arial"/>
                <a:cs typeface="Arial"/>
              </a:defRPr>
            </a:lvl1pPr>
            <a:lvl2pPr>
              <a:defRPr sz="1800" b="0">
                <a:solidFill>
                  <a:srgbClr val="BCD0DB"/>
                </a:solidFill>
                <a:latin typeface="Arial"/>
                <a:ea typeface="Arial"/>
                <a:cs typeface="Arial"/>
              </a:defRPr>
            </a:lvl2pPr>
            <a:lvl3pPr>
              <a:defRPr sz="1800" b="0">
                <a:solidFill>
                  <a:srgbClr val="BCD0DB"/>
                </a:solidFill>
                <a:latin typeface="Arial"/>
                <a:ea typeface="Arial"/>
                <a:cs typeface="Arial"/>
              </a:defRPr>
            </a:lvl3pPr>
            <a:lvl4pPr>
              <a:defRPr sz="1800" b="0">
                <a:solidFill>
                  <a:srgbClr val="BCD0DB"/>
                </a:solidFill>
                <a:latin typeface="Arial"/>
                <a:ea typeface="Arial"/>
                <a:cs typeface="Arial"/>
              </a:defRPr>
            </a:lvl4pPr>
            <a:lvl5pPr>
              <a:defRPr sz="1800" b="0">
                <a:solidFill>
                  <a:srgbClr val="BCD0DB"/>
                </a:solidFill>
                <a:latin typeface="Arial"/>
                <a:ea typeface="Arial"/>
                <a:cs typeface="Arial"/>
              </a:defRPr>
            </a:lvl5pPr>
            <a:lvl6pPr>
              <a:defRPr sz="1800" b="0">
                <a:solidFill>
                  <a:srgbClr val="BCD0DB"/>
                </a:solidFill>
                <a:latin typeface="Arial"/>
                <a:ea typeface="Arial"/>
                <a:cs typeface="Arial"/>
              </a:defRPr>
            </a:lvl6pPr>
            <a:lvl7pPr>
              <a:defRPr sz="1800" b="0">
                <a:solidFill>
                  <a:srgbClr val="BCD0DB"/>
                </a:solidFill>
                <a:latin typeface="Arial"/>
                <a:ea typeface="Arial"/>
                <a:cs typeface="Arial"/>
              </a:defRPr>
            </a:lvl7pPr>
            <a:lvl8pPr>
              <a:defRPr sz="1800" b="0">
                <a:solidFill>
                  <a:srgbClr val="BCD0DB"/>
                </a:solidFill>
                <a:latin typeface="Arial"/>
                <a:ea typeface="Arial"/>
                <a:cs typeface="Arial"/>
              </a:defRPr>
            </a:lvl8pPr>
            <a:lvl9pPr>
              <a:defRPr sz="1800" b="0">
                <a:solidFill>
                  <a:srgbClr val="BCD0DB"/>
                </a:solidFill>
                <a:latin typeface="Arial"/>
                <a:ea typeface="Arial"/>
                <a:cs typeface="Arial"/>
              </a:defRPr>
            </a:lvl9pPr>
          </a:lstStyle>
          <a:p xmlns:a="http://schemas.openxmlformats.org/drawingml/2006/main">
            <a:pPr>
              <a:defRPr sz="1800" b="0">
                <a:solidFill>
                  <a:srgbClr val="BCD0DB"/>
                </a:solidFill>
                <a:latin typeface="Arial"/>
                <a:ea typeface="Arial"/>
                <a:cs typeface="Arial"/>
              </a:defRPr>
            </a:pPr>
            <a:r>
              <a:rPr sz="1800" b="0">
                <a:solidFill>
                  <a:srgbClr val="BCD0DB"/>
                </a:solidFill>
                <a:latin typeface="Arial"/>
                <a:ea typeface="Arial"/>
                <a:cs typeface="Arial"/>
              </a:rPr>
              <a:t>8 task families   /   3 difficulty levels   /   tool-using agents</a:t>
            </a:r>
          </a:p>
        </p:txBody>
      </p:sp>
      <p:sp>
        <p:nvSpPr>
          <p:cNvPr id="5" name="">
            <a:extLst xmlns:a="http://schemas.openxmlformats.org/drawingml/2006/main">
              <a:ext uri="{FF2B5EF4-FFF2-40B4-BE49-F238E27FC236}">
                <a16:creationId xmlns:a16="http://schemas.microsoft.com/office/drawing/2014/main" id="{BBE52F63-C8A4-4600-829F-5E6FCF7E1DF8}"/>
              </a:ext>
            </a:extLst>
          </p:cNvPr>
          <p:cNvSpPr>
            <a:spLocks xmlns:a="http://schemas.openxmlformats.org/drawingml/2006/main" noGrp="1"/>
          </p:cNvSpPr>
          <p:nvPr/>
        </p:nvSpPr>
        <p:spPr>
          <a:xfrm xmlns:a="http://schemas.openxmlformats.org/drawingml/2006/main">
            <a:off x="609600" y="620077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CD0DB"/>
                </a:solidFill>
                <a:latin typeface="Arial"/>
                <a:ea typeface="Arial"/>
                <a:cs typeface="Arial"/>
              </a:defRPr>
            </a:defPPr>
            <a:lvl1pPr>
              <a:defRPr sz="1350" b="0">
                <a:solidFill>
                  <a:srgbClr val="BCD0DB"/>
                </a:solidFill>
                <a:latin typeface="Arial"/>
                <a:ea typeface="Arial"/>
                <a:cs typeface="Arial"/>
              </a:defRPr>
            </a:lvl1pPr>
            <a:lvl2pPr>
              <a:defRPr sz="1350" b="0">
                <a:solidFill>
                  <a:srgbClr val="BCD0DB"/>
                </a:solidFill>
                <a:latin typeface="Arial"/>
                <a:ea typeface="Arial"/>
                <a:cs typeface="Arial"/>
              </a:defRPr>
            </a:lvl2pPr>
            <a:lvl3pPr>
              <a:defRPr sz="1350" b="0">
                <a:solidFill>
                  <a:srgbClr val="BCD0DB"/>
                </a:solidFill>
                <a:latin typeface="Arial"/>
                <a:ea typeface="Arial"/>
                <a:cs typeface="Arial"/>
              </a:defRPr>
            </a:lvl3pPr>
            <a:lvl4pPr>
              <a:defRPr sz="1350" b="0">
                <a:solidFill>
                  <a:srgbClr val="BCD0DB"/>
                </a:solidFill>
                <a:latin typeface="Arial"/>
                <a:ea typeface="Arial"/>
                <a:cs typeface="Arial"/>
              </a:defRPr>
            </a:lvl4pPr>
            <a:lvl5pPr>
              <a:defRPr sz="1350" b="0">
                <a:solidFill>
                  <a:srgbClr val="BCD0DB"/>
                </a:solidFill>
                <a:latin typeface="Arial"/>
                <a:ea typeface="Arial"/>
                <a:cs typeface="Arial"/>
              </a:defRPr>
            </a:lvl5pPr>
            <a:lvl6pPr>
              <a:defRPr sz="1350" b="0">
                <a:solidFill>
                  <a:srgbClr val="BCD0DB"/>
                </a:solidFill>
                <a:latin typeface="Arial"/>
                <a:ea typeface="Arial"/>
                <a:cs typeface="Arial"/>
              </a:defRPr>
            </a:lvl6pPr>
            <a:lvl7pPr>
              <a:defRPr sz="1350" b="0">
                <a:solidFill>
                  <a:srgbClr val="BCD0DB"/>
                </a:solidFill>
                <a:latin typeface="Arial"/>
                <a:ea typeface="Arial"/>
                <a:cs typeface="Arial"/>
              </a:defRPr>
            </a:lvl7pPr>
            <a:lvl8pPr>
              <a:defRPr sz="1350" b="0">
                <a:solidFill>
                  <a:srgbClr val="BCD0DB"/>
                </a:solidFill>
                <a:latin typeface="Arial"/>
                <a:ea typeface="Arial"/>
                <a:cs typeface="Arial"/>
              </a:defRPr>
            </a:lvl8pPr>
            <a:lvl9pPr>
              <a:defRPr sz="1350" b="0">
                <a:solidFill>
                  <a:srgbClr val="BCD0DB"/>
                </a:solidFill>
                <a:latin typeface="Arial"/>
                <a:ea typeface="Arial"/>
                <a:cs typeface="Arial"/>
              </a:defRPr>
            </a:lvl9pPr>
          </a:lstStyle>
          <a:p xmlns:a="http://schemas.openxmlformats.org/drawingml/2006/main">
            <a:pPr>
              <a:defRPr sz="1350" b="0">
                <a:solidFill>
                  <a:srgbClr val="BCD0DB"/>
                </a:solidFill>
                <a:latin typeface="Arial"/>
                <a:ea typeface="Arial"/>
                <a:cs typeface="Arial"/>
              </a:defRPr>
            </a:pPr>
            <a:r>
              <a:rPr sz="1350" b="0">
                <a:solidFill>
                  <a:srgbClr val="BCD0DB"/>
                </a:solidFill>
                <a:latin typeface="Arial"/>
                <a:ea typeface="Arial"/>
                <a:cs typeface="Arial"/>
              </a:rPr>
              <a:t>A declared benchmark simulator</a:t>
            </a:r>
          </a:p>
        </p:txBody>
      </p:sp>
    </p:spTree>
    <p:extLst>
      <p:ext uri="{BB962C8B-B14F-4D97-AF65-F5344CB8AC3E}">
        <p14:creationId xmlns:p14="http://schemas.microsoft.com/office/powerpoint/2010/main" val="16528051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FF0982-45F2-466E-A669-EE05A056B9CA}"/>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ENVIRONMENT CONTRACT</a:t>
            </a:r>
          </a:p>
        </p:txBody>
      </p:sp>
      <p:sp>
        <p:nvSpPr>
          <p:cNvPr id="2" name="">
            <a:extLst xmlns:a="http://schemas.openxmlformats.org/drawingml/2006/main">
              <a:ext uri="{FF2B5EF4-FFF2-40B4-BE49-F238E27FC236}">
                <a16:creationId xmlns:a16="http://schemas.microsoft.com/office/drawing/2014/main" id="{34A2E80B-2A04-444B-841F-52C0505322A8}"/>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Each action changes a persistent mission</a:t>
            </a:r>
          </a:p>
        </p:txBody>
      </p:sp>
      <p:sp>
        <p:nvSpPr>
          <p:cNvPr id="3" name="">
            <a:extLst xmlns:a="http://schemas.openxmlformats.org/drawingml/2006/main">
              <a:ext uri="{FF2B5EF4-FFF2-40B4-BE49-F238E27FC236}">
                <a16:creationId xmlns:a16="http://schemas.microsoft.com/office/drawing/2014/main" id="{65F0D671-6882-4695-B7C3-5FF736E4204B}"/>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959D965E-DBF0-4388-B1DC-F31EC61C61AA}"/>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02</a:t>
            </a:r>
          </a:p>
        </p:txBody>
      </p:sp>
      <p:graphicFrame>
        <p:nvGraphicFramePr>
          <p:cNvPr id="5" name="">
            <a:extLst xmlns:a="http://schemas.openxmlformats.org/drawingml/2006/main">
              <a:ext uri="{FF2B5EF4-FFF2-40B4-BE49-F238E27FC236}">
                <a16:creationId xmlns:a16="http://schemas.microsoft.com/office/drawing/2014/main" id="{AF503F99-1ECC-431F-9BA4-E71C612C505D}"/>
              </a:ext>
            </a:extLst>
          </p:cNvPr>
          <p:cNvGraphicFramePr/>
          <p:nvPr/>
        </p:nvGraphicFramePr>
        <p:xfrm>
          <a:off xmlns:a="http://schemas.openxmlformats.org/drawingml/2006/main" x="609600" y="2076450"/>
          <a:ext xmlns:a="http://schemas.openxmlformats.org/drawingml/2006/main" cx="10972800" cy="3276600"/>
        </p:xfrm>
        <a:graphic xmlns:a="http://schemas.openxmlformats.org/drawingml/2006/main">
          <a:graphicData uri="http://schemas.openxmlformats.org/drawingml/2006/table">
            <a:tbl>
              <a:tblPr/>
              <a:tblGrid>
                <a:gridCol w="2095500"/>
                <a:gridCol w="4476750"/>
                <a:gridCol w="4400550"/>
              </a:tblGrid>
              <a:tr h="819150">
                <a:tc>
                  <a:txBody>
                    <a:bodyPr/>
                    <a:lstStyle/>
                    <a:p>
                      <a:r>
                        <a:rPr sz="1500" b="1">
                          <a:solidFill>
                            <a:srgbClr val="FFFFFF"/>
                          </a:solidFill>
                          <a:latin typeface="Arial"/>
                          <a:ea typeface="Arial"/>
                          <a:cs typeface="Arial"/>
                        </a:rPr>
                        <a:t>Layer</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Agent sees or controls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Verifier evaluates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19150">
                <a:tc>
                  <a:txBody>
                    <a:bodyPr/>
                    <a:lstStyle/>
                    <a:p>
                      <a:r>
                        <a:rPr sz="1725" b="0">
                          <a:solidFill>
                            <a:srgbClr val="193447"/>
                          </a:solidFill>
                          <a:latin typeface="Arial"/>
                          <a:ea typeface="Arial"/>
                          <a:cs typeface="Arial"/>
                        </a:rPr>
                        <a:t>Observations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Manual, configs, mission targets</a:t>
                      </a:r>
                    </a:p>
                    <a:p>
                      <a:r>
                        <a:rPr sz="1725" b="0">
                          <a:solidFill>
                            <a:srgbClr val="193447"/>
                          </a:solidFill>
                          <a:latin typeface="Arial"/>
                          <a:ea typeface="Arial"/>
                          <a:cs typeface="Arial"/>
                        </a:rPr>
                        <a:t>and live telemetry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Seeded protected facts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19150">
                <a:tc>
                  <a:txBody>
                    <a:bodyPr/>
                    <a:lstStyle/>
                    <a:p>
                      <a:r>
                        <a:rPr sz="1725" b="0">
                          <a:solidFill>
                            <a:srgbClr val="193447"/>
                          </a:solidFill>
                          <a:latin typeface="Arial"/>
                          <a:ea typeface="Arial"/>
                          <a:cs typeface="Arial"/>
                        </a:rPr>
                        <a:t>Actions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Read, write, run Python,</a:t>
                      </a:r>
                    </a:p>
                    <a:p>
                      <a:r>
                        <a:rPr sz="1725" b="0">
                          <a:solidFill>
                            <a:srgbClr val="193447"/>
                          </a:solidFill>
                          <a:latin typeface="Arial"/>
                          <a:ea typeface="Arial"/>
                          <a:cs typeface="Arial"/>
                        </a:rPr>
                        <a:t>advance orbit, finish</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Time, energy, exposure</a:t>
                      </a:r>
                    </a:p>
                    <a:p>
                      <a:r>
                        <a:rPr sz="1725" b="0">
                          <a:solidFill>
                            <a:srgbClr val="193447"/>
                          </a:solidFill>
                          <a:latin typeface="Arial"/>
                          <a:ea typeface="Arial"/>
                          <a:cs typeface="Arial"/>
                        </a:rPr>
                        <a:t>and delivered data</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19150">
                <a:tc>
                  <a:txBody>
                    <a:bodyPr/>
                    <a:lstStyle/>
                    <a:p>
                      <a:r>
                        <a:rPr sz="1725" b="0">
                          <a:solidFill>
                            <a:srgbClr val="193447"/>
                          </a:solidFill>
                          <a:latin typeface="Arial"/>
                          <a:ea typeface="Arial"/>
                          <a:cs typeface="Arial"/>
                        </a:rPr>
                        <a:t>Limits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40 replies and 10 tools per reply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600 seconds plus a separate</a:t>
                      </a:r>
                    </a:p>
                    <a:p>
                      <a:r>
                        <a:rPr sz="1725" b="0">
                          <a:solidFill>
                            <a:srgbClr val="193447"/>
                          </a:solidFill>
                          <a:latin typeface="Arial"/>
                          <a:ea typeface="Arial"/>
                          <a:cs typeface="Arial"/>
                        </a:rPr>
                        <a:t>120-second final check</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FFCEAC49-7B0F-4951-B5B2-7EB15D23EC6C}"/>
              </a:ext>
            </a:extLst>
          </p:cNvPr>
          <p:cNvSpPr>
            <a:spLocks xmlns:a="http://schemas.openxmlformats.org/drawingml/2006/main" noGrp="1"/>
          </p:cNvSpPr>
          <p:nvPr/>
        </p:nvSpPr>
        <p:spPr>
          <a:xfrm xmlns:a="http://schemas.openxmlformats.org/drawingml/2006/main">
            <a:off x="609600" y="5648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E83"/>
                </a:solidFill>
                <a:latin typeface="Arial"/>
                <a:ea typeface="Arial"/>
                <a:cs typeface="Arial"/>
              </a:defRPr>
            </a:defPPr>
            <a:lvl1pPr>
              <a:defRPr sz="1875" b="1">
                <a:solidFill>
                  <a:srgbClr val="007E83"/>
                </a:solidFill>
                <a:latin typeface="Arial"/>
                <a:ea typeface="Arial"/>
                <a:cs typeface="Arial"/>
              </a:defRPr>
            </a:lvl1pPr>
            <a:lvl2pPr>
              <a:defRPr sz="1875" b="1">
                <a:solidFill>
                  <a:srgbClr val="007E83"/>
                </a:solidFill>
                <a:latin typeface="Arial"/>
                <a:ea typeface="Arial"/>
                <a:cs typeface="Arial"/>
              </a:defRPr>
            </a:lvl2pPr>
            <a:lvl3pPr>
              <a:defRPr sz="1875" b="1">
                <a:solidFill>
                  <a:srgbClr val="007E83"/>
                </a:solidFill>
                <a:latin typeface="Arial"/>
                <a:ea typeface="Arial"/>
                <a:cs typeface="Arial"/>
              </a:defRPr>
            </a:lvl3pPr>
            <a:lvl4pPr>
              <a:defRPr sz="1875" b="1">
                <a:solidFill>
                  <a:srgbClr val="007E83"/>
                </a:solidFill>
                <a:latin typeface="Arial"/>
                <a:ea typeface="Arial"/>
                <a:cs typeface="Arial"/>
              </a:defRPr>
            </a:lvl4pPr>
            <a:lvl5pPr>
              <a:defRPr sz="1875" b="1">
                <a:solidFill>
                  <a:srgbClr val="007E83"/>
                </a:solidFill>
                <a:latin typeface="Arial"/>
                <a:ea typeface="Arial"/>
                <a:cs typeface="Arial"/>
              </a:defRPr>
            </a:lvl5pPr>
            <a:lvl6pPr>
              <a:defRPr sz="1875" b="1">
                <a:solidFill>
                  <a:srgbClr val="007E83"/>
                </a:solidFill>
                <a:latin typeface="Arial"/>
                <a:ea typeface="Arial"/>
                <a:cs typeface="Arial"/>
              </a:defRPr>
            </a:lvl6pPr>
            <a:lvl7pPr>
              <a:defRPr sz="1875" b="1">
                <a:solidFill>
                  <a:srgbClr val="007E83"/>
                </a:solidFill>
                <a:latin typeface="Arial"/>
                <a:ea typeface="Arial"/>
                <a:cs typeface="Arial"/>
              </a:defRPr>
            </a:lvl7pPr>
            <a:lvl8pPr>
              <a:defRPr sz="1875" b="1">
                <a:solidFill>
                  <a:srgbClr val="007E83"/>
                </a:solidFill>
                <a:latin typeface="Arial"/>
                <a:ea typeface="Arial"/>
                <a:cs typeface="Arial"/>
              </a:defRPr>
            </a:lvl8pPr>
            <a:lvl9pPr>
              <a:defRPr sz="1875" b="1">
                <a:solidFill>
                  <a:srgbClr val="007E83"/>
                </a:solidFill>
                <a:latin typeface="Arial"/>
                <a:ea typeface="Arial"/>
                <a:cs typeface="Arial"/>
              </a:defRPr>
            </a:lvl9pPr>
          </a:lstStyle>
          <a:p xmlns:a="http://schemas.openxmlformats.org/drawingml/2006/main">
            <a:pPr>
              <a:defRPr sz="1875" b="1">
                <a:solidFill>
                  <a:srgbClr val="007E83"/>
                </a:solidFill>
                <a:latin typeface="Arial"/>
                <a:ea typeface="Arial"/>
                <a:cs typeface="Arial"/>
              </a:defRPr>
            </a:pPr>
            <a:r>
              <a:rPr sz="1875" b="1">
                <a:solidFill>
                  <a:srgbClr val="007E83"/>
                </a:solidFill>
                <a:latin typeface="Arial"/>
                <a:ea typeface="Arial"/>
                <a:cs typeface="Arial"/>
              </a:rPr>
              <a:t>The same tool and reward contract applies to every configured model.</a:t>
            </a:r>
          </a:p>
        </p:txBody>
      </p:sp>
    </p:spTree>
    <p:extLst>
      <p:ext uri="{BB962C8B-B14F-4D97-AF65-F5344CB8AC3E}">
        <p14:creationId xmlns:p14="http://schemas.microsoft.com/office/powerpoint/2010/main" val="95858469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DCFE81-8892-493D-AD25-F07C06DB6A27}"/>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EIGHT TASK FAMILIES</a:t>
            </a:r>
          </a:p>
        </p:txBody>
      </p:sp>
      <p:sp>
        <p:nvSpPr>
          <p:cNvPr id="2" name="">
            <a:extLst xmlns:a="http://schemas.openxmlformats.org/drawingml/2006/main">
              <a:ext uri="{FF2B5EF4-FFF2-40B4-BE49-F238E27FC236}">
                <a16:creationId xmlns:a16="http://schemas.microsoft.com/office/drawing/2014/main" id="{D8E8C8A1-37FA-4F1C-A98C-31B60F6603C8}"/>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Task depth progresses from repair to scheduling</a:t>
            </a:r>
          </a:p>
        </p:txBody>
      </p:sp>
      <p:sp>
        <p:nvSpPr>
          <p:cNvPr id="3" name="">
            <a:extLst xmlns:a="http://schemas.openxmlformats.org/drawingml/2006/main">
              <a:ext uri="{FF2B5EF4-FFF2-40B4-BE49-F238E27FC236}">
                <a16:creationId xmlns:a16="http://schemas.microsoft.com/office/drawing/2014/main" id="{5E385679-D157-43BD-84AC-DDAFBE7A238A}"/>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C5D3D4B8-C11D-4DBD-82F9-04B3BBBAFDF3}"/>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03</a:t>
            </a:r>
          </a:p>
        </p:txBody>
      </p:sp>
      <p:graphicFrame>
        <p:nvGraphicFramePr>
          <p:cNvPr id="5" name="">
            <a:extLst xmlns:a="http://schemas.openxmlformats.org/drawingml/2006/main">
              <a:ext uri="{FF2B5EF4-FFF2-40B4-BE49-F238E27FC236}">
                <a16:creationId xmlns:a16="http://schemas.microsoft.com/office/drawing/2014/main" id="{1A52294C-27C5-487B-8B6C-3CD24EEE52A5}"/>
              </a:ext>
            </a:extLst>
          </p:cNvPr>
          <p:cNvGraphicFramePr/>
          <p:nvPr/>
        </p:nvGraphicFramePr>
        <p:xfrm>
          <a:off xmlns:a="http://schemas.openxmlformats.org/drawingml/2006/main" x="609600" y="2076450"/>
          <a:ext xmlns:a="http://schemas.openxmlformats.org/drawingml/2006/main" cx="10972800" cy="3333750"/>
        </p:xfrm>
        <a:graphic xmlns:a="http://schemas.openxmlformats.org/drawingml/2006/main">
          <a:graphicData uri="http://schemas.openxmlformats.org/drawingml/2006/table">
            <a:tbl>
              <a:tblPr/>
              <a:tblGrid>
                <a:gridCol w="2219325"/>
                <a:gridCol w="4524375"/>
                <a:gridCol w="4229100"/>
              </a:tblGrid>
              <a:tr h="833438">
                <a:tc>
                  <a:txBody>
                    <a:bodyPr/>
                    <a:lstStyle/>
                    <a:p>
                      <a:r>
                        <a:rPr sz="1500" b="1">
                          <a:solidFill>
                            <a:srgbClr val="FFFFFF"/>
                          </a:solidFill>
                          <a:latin typeface="Arial"/>
                          <a:ea typeface="Arial"/>
                          <a:cs typeface="Arial"/>
                        </a:rPr>
                        <a:t>Group</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Task families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Decision required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33438">
                <a:tc>
                  <a:txBody>
                    <a:bodyPr/>
                    <a:lstStyle/>
                    <a:p>
                      <a:r>
                        <a:rPr sz="1800" b="0">
                          <a:solidFill>
                            <a:srgbClr val="193447"/>
                          </a:solidFill>
                          <a:latin typeface="Arial"/>
                          <a:ea typeface="Arial"/>
                          <a:cs typeface="Arial"/>
                        </a:rPr>
                        <a:t>5 guided repairs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800" b="0">
                          <a:solidFill>
                            <a:srgbClr val="193447"/>
                          </a:solidFill>
                          <a:latin typeface="Arial"/>
                          <a:ea typeface="Arial"/>
                          <a:cs typeface="Arial"/>
                        </a:rPr>
                        <a:t>Power, pointing, thermal,</a:t>
                      </a:r>
                    </a:p>
                    <a:p>
                      <a:r>
                        <a:rPr sz="1800" b="0">
                          <a:solidFill>
                            <a:srgbClr val="193447"/>
                          </a:solidFill>
                          <a:latin typeface="Arial"/>
                          <a:ea typeface="Arial"/>
                          <a:cs typeface="Arial"/>
                        </a:rPr>
                        <a:t>radio and fault cascade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800" b="0">
                          <a:solidFill>
                            <a:srgbClr val="193447"/>
                          </a:solidFill>
                          <a:latin typeface="Arial"/>
                          <a:ea typeface="Arial"/>
                          <a:cs typeface="Arial"/>
                        </a:rPr>
                        <a:t>Diagnose and repair</a:t>
                      </a:r>
                    </a:p>
                    <a:p>
                      <a:r>
                        <a:rPr sz="1800" b="0">
                          <a:solidFill>
                            <a:srgbClr val="193447"/>
                          </a:solidFill>
                          <a:latin typeface="Arial"/>
                          <a:ea typeface="Arial"/>
                          <a:cs typeface="Arial"/>
                        </a:rPr>
                        <a:t>seeded faults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33438">
                <a:tc>
                  <a:txBody>
                    <a:bodyPr/>
                    <a:lstStyle/>
                    <a:p>
                      <a:r>
                        <a:rPr sz="1800" b="0">
                          <a:solidFill>
                            <a:srgbClr val="193447"/>
                          </a:solidFill>
                          <a:latin typeface="Arial"/>
                          <a:ea typeface="Arial"/>
                          <a:cs typeface="Arial"/>
                        </a:rPr>
                        <a:t>1 radio mission</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800" b="0">
                          <a:solidFill>
                            <a:srgbClr val="193447"/>
                          </a:solidFill>
                          <a:latin typeface="Arial"/>
                          <a:ea typeface="Arial"/>
                          <a:cs typeface="Arial"/>
                        </a:rPr>
                        <a:t>RF energy tradeoff</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800" b="0">
                          <a:solidFill>
                            <a:srgbClr val="193447"/>
                          </a:solidFill>
                          <a:latin typeface="Arial"/>
                          <a:ea typeface="Arial"/>
                          <a:cs typeface="Arial"/>
                        </a:rPr>
                        <a:t>Balance data, link margin</a:t>
                      </a:r>
                    </a:p>
                    <a:p>
                      <a:r>
                        <a:rPr sz="1800" b="0">
                          <a:solidFill>
                            <a:srgbClr val="193447"/>
                          </a:solidFill>
                          <a:latin typeface="Arial"/>
                          <a:ea typeface="Arial"/>
                          <a:cs typeface="Arial"/>
                        </a:rPr>
                        <a:t>and transmitter energy</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33438">
                <a:tc>
                  <a:txBody>
                    <a:bodyPr/>
                    <a:lstStyle/>
                    <a:p>
                      <a:r>
                        <a:rPr sz="1800" b="0">
                          <a:solidFill>
                            <a:srgbClr val="193447"/>
                          </a:solidFill>
                          <a:latin typeface="Arial"/>
                          <a:ea typeface="Arial"/>
                          <a:cs typeface="Arial"/>
                        </a:rPr>
                        <a:t>2 temporal missions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800" b="0">
                          <a:solidFill>
                            <a:srgbClr val="193447"/>
                          </a:solidFill>
                          <a:latin typeface="Arial"/>
                          <a:ea typeface="Arial"/>
                          <a:cs typeface="Arial"/>
                        </a:rPr>
                        <a:t>Early pass recovery</a:t>
                      </a:r>
                    </a:p>
                    <a:p>
                      <a:r>
                        <a:rPr sz="1800" b="0">
                          <a:solidFill>
                            <a:srgbClr val="193447"/>
                          </a:solidFill>
                          <a:latin typeface="Arial"/>
                          <a:ea typeface="Arial"/>
                          <a:cs typeface="Arial"/>
                        </a:rPr>
                        <a:t>Observation scheduling</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800" b="0">
                          <a:solidFill>
                            <a:srgbClr val="193447"/>
                          </a:solidFill>
                          <a:latin typeface="Arial"/>
                          <a:ea typeface="Arial"/>
                          <a:cs typeface="Arial"/>
                        </a:rPr>
                        <a:t>Recover before contact</a:t>
                      </a:r>
                    </a:p>
                    <a:p>
                      <a:r>
                        <a:rPr sz="1800" b="0">
                          <a:solidFill>
                            <a:srgbClr val="193447"/>
                          </a:solidFill>
                          <a:latin typeface="Arial"/>
                          <a:ea typeface="Arial"/>
                          <a:cs typeface="Arial"/>
                        </a:rPr>
                        <a:t>Schedule exposure and energy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18DE290D-3B03-4B0E-BA36-2C6BCCDFEEA2}"/>
              </a:ext>
            </a:extLst>
          </p:cNvPr>
          <p:cNvSpPr>
            <a:spLocks xmlns:a="http://schemas.openxmlformats.org/drawingml/2006/main" noGrp="1"/>
          </p:cNvSpPr>
          <p:nvPr/>
        </p:nvSpPr>
        <p:spPr>
          <a:xfrm xmlns:a="http://schemas.openxmlformats.org/drawingml/2006/main">
            <a:off x="609600" y="56769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07E83"/>
                </a:solidFill>
                <a:latin typeface="Arial"/>
                <a:ea typeface="Arial"/>
                <a:cs typeface="Arial"/>
              </a:defRPr>
            </a:defPPr>
            <a:lvl1pPr>
              <a:defRPr sz="1800" b="1">
                <a:solidFill>
                  <a:srgbClr val="007E83"/>
                </a:solidFill>
                <a:latin typeface="Arial"/>
                <a:ea typeface="Arial"/>
                <a:cs typeface="Arial"/>
              </a:defRPr>
            </a:lvl1pPr>
            <a:lvl2pPr>
              <a:defRPr sz="1800" b="1">
                <a:solidFill>
                  <a:srgbClr val="007E83"/>
                </a:solidFill>
                <a:latin typeface="Arial"/>
                <a:ea typeface="Arial"/>
                <a:cs typeface="Arial"/>
              </a:defRPr>
            </a:lvl2pPr>
            <a:lvl3pPr>
              <a:defRPr sz="1800" b="1">
                <a:solidFill>
                  <a:srgbClr val="007E83"/>
                </a:solidFill>
                <a:latin typeface="Arial"/>
                <a:ea typeface="Arial"/>
                <a:cs typeface="Arial"/>
              </a:defRPr>
            </a:lvl3pPr>
            <a:lvl4pPr>
              <a:defRPr sz="1800" b="1">
                <a:solidFill>
                  <a:srgbClr val="007E83"/>
                </a:solidFill>
                <a:latin typeface="Arial"/>
                <a:ea typeface="Arial"/>
                <a:cs typeface="Arial"/>
              </a:defRPr>
            </a:lvl4pPr>
            <a:lvl5pPr>
              <a:defRPr sz="1800" b="1">
                <a:solidFill>
                  <a:srgbClr val="007E83"/>
                </a:solidFill>
                <a:latin typeface="Arial"/>
                <a:ea typeface="Arial"/>
                <a:cs typeface="Arial"/>
              </a:defRPr>
            </a:lvl5pPr>
            <a:lvl6pPr>
              <a:defRPr sz="1800" b="1">
                <a:solidFill>
                  <a:srgbClr val="007E83"/>
                </a:solidFill>
                <a:latin typeface="Arial"/>
                <a:ea typeface="Arial"/>
                <a:cs typeface="Arial"/>
              </a:defRPr>
            </a:lvl6pPr>
            <a:lvl7pPr>
              <a:defRPr sz="1800" b="1">
                <a:solidFill>
                  <a:srgbClr val="007E83"/>
                </a:solidFill>
                <a:latin typeface="Arial"/>
                <a:ea typeface="Arial"/>
                <a:cs typeface="Arial"/>
              </a:defRPr>
            </a:lvl7pPr>
            <a:lvl8pPr>
              <a:defRPr sz="1800" b="1">
                <a:solidFill>
                  <a:srgbClr val="007E83"/>
                </a:solidFill>
                <a:latin typeface="Arial"/>
                <a:ea typeface="Arial"/>
                <a:cs typeface="Arial"/>
              </a:defRPr>
            </a:lvl8pPr>
            <a:lvl9pPr>
              <a:defRPr sz="1800" b="1">
                <a:solidFill>
                  <a:srgbClr val="007E83"/>
                </a:solidFill>
                <a:latin typeface="Arial"/>
                <a:ea typeface="Arial"/>
                <a:cs typeface="Arial"/>
              </a:defRPr>
            </a:lvl9pPr>
          </a:lstStyle>
          <a:p xmlns:a="http://schemas.openxmlformats.org/drawingml/2006/main">
            <a:pPr>
              <a:defRPr sz="1800" b="1">
                <a:solidFill>
                  <a:srgbClr val="007E83"/>
                </a:solidFill>
                <a:latin typeface="Arial"/>
                <a:ea typeface="Arial"/>
                <a:cs typeface="Arial"/>
              </a:defRPr>
            </a:pPr>
            <a:r>
              <a:rPr sz="1800" b="1">
                <a:solidFill>
                  <a:srgbClr val="007E83"/>
                </a:solidFill>
                <a:latin typeface="Arial"/>
                <a:ea typeface="Arial"/>
                <a:cs typeface="Arial"/>
              </a:rPr>
              <a:t>Seeds vary faults, hardware profiles, deadlines and mission requirements.</a:t>
            </a:r>
          </a:p>
        </p:txBody>
      </p:sp>
    </p:spTree>
    <p:extLst>
      <p:ext uri="{BB962C8B-B14F-4D97-AF65-F5344CB8AC3E}">
        <p14:creationId xmlns:p14="http://schemas.microsoft.com/office/powerpoint/2010/main" val="126095644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5EF24B-36EE-463B-B248-A292C6C72448}"/>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WHY OBSERVATION SCHEDULING MATTERS</a:t>
            </a:r>
          </a:p>
        </p:txBody>
      </p:sp>
      <p:sp>
        <p:nvSpPr>
          <p:cNvPr id="2" name="">
            <a:extLst xmlns:a="http://schemas.openxmlformats.org/drawingml/2006/main">
              <a:ext uri="{FF2B5EF4-FFF2-40B4-BE49-F238E27FC236}">
                <a16:creationId xmlns:a16="http://schemas.microsoft.com/office/drawing/2014/main" id="{05910094-642C-4199-B0FC-7432F4A5C955}"/>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A constant payload setting cannot meet both goals</a:t>
            </a:r>
          </a:p>
        </p:txBody>
      </p:sp>
      <p:sp>
        <p:nvSpPr>
          <p:cNvPr id="3" name="">
            <a:extLst xmlns:a="http://schemas.openxmlformats.org/drawingml/2006/main">
              <a:ext uri="{FF2B5EF4-FFF2-40B4-BE49-F238E27FC236}">
                <a16:creationId xmlns:a16="http://schemas.microsoft.com/office/drawing/2014/main" id="{F7C2EB39-9685-425A-9106-224A4B059D47}"/>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7D2F3876-8680-46A7-BA27-BCEF06802620}"/>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16138566-9896-47E5-A6BD-563E60D08C89}"/>
              </a:ext>
            </a:extLst>
          </p:cNvPr>
          <p:cNvSpPr>
            <a:spLocks xmlns:a="http://schemas.openxmlformats.org/drawingml/2006/main" noGrp="1"/>
          </p:cNvSpPr>
          <p:nvPr/>
        </p:nvSpPr>
        <p:spPr>
          <a:xfrm xmlns:a="http://schemas.openxmlformats.org/drawingml/2006/main">
            <a:off x="609600" y="202882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02539"/>
                </a:solidFill>
                <a:latin typeface="Arial"/>
                <a:ea typeface="Arial"/>
                <a:cs typeface="Arial"/>
              </a:defRPr>
            </a:defPPr>
            <a:lvl1pPr>
              <a:defRPr sz="2775" b="1">
                <a:solidFill>
                  <a:srgbClr val="102539"/>
                </a:solidFill>
                <a:latin typeface="Arial"/>
                <a:ea typeface="Arial"/>
                <a:cs typeface="Arial"/>
              </a:defRPr>
            </a:lvl1pPr>
            <a:lvl2pPr>
              <a:defRPr sz="2775" b="1">
                <a:solidFill>
                  <a:srgbClr val="102539"/>
                </a:solidFill>
                <a:latin typeface="Arial"/>
                <a:ea typeface="Arial"/>
                <a:cs typeface="Arial"/>
              </a:defRPr>
            </a:lvl2pPr>
            <a:lvl3pPr>
              <a:defRPr sz="2775" b="1">
                <a:solidFill>
                  <a:srgbClr val="102539"/>
                </a:solidFill>
                <a:latin typeface="Arial"/>
                <a:ea typeface="Arial"/>
                <a:cs typeface="Arial"/>
              </a:defRPr>
            </a:lvl3pPr>
            <a:lvl4pPr>
              <a:defRPr sz="2775" b="1">
                <a:solidFill>
                  <a:srgbClr val="102539"/>
                </a:solidFill>
                <a:latin typeface="Arial"/>
                <a:ea typeface="Arial"/>
                <a:cs typeface="Arial"/>
              </a:defRPr>
            </a:lvl4pPr>
            <a:lvl5pPr>
              <a:defRPr sz="2775" b="1">
                <a:solidFill>
                  <a:srgbClr val="102539"/>
                </a:solidFill>
                <a:latin typeface="Arial"/>
                <a:ea typeface="Arial"/>
                <a:cs typeface="Arial"/>
              </a:defRPr>
            </a:lvl5pPr>
            <a:lvl6pPr>
              <a:defRPr sz="2775" b="1">
                <a:solidFill>
                  <a:srgbClr val="102539"/>
                </a:solidFill>
                <a:latin typeface="Arial"/>
                <a:ea typeface="Arial"/>
                <a:cs typeface="Arial"/>
              </a:defRPr>
            </a:lvl6pPr>
            <a:lvl7pPr>
              <a:defRPr sz="2775" b="1">
                <a:solidFill>
                  <a:srgbClr val="102539"/>
                </a:solidFill>
                <a:latin typeface="Arial"/>
                <a:ea typeface="Arial"/>
                <a:cs typeface="Arial"/>
              </a:defRPr>
            </a:lvl7pPr>
            <a:lvl8pPr>
              <a:defRPr sz="2775" b="1">
                <a:solidFill>
                  <a:srgbClr val="102539"/>
                </a:solidFill>
                <a:latin typeface="Arial"/>
                <a:ea typeface="Arial"/>
                <a:cs typeface="Arial"/>
              </a:defRPr>
            </a:lvl8pPr>
            <a:lvl9pPr>
              <a:defRPr sz="2775" b="1">
                <a:solidFill>
                  <a:srgbClr val="102539"/>
                </a:solidFill>
                <a:latin typeface="Arial"/>
                <a:ea typeface="Arial"/>
                <a:cs typeface="Arial"/>
              </a:defRPr>
            </a:lvl9pPr>
          </a:lstStyle>
          <a:p xmlns:a="http://schemas.openxmlformats.org/drawingml/2006/main">
            <a:pPr>
              <a:defRPr sz="2775" b="1">
                <a:solidFill>
                  <a:srgbClr val="102539"/>
                </a:solidFill>
                <a:latin typeface="Arial"/>
                <a:ea typeface="Arial"/>
                <a:cs typeface="Arial"/>
              </a:defRPr>
            </a:pPr>
            <a:r>
              <a:rPr sz="2775" b="1">
                <a:solidFill>
                  <a:srgbClr val="102539"/>
                </a:solidFill>
                <a:latin typeface="Arial"/>
                <a:ea typeface="Arial"/>
                <a:cs typeface="Arial"/>
              </a:rPr>
              <a:t>Useful exposure requires duty ≥ 0.90</a:t>
            </a:r>
          </a:p>
        </p:txBody>
      </p:sp>
      <p:sp>
        <p:nvSpPr>
          <p:cNvPr id="6" name="">
            <a:extLst xmlns:a="http://schemas.openxmlformats.org/drawingml/2006/main">
              <a:ext uri="{FF2B5EF4-FFF2-40B4-BE49-F238E27FC236}">
                <a16:creationId xmlns:a16="http://schemas.microsoft.com/office/drawing/2014/main" id="{E32927F6-7AAB-460C-BA9F-42939C3D25DD}"/>
              </a:ext>
            </a:extLst>
          </p:cNvPr>
          <p:cNvSpPr>
            <a:spLocks xmlns:a="http://schemas.openxmlformats.org/drawingml/2006/main" noGrp="1"/>
          </p:cNvSpPr>
          <p:nvPr/>
        </p:nvSpPr>
        <p:spPr>
          <a:xfrm xmlns:a="http://schemas.openxmlformats.org/drawingml/2006/main">
            <a:off x="609600" y="29527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07E83"/>
                </a:solidFill>
                <a:latin typeface="Arial"/>
                <a:ea typeface="Arial"/>
                <a:cs typeface="Arial"/>
              </a:defRPr>
            </a:defPPr>
            <a:lvl1pPr>
              <a:defRPr sz="2550" b="1">
                <a:solidFill>
                  <a:srgbClr val="007E83"/>
                </a:solidFill>
                <a:latin typeface="Arial"/>
                <a:ea typeface="Arial"/>
                <a:cs typeface="Arial"/>
              </a:defRPr>
            </a:lvl1pPr>
            <a:lvl2pPr>
              <a:defRPr sz="2550" b="1">
                <a:solidFill>
                  <a:srgbClr val="007E83"/>
                </a:solidFill>
                <a:latin typeface="Arial"/>
                <a:ea typeface="Arial"/>
                <a:cs typeface="Arial"/>
              </a:defRPr>
            </a:lvl2pPr>
            <a:lvl3pPr>
              <a:defRPr sz="2550" b="1">
                <a:solidFill>
                  <a:srgbClr val="007E83"/>
                </a:solidFill>
                <a:latin typeface="Arial"/>
                <a:ea typeface="Arial"/>
                <a:cs typeface="Arial"/>
              </a:defRPr>
            </a:lvl3pPr>
            <a:lvl4pPr>
              <a:defRPr sz="2550" b="1">
                <a:solidFill>
                  <a:srgbClr val="007E83"/>
                </a:solidFill>
                <a:latin typeface="Arial"/>
                <a:ea typeface="Arial"/>
                <a:cs typeface="Arial"/>
              </a:defRPr>
            </a:lvl4pPr>
            <a:lvl5pPr>
              <a:defRPr sz="2550" b="1">
                <a:solidFill>
                  <a:srgbClr val="007E83"/>
                </a:solidFill>
                <a:latin typeface="Arial"/>
                <a:ea typeface="Arial"/>
                <a:cs typeface="Arial"/>
              </a:defRPr>
            </a:lvl5pPr>
            <a:lvl6pPr>
              <a:defRPr sz="2550" b="1">
                <a:solidFill>
                  <a:srgbClr val="007E83"/>
                </a:solidFill>
                <a:latin typeface="Arial"/>
                <a:ea typeface="Arial"/>
                <a:cs typeface="Arial"/>
              </a:defRPr>
            </a:lvl6pPr>
            <a:lvl7pPr>
              <a:defRPr sz="2550" b="1">
                <a:solidFill>
                  <a:srgbClr val="007E83"/>
                </a:solidFill>
                <a:latin typeface="Arial"/>
                <a:ea typeface="Arial"/>
                <a:cs typeface="Arial"/>
              </a:defRPr>
            </a:lvl7pPr>
            <a:lvl8pPr>
              <a:defRPr sz="2550" b="1">
                <a:solidFill>
                  <a:srgbClr val="007E83"/>
                </a:solidFill>
                <a:latin typeface="Arial"/>
                <a:ea typeface="Arial"/>
                <a:cs typeface="Arial"/>
              </a:defRPr>
            </a:lvl8pPr>
            <a:lvl9pPr>
              <a:defRPr sz="2550" b="1">
                <a:solidFill>
                  <a:srgbClr val="007E83"/>
                </a:solidFill>
                <a:latin typeface="Arial"/>
                <a:ea typeface="Arial"/>
                <a:cs typeface="Arial"/>
              </a:defRPr>
            </a:lvl9pPr>
          </a:lstStyle>
          <a:p xmlns:a="http://schemas.openxmlformats.org/drawingml/2006/main">
            <a:pPr>
              <a:defRPr sz="2550" b="1">
                <a:solidFill>
                  <a:srgbClr val="007E83"/>
                </a:solidFill>
                <a:latin typeface="Arial"/>
                <a:ea typeface="Arial"/>
                <a:cs typeface="Arial"/>
              </a:defRPr>
            </a:pPr>
            <a:r>
              <a:rPr sz="2550" b="1">
                <a:solidFill>
                  <a:srgbClr val="007E83"/>
                </a:solidFill>
                <a:latin typeface="Arial"/>
                <a:ea typeface="Arial"/>
                <a:cs typeface="Arial"/>
              </a:rPr>
              <a:t>Whole-mission energy permits duty ≤ 0.126–0.189</a:t>
            </a:r>
          </a:p>
        </p:txBody>
      </p:sp>
      <p:sp>
        <p:nvSpPr>
          <p:cNvPr id="7" name="">
            <a:extLst xmlns:a="http://schemas.openxmlformats.org/drawingml/2006/main">
              <a:ext uri="{FF2B5EF4-FFF2-40B4-BE49-F238E27FC236}">
                <a16:creationId xmlns:a16="http://schemas.microsoft.com/office/drawing/2014/main" id="{FF4EABC9-CA65-4BE3-B9D4-243505CCDFA4}"/>
              </a:ext>
            </a:extLst>
          </p:cNvPr>
          <p:cNvSpPr>
            <a:spLocks xmlns:a="http://schemas.openxmlformats.org/drawingml/2006/main" noGrp="1"/>
          </p:cNvSpPr>
          <p:nvPr/>
        </p:nvSpPr>
        <p:spPr>
          <a:xfrm xmlns:a="http://schemas.openxmlformats.org/drawingml/2006/main">
            <a:off x="609600" y="42672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9"/>
                </a:solidFill>
                <a:latin typeface="Arial"/>
                <a:ea typeface="Arial"/>
                <a:cs typeface="Arial"/>
              </a:defRPr>
            </a:defPPr>
            <a:lvl1pPr>
              <a:defRPr sz="2175" b="1">
                <a:solidFill>
                  <a:srgbClr val="102539"/>
                </a:solidFill>
                <a:latin typeface="Arial"/>
                <a:ea typeface="Arial"/>
                <a:cs typeface="Arial"/>
              </a:defRPr>
            </a:lvl1pPr>
            <a:lvl2pPr>
              <a:defRPr sz="2175" b="1">
                <a:solidFill>
                  <a:srgbClr val="102539"/>
                </a:solidFill>
                <a:latin typeface="Arial"/>
                <a:ea typeface="Arial"/>
                <a:cs typeface="Arial"/>
              </a:defRPr>
            </a:lvl2pPr>
            <a:lvl3pPr>
              <a:defRPr sz="2175" b="1">
                <a:solidFill>
                  <a:srgbClr val="102539"/>
                </a:solidFill>
                <a:latin typeface="Arial"/>
                <a:ea typeface="Arial"/>
                <a:cs typeface="Arial"/>
              </a:defRPr>
            </a:lvl3pPr>
            <a:lvl4pPr>
              <a:defRPr sz="2175" b="1">
                <a:solidFill>
                  <a:srgbClr val="102539"/>
                </a:solidFill>
                <a:latin typeface="Arial"/>
                <a:ea typeface="Arial"/>
                <a:cs typeface="Arial"/>
              </a:defRPr>
            </a:lvl4pPr>
            <a:lvl5pPr>
              <a:defRPr sz="2175" b="1">
                <a:solidFill>
                  <a:srgbClr val="102539"/>
                </a:solidFill>
                <a:latin typeface="Arial"/>
                <a:ea typeface="Arial"/>
                <a:cs typeface="Arial"/>
              </a:defRPr>
            </a:lvl5pPr>
            <a:lvl6pPr>
              <a:defRPr sz="2175" b="1">
                <a:solidFill>
                  <a:srgbClr val="102539"/>
                </a:solidFill>
                <a:latin typeface="Arial"/>
                <a:ea typeface="Arial"/>
                <a:cs typeface="Arial"/>
              </a:defRPr>
            </a:lvl6pPr>
            <a:lvl7pPr>
              <a:defRPr sz="2175" b="1">
                <a:solidFill>
                  <a:srgbClr val="102539"/>
                </a:solidFill>
                <a:latin typeface="Arial"/>
                <a:ea typeface="Arial"/>
                <a:cs typeface="Arial"/>
              </a:defRPr>
            </a:lvl7pPr>
            <a:lvl8pPr>
              <a:defRPr sz="2175" b="1">
                <a:solidFill>
                  <a:srgbClr val="102539"/>
                </a:solidFill>
                <a:latin typeface="Arial"/>
                <a:ea typeface="Arial"/>
                <a:cs typeface="Arial"/>
              </a:defRPr>
            </a:lvl8pPr>
            <a:lvl9pPr>
              <a:defRPr sz="2175" b="1">
                <a:solidFill>
                  <a:srgbClr val="102539"/>
                </a:solidFill>
                <a:latin typeface="Arial"/>
                <a:ea typeface="Arial"/>
                <a:cs typeface="Arial"/>
              </a:defRPr>
            </a:lvl9pPr>
          </a:lstStyle>
          <a:p xmlns:a="http://schemas.openxmlformats.org/drawingml/2006/main">
            <a:pPr>
              <a:defRPr sz="2175" b="1">
                <a:solidFill>
                  <a:srgbClr val="102539"/>
                </a:solidFill>
                <a:latin typeface="Arial"/>
                <a:ea typeface="Arial"/>
                <a:cs typeface="Arial"/>
              </a:defRPr>
            </a:pPr>
            <a:r>
              <a:rPr sz="2175" b="1">
                <a:solidFill>
                  <a:srgbClr val="102539"/>
                </a:solidFill>
                <a:latin typeface="Arial"/>
                <a:ea typeface="Arial"/>
                <a:cs typeface="Arial"/>
              </a:rPr>
              <a:t>A feasible plan changes duty over time</a:t>
            </a:r>
          </a:p>
        </p:txBody>
      </p:sp>
      <p:sp>
        <p:nvSpPr>
          <p:cNvPr id="8" name="">
            <a:extLst xmlns:a="http://schemas.openxmlformats.org/drawingml/2006/main">
              <a:ext uri="{FF2B5EF4-FFF2-40B4-BE49-F238E27FC236}">
                <a16:creationId xmlns:a16="http://schemas.microsoft.com/office/drawing/2014/main" id="{619B0DA0-822C-432E-B623-B94FF061F041}"/>
              </a:ext>
            </a:extLst>
          </p:cNvPr>
          <p:cNvSpPr>
            <a:spLocks xmlns:a="http://schemas.openxmlformats.org/drawingml/2006/main" noGrp="1"/>
          </p:cNvSpPr>
          <p:nvPr/>
        </p:nvSpPr>
        <p:spPr>
          <a:xfrm xmlns:a="http://schemas.openxmlformats.org/drawingml/2006/main">
            <a:off x="609600" y="4895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93447"/>
                </a:solidFill>
                <a:latin typeface="Arial"/>
                <a:ea typeface="Arial"/>
                <a:cs typeface="Arial"/>
              </a:defRPr>
            </a:defPPr>
            <a:lvl1pPr>
              <a:defRPr sz="2025" b="0">
                <a:solidFill>
                  <a:srgbClr val="193447"/>
                </a:solidFill>
                <a:latin typeface="Arial"/>
                <a:ea typeface="Arial"/>
                <a:cs typeface="Arial"/>
              </a:defRPr>
            </a:lvl1pPr>
            <a:lvl2pPr>
              <a:defRPr sz="2025" b="0">
                <a:solidFill>
                  <a:srgbClr val="193447"/>
                </a:solidFill>
                <a:latin typeface="Arial"/>
                <a:ea typeface="Arial"/>
                <a:cs typeface="Arial"/>
              </a:defRPr>
            </a:lvl2pPr>
            <a:lvl3pPr>
              <a:defRPr sz="2025" b="0">
                <a:solidFill>
                  <a:srgbClr val="193447"/>
                </a:solidFill>
                <a:latin typeface="Arial"/>
                <a:ea typeface="Arial"/>
                <a:cs typeface="Arial"/>
              </a:defRPr>
            </a:lvl3pPr>
            <a:lvl4pPr>
              <a:defRPr sz="2025" b="0">
                <a:solidFill>
                  <a:srgbClr val="193447"/>
                </a:solidFill>
                <a:latin typeface="Arial"/>
                <a:ea typeface="Arial"/>
                <a:cs typeface="Arial"/>
              </a:defRPr>
            </a:lvl4pPr>
            <a:lvl5pPr>
              <a:defRPr sz="2025" b="0">
                <a:solidFill>
                  <a:srgbClr val="193447"/>
                </a:solidFill>
                <a:latin typeface="Arial"/>
                <a:ea typeface="Arial"/>
                <a:cs typeface="Arial"/>
              </a:defRPr>
            </a:lvl5pPr>
            <a:lvl6pPr>
              <a:defRPr sz="2025" b="0">
                <a:solidFill>
                  <a:srgbClr val="193447"/>
                </a:solidFill>
                <a:latin typeface="Arial"/>
                <a:ea typeface="Arial"/>
                <a:cs typeface="Arial"/>
              </a:defRPr>
            </a:lvl6pPr>
            <a:lvl7pPr>
              <a:defRPr sz="2025" b="0">
                <a:solidFill>
                  <a:srgbClr val="193447"/>
                </a:solidFill>
                <a:latin typeface="Arial"/>
                <a:ea typeface="Arial"/>
                <a:cs typeface="Arial"/>
              </a:defRPr>
            </a:lvl7pPr>
            <a:lvl8pPr>
              <a:defRPr sz="2025" b="0">
                <a:solidFill>
                  <a:srgbClr val="193447"/>
                </a:solidFill>
                <a:latin typeface="Arial"/>
                <a:ea typeface="Arial"/>
                <a:cs typeface="Arial"/>
              </a:defRPr>
            </a:lvl8pPr>
            <a:lvl9pPr>
              <a:defRPr sz="2025" b="0">
                <a:solidFill>
                  <a:srgbClr val="193447"/>
                </a:solidFill>
                <a:latin typeface="Arial"/>
                <a:ea typeface="Arial"/>
                <a:cs typeface="Arial"/>
              </a:defRPr>
            </a:lvl9pPr>
          </a:lstStyle>
          <a:p xmlns:a="http://schemas.openxmlformats.org/drawingml/2006/main">
            <a:pPr>
              <a:defRPr sz="2025" b="0">
                <a:solidFill>
                  <a:srgbClr val="193447"/>
                </a:solidFill>
                <a:latin typeface="Arial"/>
                <a:ea typeface="Arial"/>
                <a:cs typeface="Arial"/>
              </a:defRPr>
            </a:pPr>
            <a:r>
              <a:rPr sz="2025" b="0">
                <a:solidFill>
                  <a:srgbClr val="193447"/>
                </a:solidFill>
                <a:latin typeface="Arial"/>
                <a:ea typeface="Arial"/>
                <a:cs typeface="Arial"/>
              </a:rPr>
              <a:t>Instrument off before the window. On during useful exposure.</a:t>
            </a:r>
          </a:p>
          <a:p xmlns:a="http://schemas.openxmlformats.org/drawingml/2006/main">
            <a:pPr>
              <a:defRPr sz="2025" b="0">
                <a:solidFill>
                  <a:srgbClr val="193447"/>
                </a:solidFill>
                <a:latin typeface="Arial"/>
                <a:ea typeface="Arial"/>
                <a:cs typeface="Arial"/>
              </a:defRPr>
            </a:pPr>
            <a:r>
              <a:rPr sz="2025" b="0">
                <a:solidFill>
                  <a:srgbClr val="193447"/>
                </a:solidFill>
                <a:latin typeface="Arial"/>
                <a:ea typeface="Arial"/>
                <a:cs typeface="Arial"/>
              </a:rPr>
              <a:t>Off after the window. Every switch consumes simulated time.</a:t>
            </a:r>
          </a:p>
        </p:txBody>
      </p:sp>
    </p:spTree>
    <p:extLst>
      <p:ext uri="{BB962C8B-B14F-4D97-AF65-F5344CB8AC3E}">
        <p14:creationId xmlns:p14="http://schemas.microsoft.com/office/powerpoint/2010/main" val="153281697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120FEC-0FE5-4C51-A903-823C525F9C0F}"/>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SCORING AND PROTECTED HISTORY</a:t>
            </a:r>
          </a:p>
        </p:txBody>
      </p:sp>
      <p:sp>
        <p:nvSpPr>
          <p:cNvPr id="2" name="">
            <a:extLst xmlns:a="http://schemas.openxmlformats.org/drawingml/2006/main">
              <a:ext uri="{FF2B5EF4-FFF2-40B4-BE49-F238E27FC236}">
                <a16:creationId xmlns:a16="http://schemas.microsoft.com/office/drawing/2014/main" id="{63C46CB6-F364-4B22-9F1D-F537B30757B8}"/>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Reward tracks progress and mandatory mission checks</a:t>
            </a:r>
          </a:p>
        </p:txBody>
      </p:sp>
      <p:sp>
        <p:nvSpPr>
          <p:cNvPr id="3" name="">
            <a:extLst xmlns:a="http://schemas.openxmlformats.org/drawingml/2006/main">
              <a:ext uri="{FF2B5EF4-FFF2-40B4-BE49-F238E27FC236}">
                <a16:creationId xmlns:a16="http://schemas.microsoft.com/office/drawing/2014/main" id="{2037D2CD-197F-433B-B398-B18E4C85F0FD}"/>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28DADC78-D73B-4F2F-9355-1A950A6B9CD4}"/>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05</a:t>
            </a:r>
          </a:p>
        </p:txBody>
      </p:sp>
      <p:graphicFrame>
        <p:nvGraphicFramePr>
          <p:cNvPr id="5" name="">
            <a:extLst xmlns:a="http://schemas.openxmlformats.org/drawingml/2006/main">
              <a:ext uri="{FF2B5EF4-FFF2-40B4-BE49-F238E27FC236}">
                <a16:creationId xmlns:a16="http://schemas.microsoft.com/office/drawing/2014/main" id="{6D46C781-2524-462F-8B93-A2D7B573A250}"/>
              </a:ext>
            </a:extLst>
          </p:cNvPr>
          <p:cNvGraphicFramePr/>
          <p:nvPr/>
        </p:nvGraphicFramePr>
        <p:xfrm>
          <a:off xmlns:a="http://schemas.openxmlformats.org/drawingml/2006/main" x="609600" y="1962150"/>
          <a:ext xmlns:a="http://schemas.openxmlformats.org/drawingml/2006/main" cx="10972800" cy="2676525"/>
        </p:xfrm>
        <a:graphic xmlns:a="http://schemas.openxmlformats.org/drawingml/2006/main">
          <a:graphicData uri="http://schemas.openxmlformats.org/drawingml/2006/table">
            <a:tbl>
              <a:tblPr/>
              <a:tblGrid>
                <a:gridCol w="4762500"/>
                <a:gridCol w="3105150"/>
                <a:gridCol w="3105150"/>
              </a:tblGrid>
              <a:tr h="669131">
                <a:tc>
                  <a:txBody>
                    <a:bodyPr/>
                    <a:lstStyle/>
                    <a:p>
                      <a:r>
                        <a:rPr sz="1500" b="1">
                          <a:solidFill>
                            <a:srgbClr val="FFFFFF"/>
                          </a:solidFill>
                          <a:latin typeface="Arial"/>
                          <a:ea typeface="Arial"/>
                          <a:cs typeface="Arial"/>
                        </a:rPr>
                        <a:t>Raw component</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Standard mission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Observation mission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69131">
                <a:tc>
                  <a:txBody>
                    <a:bodyPr/>
                    <a:lstStyle/>
                    <a:p>
                      <a:r>
                        <a:rPr sz="1725" b="0">
                          <a:solidFill>
                            <a:srgbClr val="193447"/>
                          </a:solidFill>
                          <a:latin typeface="Arial"/>
                          <a:ea typeface="Arial"/>
                          <a:cs typeface="Arial"/>
                        </a:rPr>
                        <a:t>Power / thermal</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0.35 / 0.25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0.28 / 0.20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69131">
                <a:tc>
                  <a:txBody>
                    <a:bodyPr/>
                    <a:lstStyle/>
                    <a:p>
                      <a:r>
                        <a:rPr sz="1725" b="0">
                          <a:solidFill>
                            <a:srgbClr val="193447"/>
                          </a:solidFill>
                          <a:latin typeface="Arial"/>
                          <a:ea typeface="Arial"/>
                          <a:cs typeface="Arial"/>
                        </a:rPr>
                        <a:t>Pointing / communications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0.20 / 0.20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0.16 / 0.16</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69131">
                <a:tc>
                  <a:txBody>
                    <a:bodyPr/>
                    <a:lstStyle/>
                    <a:p>
                      <a:r>
                        <a:rPr sz="1725" b="0">
                          <a:solidFill>
                            <a:srgbClr val="193447"/>
                          </a:solidFill>
                          <a:latin typeface="Arial"/>
                          <a:ea typeface="Arial"/>
                          <a:cs typeface="Arial"/>
                        </a:rPr>
                        <a:t>Useful exposure</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Not scored</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0.20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AC21E584-4E06-4E38-8145-0E4CD4E7E5BB}"/>
              </a:ext>
            </a:extLst>
          </p:cNvPr>
          <p:cNvSpPr>
            <a:spLocks xmlns:a="http://schemas.openxmlformats.org/drawingml/2006/main" noGrp="1"/>
          </p:cNvSpPr>
          <p:nvPr/>
        </p:nvSpPr>
        <p:spPr>
          <a:xfrm xmlns:a="http://schemas.openxmlformats.org/drawingml/2006/main">
            <a:off x="609600" y="48958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E83"/>
                </a:solidFill>
                <a:latin typeface="Arial"/>
                <a:ea typeface="Arial"/>
                <a:cs typeface="Arial"/>
              </a:defRPr>
            </a:defPPr>
            <a:lvl1pPr>
              <a:defRPr sz="2025" b="1">
                <a:solidFill>
                  <a:srgbClr val="007E83"/>
                </a:solidFill>
                <a:latin typeface="Arial"/>
                <a:ea typeface="Arial"/>
                <a:cs typeface="Arial"/>
              </a:defRPr>
            </a:lvl1pPr>
            <a:lvl2pPr>
              <a:defRPr sz="2025" b="1">
                <a:solidFill>
                  <a:srgbClr val="007E83"/>
                </a:solidFill>
                <a:latin typeface="Arial"/>
                <a:ea typeface="Arial"/>
                <a:cs typeface="Arial"/>
              </a:defRPr>
            </a:lvl2pPr>
            <a:lvl3pPr>
              <a:defRPr sz="2025" b="1">
                <a:solidFill>
                  <a:srgbClr val="007E83"/>
                </a:solidFill>
                <a:latin typeface="Arial"/>
                <a:ea typeface="Arial"/>
                <a:cs typeface="Arial"/>
              </a:defRPr>
            </a:lvl3pPr>
            <a:lvl4pPr>
              <a:defRPr sz="2025" b="1">
                <a:solidFill>
                  <a:srgbClr val="007E83"/>
                </a:solidFill>
                <a:latin typeface="Arial"/>
                <a:ea typeface="Arial"/>
                <a:cs typeface="Arial"/>
              </a:defRPr>
            </a:lvl4pPr>
            <a:lvl5pPr>
              <a:defRPr sz="2025" b="1">
                <a:solidFill>
                  <a:srgbClr val="007E83"/>
                </a:solidFill>
                <a:latin typeface="Arial"/>
                <a:ea typeface="Arial"/>
                <a:cs typeface="Arial"/>
              </a:defRPr>
            </a:lvl5pPr>
            <a:lvl6pPr>
              <a:defRPr sz="2025" b="1">
                <a:solidFill>
                  <a:srgbClr val="007E83"/>
                </a:solidFill>
                <a:latin typeface="Arial"/>
                <a:ea typeface="Arial"/>
                <a:cs typeface="Arial"/>
              </a:defRPr>
            </a:lvl6pPr>
            <a:lvl7pPr>
              <a:defRPr sz="2025" b="1">
                <a:solidFill>
                  <a:srgbClr val="007E83"/>
                </a:solidFill>
                <a:latin typeface="Arial"/>
                <a:ea typeface="Arial"/>
                <a:cs typeface="Arial"/>
              </a:defRPr>
            </a:lvl7pPr>
            <a:lvl8pPr>
              <a:defRPr sz="2025" b="1">
                <a:solidFill>
                  <a:srgbClr val="007E83"/>
                </a:solidFill>
                <a:latin typeface="Arial"/>
                <a:ea typeface="Arial"/>
                <a:cs typeface="Arial"/>
              </a:defRPr>
            </a:lvl8pPr>
            <a:lvl9pPr>
              <a:defRPr sz="2025" b="1">
                <a:solidFill>
                  <a:srgbClr val="007E83"/>
                </a:solidFill>
                <a:latin typeface="Arial"/>
                <a:ea typeface="Arial"/>
                <a:cs typeface="Arial"/>
              </a:defRPr>
            </a:lvl9pPr>
          </a:lstStyle>
          <a:p xmlns:a="http://schemas.openxmlformats.org/drawingml/2006/main">
            <a:pPr>
              <a:defRPr sz="2025" b="1">
                <a:solidFill>
                  <a:srgbClr val="007E83"/>
                </a:solidFill>
                <a:latin typeface="Arial"/>
                <a:ea typeface="Arial"/>
                <a:cs typeface="Arial"/>
              </a:defRPr>
            </a:pPr>
            <a:r>
              <a:rPr sz="2025" b="1">
                <a:solidFill>
                  <a:srgbClr val="007E83"/>
                </a:solidFill>
                <a:latin typeface="Arial"/>
                <a:ea typeface="Arial"/>
                <a:cs typeface="Arial"/>
              </a:rPr>
              <a:t>Progress = clamp((raw − no-op raw) / (1 − no-op raw), 0, 1)</a:t>
            </a:r>
          </a:p>
        </p:txBody>
      </p:sp>
      <p:sp>
        <p:nvSpPr>
          <p:cNvPr id="7" name="">
            <a:extLst xmlns:a="http://schemas.openxmlformats.org/drawingml/2006/main">
              <a:ext uri="{FF2B5EF4-FFF2-40B4-BE49-F238E27FC236}">
                <a16:creationId xmlns:a16="http://schemas.microsoft.com/office/drawing/2014/main" id="{F19B0D0B-BA4D-497E-B611-28DD747C520A}"/>
              </a:ext>
            </a:extLst>
          </p:cNvPr>
          <p:cNvSpPr>
            <a:spLocks xmlns:a="http://schemas.openxmlformats.org/drawingml/2006/main" noGrp="1"/>
          </p:cNvSpPr>
          <p:nvPr/>
        </p:nvSpPr>
        <p:spPr>
          <a:xfrm xmlns:a="http://schemas.openxmlformats.org/drawingml/2006/main">
            <a:off x="609600" y="56292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93447"/>
                </a:solidFill>
                <a:latin typeface="Arial"/>
                <a:ea typeface="Arial"/>
                <a:cs typeface="Arial"/>
              </a:defRPr>
            </a:defPPr>
            <a:lvl1pPr>
              <a:defRPr sz="1875" b="0">
                <a:solidFill>
                  <a:srgbClr val="193447"/>
                </a:solidFill>
                <a:latin typeface="Arial"/>
                <a:ea typeface="Arial"/>
                <a:cs typeface="Arial"/>
              </a:defRPr>
            </a:lvl1pPr>
            <a:lvl2pPr>
              <a:defRPr sz="1875" b="0">
                <a:solidFill>
                  <a:srgbClr val="193447"/>
                </a:solidFill>
                <a:latin typeface="Arial"/>
                <a:ea typeface="Arial"/>
                <a:cs typeface="Arial"/>
              </a:defRPr>
            </a:lvl2pPr>
            <a:lvl3pPr>
              <a:defRPr sz="1875" b="0">
                <a:solidFill>
                  <a:srgbClr val="193447"/>
                </a:solidFill>
                <a:latin typeface="Arial"/>
                <a:ea typeface="Arial"/>
                <a:cs typeface="Arial"/>
              </a:defRPr>
            </a:lvl3pPr>
            <a:lvl4pPr>
              <a:defRPr sz="1875" b="0">
                <a:solidFill>
                  <a:srgbClr val="193447"/>
                </a:solidFill>
                <a:latin typeface="Arial"/>
                <a:ea typeface="Arial"/>
                <a:cs typeface="Arial"/>
              </a:defRPr>
            </a:lvl4pPr>
            <a:lvl5pPr>
              <a:defRPr sz="1875" b="0">
                <a:solidFill>
                  <a:srgbClr val="193447"/>
                </a:solidFill>
                <a:latin typeface="Arial"/>
                <a:ea typeface="Arial"/>
                <a:cs typeface="Arial"/>
              </a:defRPr>
            </a:lvl5pPr>
            <a:lvl6pPr>
              <a:defRPr sz="1875" b="0">
                <a:solidFill>
                  <a:srgbClr val="193447"/>
                </a:solidFill>
                <a:latin typeface="Arial"/>
                <a:ea typeface="Arial"/>
                <a:cs typeface="Arial"/>
              </a:defRPr>
            </a:lvl6pPr>
            <a:lvl7pPr>
              <a:defRPr sz="1875" b="0">
                <a:solidFill>
                  <a:srgbClr val="193447"/>
                </a:solidFill>
                <a:latin typeface="Arial"/>
                <a:ea typeface="Arial"/>
                <a:cs typeface="Arial"/>
              </a:defRPr>
            </a:lvl7pPr>
            <a:lvl8pPr>
              <a:defRPr sz="1875" b="0">
                <a:solidFill>
                  <a:srgbClr val="193447"/>
                </a:solidFill>
                <a:latin typeface="Arial"/>
                <a:ea typeface="Arial"/>
                <a:cs typeface="Arial"/>
              </a:defRPr>
            </a:lvl8pPr>
            <a:lvl9pPr>
              <a:defRPr sz="1875" b="0">
                <a:solidFill>
                  <a:srgbClr val="193447"/>
                </a:solidFill>
                <a:latin typeface="Arial"/>
                <a:ea typeface="Arial"/>
                <a:cs typeface="Arial"/>
              </a:defRPr>
            </a:lvl9pPr>
          </a:lstStyle>
          <a:p xmlns:a="http://schemas.openxmlformats.org/drawingml/2006/main">
            <a:pPr>
              <a:defRPr sz="1875" b="0">
                <a:solidFill>
                  <a:srgbClr val="193447"/>
                </a:solidFill>
                <a:latin typeface="Arial"/>
                <a:ea typeface="Arial"/>
                <a:cs typeface="Arial"/>
              </a:defRPr>
            </a:pPr>
            <a:r>
              <a:rPr sz="1875" b="0">
                <a:solidFill>
                  <a:srgbClr val="193447"/>
                </a:solidFill>
                <a:latin typeface="Arial"/>
                <a:ea typeface="Arial"/>
                <a:cs typeface="Arial"/>
              </a:rPr>
              <a:t>Every required check must pass. Catastrophic failures remain latched.</a:t>
            </a:r>
          </a:p>
        </p:txBody>
      </p:sp>
    </p:spTree>
    <p:extLst>
      <p:ext uri="{BB962C8B-B14F-4D97-AF65-F5344CB8AC3E}">
        <p14:creationId xmlns:p14="http://schemas.microsoft.com/office/powerpoint/2010/main" val="1221140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339EE7-6F53-49EA-88C0-E3A4D8E37E27}"/>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TRUST BOUNDARIES</a:t>
            </a:r>
          </a:p>
        </p:txBody>
      </p:sp>
      <p:sp>
        <p:nvSpPr>
          <p:cNvPr id="2" name="">
            <a:extLst xmlns:a="http://schemas.openxmlformats.org/drawingml/2006/main">
              <a:ext uri="{FF2B5EF4-FFF2-40B4-BE49-F238E27FC236}">
                <a16:creationId xmlns:a16="http://schemas.microsoft.com/office/drawing/2014/main" id="{F98A8A87-015E-4F65-A112-F86CA57676E4}"/>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Separate processes protect scoring and mission facts</a:t>
            </a:r>
          </a:p>
        </p:txBody>
      </p:sp>
      <p:sp>
        <p:nvSpPr>
          <p:cNvPr id="3" name="">
            <a:extLst xmlns:a="http://schemas.openxmlformats.org/drawingml/2006/main">
              <a:ext uri="{FF2B5EF4-FFF2-40B4-BE49-F238E27FC236}">
                <a16:creationId xmlns:a16="http://schemas.microsoft.com/office/drawing/2014/main" id="{CB66223E-B194-41B0-B4C0-3C321A3C13D0}"/>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87E9F89D-E502-435A-B382-A2FBAB4C5FC6}"/>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06</a:t>
            </a:r>
          </a:p>
        </p:txBody>
      </p:sp>
      <p:graphicFrame>
        <p:nvGraphicFramePr>
          <p:cNvPr id="5" name="">
            <a:extLst xmlns:a="http://schemas.openxmlformats.org/drawingml/2006/main">
              <a:ext uri="{FF2B5EF4-FFF2-40B4-BE49-F238E27FC236}">
                <a16:creationId xmlns:a16="http://schemas.microsoft.com/office/drawing/2014/main" id="{31FC203F-222F-4441-BEAE-F44C64BDBDAA}"/>
              </a:ext>
            </a:extLst>
          </p:cNvPr>
          <p:cNvGraphicFramePr/>
          <p:nvPr/>
        </p:nvGraphicFramePr>
        <p:xfrm>
          <a:off xmlns:a="http://schemas.openxmlformats.org/drawingml/2006/main" x="609600" y="2076450"/>
          <a:ext xmlns:a="http://schemas.openxmlformats.org/drawingml/2006/main" cx="10972800" cy="3295650"/>
        </p:xfrm>
        <a:graphic xmlns:a="http://schemas.openxmlformats.org/drawingml/2006/main">
          <a:graphicData uri="http://schemas.openxmlformats.org/drawingml/2006/table">
            <a:tbl>
              <a:tblPr/>
              <a:tblGrid>
                <a:gridCol w="2428875"/>
                <a:gridCol w="4000500"/>
                <a:gridCol w="4543425"/>
              </a:tblGrid>
              <a:tr h="823913">
                <a:tc>
                  <a:txBody>
                    <a:bodyPr/>
                    <a:lstStyle/>
                    <a:p>
                      <a:r>
                        <a:rPr sz="1500" b="1">
                          <a:solidFill>
                            <a:srgbClr val="FFFFFF"/>
                          </a:solidFill>
                          <a:latin typeface="Arial"/>
                          <a:ea typeface="Arial"/>
                          <a:cs typeface="Arial"/>
                        </a:rPr>
                        <a:t>Boundary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Authority</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Protection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23913">
                <a:tc>
                  <a:txBody>
                    <a:bodyPr/>
                    <a:lstStyle/>
                    <a:p>
                      <a:r>
                        <a:rPr sz="1725" b="0">
                          <a:solidFill>
                            <a:srgbClr val="193447"/>
                          </a:solidFill>
                          <a:latin typeface="Arial"/>
                          <a:ea typeface="Arial"/>
                          <a:cs typeface="Arial"/>
                        </a:rPr>
                        <a:t>Harness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Verifier, reward, mission truth</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Separate container</a:t>
                      </a:r>
                    </a:p>
                    <a:p>
                      <a:r>
                        <a:rPr sz="1725" b="0">
                          <a:solidFill>
                            <a:srgbClr val="193447"/>
                          </a:solidFill>
                          <a:latin typeface="Arial"/>
                          <a:ea typeface="Arial"/>
                          <a:cs typeface="Arial"/>
                        </a:rPr>
                        <a:t>Authenticated controls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23913">
                <a:tc>
                  <a:txBody>
                    <a:bodyPr/>
                    <a:lstStyle/>
                    <a:p>
                      <a:r>
                        <a:rPr sz="1725" b="0">
                          <a:solidFill>
                            <a:srgbClr val="193447"/>
                          </a:solidFill>
                          <a:latin typeface="Arial"/>
                          <a:ea typeface="Arial"/>
                          <a:cs typeface="Arial"/>
                        </a:rPr>
                        <a:t>Agent worker</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Workspace repairs and tools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UID 1001, no outbound route</a:t>
                      </a:r>
                    </a:p>
                    <a:p>
                      <a:r>
                        <a:rPr sz="1725" b="0">
                          <a:solidFill>
                            <a:srgbClr val="193447"/>
                          </a:solidFill>
                          <a:latin typeface="Arial"/>
                          <a:ea typeface="Arial"/>
                          <a:cs typeface="Arial"/>
                        </a:rPr>
                        <a:t>Read-only root and resource limits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23913">
                <a:tc>
                  <a:txBody>
                    <a:bodyPr/>
                    <a:lstStyle/>
                    <a:p>
                      <a:r>
                        <a:rPr sz="1725" b="0">
                          <a:solidFill>
                            <a:srgbClr val="193447"/>
                          </a:solidFill>
                          <a:latin typeface="Arial"/>
                          <a:ea typeface="Arial"/>
                          <a:cs typeface="Arial"/>
                        </a:rPr>
                        <a:t>Behavioral evaluator</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Runs candidate calculation scripts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UID 1002, bounded fixtures</a:t>
                      </a:r>
                    </a:p>
                    <a:p>
                      <a:r>
                        <a:rPr sz="1725" b="0">
                          <a:solidFill>
                            <a:srgbClr val="193447"/>
                          </a:solidFill>
                          <a:latin typeface="Arial"/>
                          <a:ea typeface="Arial"/>
                          <a:cs typeface="Arial"/>
                        </a:rPr>
                        <a:t>Worker cleanup between calls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F9685140-1A05-4404-9C06-2CF4B8D141EF}"/>
              </a:ext>
            </a:extLst>
          </p:cNvPr>
          <p:cNvSpPr>
            <a:spLocks xmlns:a="http://schemas.openxmlformats.org/drawingml/2006/main" noGrp="1"/>
          </p:cNvSpPr>
          <p:nvPr/>
        </p:nvSpPr>
        <p:spPr>
          <a:xfrm xmlns:a="http://schemas.openxmlformats.org/drawingml/2006/main">
            <a:off x="609600" y="5705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E83"/>
                </a:solidFill>
                <a:latin typeface="Arial"/>
                <a:ea typeface="Arial"/>
                <a:cs typeface="Arial"/>
              </a:defRPr>
            </a:defPPr>
            <a:lvl1pPr>
              <a:defRPr sz="1875" b="1">
                <a:solidFill>
                  <a:srgbClr val="007E83"/>
                </a:solidFill>
                <a:latin typeface="Arial"/>
                <a:ea typeface="Arial"/>
                <a:cs typeface="Arial"/>
              </a:defRPr>
            </a:lvl1pPr>
            <a:lvl2pPr>
              <a:defRPr sz="1875" b="1">
                <a:solidFill>
                  <a:srgbClr val="007E83"/>
                </a:solidFill>
                <a:latin typeface="Arial"/>
                <a:ea typeface="Arial"/>
                <a:cs typeface="Arial"/>
              </a:defRPr>
            </a:lvl2pPr>
            <a:lvl3pPr>
              <a:defRPr sz="1875" b="1">
                <a:solidFill>
                  <a:srgbClr val="007E83"/>
                </a:solidFill>
                <a:latin typeface="Arial"/>
                <a:ea typeface="Arial"/>
                <a:cs typeface="Arial"/>
              </a:defRPr>
            </a:lvl3pPr>
            <a:lvl4pPr>
              <a:defRPr sz="1875" b="1">
                <a:solidFill>
                  <a:srgbClr val="007E83"/>
                </a:solidFill>
                <a:latin typeface="Arial"/>
                <a:ea typeface="Arial"/>
                <a:cs typeface="Arial"/>
              </a:defRPr>
            </a:lvl4pPr>
            <a:lvl5pPr>
              <a:defRPr sz="1875" b="1">
                <a:solidFill>
                  <a:srgbClr val="007E83"/>
                </a:solidFill>
                <a:latin typeface="Arial"/>
                <a:ea typeface="Arial"/>
                <a:cs typeface="Arial"/>
              </a:defRPr>
            </a:lvl5pPr>
            <a:lvl6pPr>
              <a:defRPr sz="1875" b="1">
                <a:solidFill>
                  <a:srgbClr val="007E83"/>
                </a:solidFill>
                <a:latin typeface="Arial"/>
                <a:ea typeface="Arial"/>
                <a:cs typeface="Arial"/>
              </a:defRPr>
            </a:lvl6pPr>
            <a:lvl7pPr>
              <a:defRPr sz="1875" b="1">
                <a:solidFill>
                  <a:srgbClr val="007E83"/>
                </a:solidFill>
                <a:latin typeface="Arial"/>
                <a:ea typeface="Arial"/>
                <a:cs typeface="Arial"/>
              </a:defRPr>
            </a:lvl7pPr>
            <a:lvl8pPr>
              <a:defRPr sz="1875" b="1">
                <a:solidFill>
                  <a:srgbClr val="007E83"/>
                </a:solidFill>
                <a:latin typeface="Arial"/>
                <a:ea typeface="Arial"/>
                <a:cs typeface="Arial"/>
              </a:defRPr>
            </a:lvl8pPr>
            <a:lvl9pPr>
              <a:defRPr sz="1875" b="1">
                <a:solidFill>
                  <a:srgbClr val="007E83"/>
                </a:solidFill>
                <a:latin typeface="Arial"/>
                <a:ea typeface="Arial"/>
                <a:cs typeface="Arial"/>
              </a:defRPr>
            </a:lvl9pPr>
          </a:lstStyle>
          <a:p xmlns:a="http://schemas.openxmlformats.org/drawingml/2006/main">
            <a:pPr>
              <a:defRPr sz="1875" b="1">
                <a:solidFill>
                  <a:srgbClr val="007E83"/>
                </a:solidFill>
                <a:latin typeface="Arial"/>
                <a:ea typeface="Arial"/>
                <a:cs typeface="Arial"/>
              </a:defRPr>
            </a:pPr>
            <a:r>
              <a:rPr sz="1875" b="1">
                <a:solidFill>
                  <a:srgbClr val="007E83"/>
                </a:solidFill>
                <a:latin typeface="Arial"/>
                <a:ea typeface="Arial"/>
                <a:cs typeface="Arial"/>
              </a:rPr>
              <a:t>Docker and the host kernel remain part of the trust boundary.</a:t>
            </a:r>
          </a:p>
        </p:txBody>
      </p:sp>
    </p:spTree>
    <p:extLst>
      <p:ext uri="{BB962C8B-B14F-4D97-AF65-F5344CB8AC3E}">
        <p14:creationId xmlns:p14="http://schemas.microsoft.com/office/powerpoint/2010/main" val="12845015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3AE85C-EEBD-4203-996B-B76DA5CF04A0}"/>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ADVERSARIAL REGRESSION EVIDENCE</a:t>
            </a:r>
          </a:p>
        </p:txBody>
      </p:sp>
      <p:sp>
        <p:nvSpPr>
          <p:cNvPr id="2" name="">
            <a:extLst xmlns:a="http://schemas.openxmlformats.org/drawingml/2006/main">
              <a:ext uri="{FF2B5EF4-FFF2-40B4-BE49-F238E27FC236}">
                <a16:creationId xmlns:a16="http://schemas.microsoft.com/office/drawing/2014/main" id="{FC81AC4D-0B02-44BA-93E9-CB7CE6AFF7F1}"/>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Executed attack probes produce honest failures</a:t>
            </a:r>
          </a:p>
        </p:txBody>
      </p:sp>
      <p:sp>
        <p:nvSpPr>
          <p:cNvPr id="3" name="">
            <a:extLst xmlns:a="http://schemas.openxmlformats.org/drawingml/2006/main">
              <a:ext uri="{FF2B5EF4-FFF2-40B4-BE49-F238E27FC236}">
                <a16:creationId xmlns:a16="http://schemas.microsoft.com/office/drawing/2014/main" id="{A05D8131-10F2-4032-A49E-546B85E4F9B1}"/>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D0B5E76E-50F1-4EFE-9FFC-D211E76035F9}"/>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07</a:t>
            </a:r>
          </a:p>
        </p:txBody>
      </p:sp>
      <p:graphicFrame>
        <p:nvGraphicFramePr>
          <p:cNvPr id="5" name="">
            <a:extLst xmlns:a="http://schemas.openxmlformats.org/drawingml/2006/main">
              <a:ext uri="{FF2B5EF4-FFF2-40B4-BE49-F238E27FC236}">
                <a16:creationId xmlns:a16="http://schemas.microsoft.com/office/drawing/2014/main" id="{4E58D9F8-402A-4C0A-853A-A681122B1D77}"/>
              </a:ext>
            </a:extLst>
          </p:cNvPr>
          <p:cNvGraphicFramePr/>
          <p:nvPr/>
        </p:nvGraphicFramePr>
        <p:xfrm>
          <a:off xmlns:a="http://schemas.openxmlformats.org/drawingml/2006/main" x="609600" y="2076450"/>
          <a:ext xmlns:a="http://schemas.openxmlformats.org/drawingml/2006/main" cx="10972800" cy="3390900"/>
        </p:xfrm>
        <a:graphic xmlns:a="http://schemas.openxmlformats.org/drawingml/2006/main">
          <a:graphicData uri="http://schemas.openxmlformats.org/drawingml/2006/table">
            <a:tbl>
              <a:tblPr/>
              <a:tblGrid>
                <a:gridCol w="6381750"/>
                <a:gridCol w="1962150"/>
                <a:gridCol w="2628900"/>
              </a:tblGrid>
              <a:tr h="678180">
                <a:tc>
                  <a:txBody>
                    <a:bodyPr/>
                    <a:lstStyle/>
                    <a:p>
                      <a:r>
                        <a:rPr sz="1500" b="1">
                          <a:solidFill>
                            <a:srgbClr val="FFFFFF"/>
                          </a:solidFill>
                          <a:latin typeface="Arial"/>
                          <a:ea typeface="Arial"/>
                          <a:cs typeface="Arial"/>
                        </a:rPr>
                        <a:t>Executed probe</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Reward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Termination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78180">
                <a:tc>
                  <a:txBody>
                    <a:bodyPr/>
                    <a:lstStyle/>
                    <a:p>
                      <a:r>
                        <a:rPr sz="1875" b="0">
                          <a:solidFill>
                            <a:srgbClr val="193447"/>
                          </a:solidFill>
                          <a:latin typeface="Arial"/>
                          <a:ea typeface="Arial"/>
                          <a:cs typeface="Arial"/>
                        </a:rPr>
                        <a:t>Relax pointing requirement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875" b="0">
                          <a:solidFill>
                            <a:srgbClr val="193447"/>
                          </a:solidFill>
                          <a:latin typeface="Arial"/>
                          <a:ea typeface="Arial"/>
                          <a:cs typeface="Arial"/>
                        </a:rPr>
                        <a:t>0.800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87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78180">
                <a:tc>
                  <a:txBody>
                    <a:bodyPr/>
                    <a:lstStyle/>
                    <a:p>
                      <a:r>
                        <a:rPr sz="1875" b="0">
                          <a:solidFill>
                            <a:srgbClr val="193447"/>
                          </a:solidFill>
                          <a:latin typeface="Arial"/>
                          <a:ea typeface="Arial"/>
                          <a:cs typeface="Arial"/>
                        </a:rPr>
                        <a:t>Forge telemetry output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875" b="0">
                          <a:solidFill>
                            <a:srgbClr val="193447"/>
                          </a:solidFill>
                          <a:latin typeface="Arial"/>
                          <a:ea typeface="Arial"/>
                          <a:cs typeface="Arial"/>
                        </a:rPr>
                        <a:t>0.000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87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78180">
                <a:tc>
                  <a:txBody>
                    <a:bodyPr/>
                    <a:lstStyle/>
                    <a:p>
                      <a:r>
                        <a:rPr sz="1875" b="0">
                          <a:solidFill>
                            <a:srgbClr val="193447"/>
                          </a:solidFill>
                          <a:latin typeface="Arial"/>
                          <a:ea typeface="Arial"/>
                          <a:cs typeface="Arial"/>
                        </a:rPr>
                        <a:t>Miss early contact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875" b="0">
                          <a:solidFill>
                            <a:srgbClr val="193447"/>
                          </a:solidFill>
                          <a:latin typeface="Arial"/>
                          <a:ea typeface="Arial"/>
                          <a:cs typeface="Arial"/>
                        </a:rPr>
                        <a:t>0.418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87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78180">
                <a:tc>
                  <a:txBody>
                    <a:bodyPr/>
                    <a:lstStyle/>
                    <a:p>
                      <a:r>
                        <a:rPr sz="1875" b="0">
                          <a:solidFill>
                            <a:srgbClr val="193447"/>
                          </a:solidFill>
                          <a:latin typeface="Arial"/>
                          <a:ea typeface="Arial"/>
                          <a:cs typeface="Arial"/>
                        </a:rPr>
                        <a:t>Miss observation window</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875" b="0">
                          <a:solidFill>
                            <a:srgbClr val="193447"/>
                          </a:solidFill>
                          <a:latin typeface="Arial"/>
                          <a:ea typeface="Arial"/>
                          <a:cs typeface="Arial"/>
                        </a:rPr>
                        <a:t>0.800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87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90EFEE9E-8668-4A76-8530-A875C590FAC0}"/>
              </a:ext>
            </a:extLst>
          </p:cNvPr>
          <p:cNvSpPr>
            <a:spLocks xmlns:a="http://schemas.openxmlformats.org/drawingml/2006/main" noGrp="1"/>
          </p:cNvSpPr>
          <p:nvPr/>
        </p:nvSpPr>
        <p:spPr>
          <a:xfrm xmlns:a="http://schemas.openxmlformats.org/drawingml/2006/main">
            <a:off x="609600" y="57435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E83"/>
                </a:solidFill>
                <a:latin typeface="Arial"/>
                <a:ea typeface="Arial"/>
                <a:cs typeface="Arial"/>
              </a:defRPr>
            </a:defPPr>
            <a:lvl1pPr>
              <a:defRPr sz="1725" b="1">
                <a:solidFill>
                  <a:srgbClr val="007E83"/>
                </a:solidFill>
                <a:latin typeface="Arial"/>
                <a:ea typeface="Arial"/>
                <a:cs typeface="Arial"/>
              </a:defRPr>
            </a:lvl1pPr>
            <a:lvl2pPr>
              <a:defRPr sz="1725" b="1">
                <a:solidFill>
                  <a:srgbClr val="007E83"/>
                </a:solidFill>
                <a:latin typeface="Arial"/>
                <a:ea typeface="Arial"/>
                <a:cs typeface="Arial"/>
              </a:defRPr>
            </a:lvl2pPr>
            <a:lvl3pPr>
              <a:defRPr sz="1725" b="1">
                <a:solidFill>
                  <a:srgbClr val="007E83"/>
                </a:solidFill>
                <a:latin typeface="Arial"/>
                <a:ea typeface="Arial"/>
                <a:cs typeface="Arial"/>
              </a:defRPr>
            </a:lvl3pPr>
            <a:lvl4pPr>
              <a:defRPr sz="1725" b="1">
                <a:solidFill>
                  <a:srgbClr val="007E83"/>
                </a:solidFill>
                <a:latin typeface="Arial"/>
                <a:ea typeface="Arial"/>
                <a:cs typeface="Arial"/>
              </a:defRPr>
            </a:lvl4pPr>
            <a:lvl5pPr>
              <a:defRPr sz="1725" b="1">
                <a:solidFill>
                  <a:srgbClr val="007E83"/>
                </a:solidFill>
                <a:latin typeface="Arial"/>
                <a:ea typeface="Arial"/>
                <a:cs typeface="Arial"/>
              </a:defRPr>
            </a:lvl5pPr>
            <a:lvl6pPr>
              <a:defRPr sz="1725" b="1">
                <a:solidFill>
                  <a:srgbClr val="007E83"/>
                </a:solidFill>
                <a:latin typeface="Arial"/>
                <a:ea typeface="Arial"/>
                <a:cs typeface="Arial"/>
              </a:defRPr>
            </a:lvl6pPr>
            <a:lvl7pPr>
              <a:defRPr sz="1725" b="1">
                <a:solidFill>
                  <a:srgbClr val="007E83"/>
                </a:solidFill>
                <a:latin typeface="Arial"/>
                <a:ea typeface="Arial"/>
                <a:cs typeface="Arial"/>
              </a:defRPr>
            </a:lvl7pPr>
            <a:lvl8pPr>
              <a:defRPr sz="1725" b="1">
                <a:solidFill>
                  <a:srgbClr val="007E83"/>
                </a:solidFill>
                <a:latin typeface="Arial"/>
                <a:ea typeface="Arial"/>
                <a:cs typeface="Arial"/>
              </a:defRPr>
            </a:lvl8pPr>
            <a:lvl9pPr>
              <a:defRPr sz="1725" b="1">
                <a:solidFill>
                  <a:srgbClr val="007E83"/>
                </a:solidFill>
                <a:latin typeface="Arial"/>
                <a:ea typeface="Arial"/>
                <a:cs typeface="Arial"/>
              </a:defRPr>
            </a:lvl9pPr>
          </a:lstStyle>
          <a:p xmlns:a="http://schemas.openxmlformats.org/drawingml/2006/main">
            <a:pPr>
              <a:defRPr sz="1725" b="1">
                <a:solidFill>
                  <a:srgbClr val="007E83"/>
                </a:solidFill>
                <a:latin typeface="Arial"/>
                <a:ea typeface="Arial"/>
                <a:cs typeface="Arial"/>
              </a:defRPr>
            </a:pPr>
            <a:r>
              <a:rPr sz="1725" b="1">
                <a:solidFill>
                  <a:srgbClr val="007E83"/>
                </a:solidFill>
                <a:latin typeface="Arial"/>
                <a:ea typeface="Arial"/>
                <a:cs typeface="Arial"/>
              </a:rPr>
              <a:t>Four scripted probes. No model API calls. All failed the success checks.</a:t>
            </a:r>
          </a:p>
        </p:txBody>
      </p:sp>
    </p:spTree>
    <p:extLst>
      <p:ext uri="{BB962C8B-B14F-4D97-AF65-F5344CB8AC3E}">
        <p14:creationId xmlns:p14="http://schemas.microsoft.com/office/powerpoint/2010/main" val="5428656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700FF34-4D57-449A-89CC-9E429C7B67ED}"/>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REPRODUCIBILITY EVIDENCE</a:t>
            </a:r>
          </a:p>
        </p:txBody>
      </p:sp>
      <p:sp>
        <p:nvSpPr>
          <p:cNvPr id="2" name="">
            <a:extLst xmlns:a="http://schemas.openxmlformats.org/drawingml/2006/main">
              <a:ext uri="{FF2B5EF4-FFF2-40B4-BE49-F238E27FC236}">
                <a16:creationId xmlns:a16="http://schemas.microsoft.com/office/drawing/2014/main" id="{71D7F924-A95A-41F4-8817-56F4B68F90C7}"/>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Tests measure feasibility and shortcut resistance</a:t>
            </a:r>
          </a:p>
        </p:txBody>
      </p:sp>
      <p:sp>
        <p:nvSpPr>
          <p:cNvPr id="3" name="">
            <a:extLst xmlns:a="http://schemas.openxmlformats.org/drawingml/2006/main">
              <a:ext uri="{FF2B5EF4-FFF2-40B4-BE49-F238E27FC236}">
                <a16:creationId xmlns:a16="http://schemas.microsoft.com/office/drawing/2014/main" id="{D10735CE-C2A0-4414-A3AB-D8F0170092AA}"/>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E54251A8-A49E-482C-B8EA-ABB81FCF172B}"/>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F102C4FA-3592-459A-A03B-216FDEA6E1FB}"/>
              </a:ext>
            </a:extLst>
          </p:cNvPr>
          <p:cNvSpPr>
            <a:spLocks xmlns:a="http://schemas.openxmlformats.org/drawingml/2006/main" noGrp="1"/>
          </p:cNvSpPr>
          <p:nvPr/>
        </p:nvSpPr>
        <p:spPr>
          <a:xfrm xmlns:a="http://schemas.openxmlformats.org/drawingml/2006/main">
            <a:off x="609600" y="194310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7E83"/>
                </a:solidFill>
                <a:latin typeface="Arial"/>
                <a:ea typeface="Arial"/>
                <a:cs typeface="Arial"/>
              </a:defRPr>
            </a:defPPr>
            <a:lvl1pPr>
              <a:defRPr sz="2100" b="1">
                <a:solidFill>
                  <a:srgbClr val="007E83"/>
                </a:solidFill>
                <a:latin typeface="Arial"/>
                <a:ea typeface="Arial"/>
                <a:cs typeface="Arial"/>
              </a:defRPr>
            </a:lvl1pPr>
            <a:lvl2pPr>
              <a:defRPr sz="2100" b="1">
                <a:solidFill>
                  <a:srgbClr val="007E83"/>
                </a:solidFill>
                <a:latin typeface="Arial"/>
                <a:ea typeface="Arial"/>
                <a:cs typeface="Arial"/>
              </a:defRPr>
            </a:lvl2pPr>
            <a:lvl3pPr>
              <a:defRPr sz="2100" b="1">
                <a:solidFill>
                  <a:srgbClr val="007E83"/>
                </a:solidFill>
                <a:latin typeface="Arial"/>
                <a:ea typeface="Arial"/>
                <a:cs typeface="Arial"/>
              </a:defRPr>
            </a:lvl3pPr>
            <a:lvl4pPr>
              <a:defRPr sz="2100" b="1">
                <a:solidFill>
                  <a:srgbClr val="007E83"/>
                </a:solidFill>
                <a:latin typeface="Arial"/>
                <a:ea typeface="Arial"/>
                <a:cs typeface="Arial"/>
              </a:defRPr>
            </a:lvl4pPr>
            <a:lvl5pPr>
              <a:defRPr sz="2100" b="1">
                <a:solidFill>
                  <a:srgbClr val="007E83"/>
                </a:solidFill>
                <a:latin typeface="Arial"/>
                <a:ea typeface="Arial"/>
                <a:cs typeface="Arial"/>
              </a:defRPr>
            </a:lvl5pPr>
            <a:lvl6pPr>
              <a:defRPr sz="2100" b="1">
                <a:solidFill>
                  <a:srgbClr val="007E83"/>
                </a:solidFill>
                <a:latin typeface="Arial"/>
                <a:ea typeface="Arial"/>
                <a:cs typeface="Arial"/>
              </a:defRPr>
            </a:lvl6pPr>
            <a:lvl7pPr>
              <a:defRPr sz="2100" b="1">
                <a:solidFill>
                  <a:srgbClr val="007E83"/>
                </a:solidFill>
                <a:latin typeface="Arial"/>
                <a:ea typeface="Arial"/>
                <a:cs typeface="Arial"/>
              </a:defRPr>
            </a:lvl7pPr>
            <a:lvl8pPr>
              <a:defRPr sz="2100" b="1">
                <a:solidFill>
                  <a:srgbClr val="007E83"/>
                </a:solidFill>
                <a:latin typeface="Arial"/>
                <a:ea typeface="Arial"/>
                <a:cs typeface="Arial"/>
              </a:defRPr>
            </a:lvl8pPr>
            <a:lvl9pPr>
              <a:defRPr sz="2100" b="1">
                <a:solidFill>
                  <a:srgbClr val="007E83"/>
                </a:solidFill>
                <a:latin typeface="Arial"/>
                <a:ea typeface="Arial"/>
                <a:cs typeface="Arial"/>
              </a:defRPr>
            </a:lvl9pPr>
          </a:lstStyle>
          <a:p xmlns:a="http://schemas.openxmlformats.org/drawingml/2006/main">
            <a:pPr>
              <a:defRPr sz="2100" b="1">
                <a:solidFill>
                  <a:srgbClr val="007E83"/>
                </a:solidFill>
                <a:latin typeface="Arial"/>
                <a:ea typeface="Arial"/>
                <a:cs typeface="Arial"/>
              </a:defRPr>
            </a:pPr>
            <a:r>
              <a:rPr sz="2100" b="1">
                <a:solidFill>
                  <a:srgbClr val="007E83"/>
                </a:solidFill>
                <a:latin typeface="Arial"/>
                <a:ea typeface="Arial"/>
                <a:cs typeface="Arial"/>
              </a:rPr>
              <a:t>71 Linux regressions     160 task/seed pairs     12 live isolation checks</a:t>
            </a:r>
          </a:p>
        </p:txBody>
      </p:sp>
      <p:graphicFrame>
        <p:nvGraphicFramePr>
          <p:cNvPr id="6" name="">
            <a:extLst xmlns:a="http://schemas.openxmlformats.org/drawingml/2006/main">
              <a:ext uri="{FF2B5EF4-FFF2-40B4-BE49-F238E27FC236}">
                <a16:creationId xmlns:a16="http://schemas.microsoft.com/office/drawing/2014/main" id="{9A6A253A-AC50-4ACF-9CB4-423118175468}"/>
              </a:ext>
            </a:extLst>
          </p:cNvPr>
          <p:cNvGraphicFramePr/>
          <p:nvPr/>
        </p:nvGraphicFramePr>
        <p:xfrm>
          <a:off xmlns:a="http://schemas.openxmlformats.org/drawingml/2006/main" x="609600" y="2800350"/>
          <a:ext xmlns:a="http://schemas.openxmlformats.org/drawingml/2006/main" cx="10972800" cy="2628900"/>
        </p:xfrm>
        <a:graphic xmlns:a="http://schemas.openxmlformats.org/drawingml/2006/main">
          <a:graphicData uri="http://schemas.openxmlformats.org/drawingml/2006/table">
            <a:tbl>
              <a:tblPr/>
              <a:tblGrid>
                <a:gridCol w="4048125"/>
                <a:gridCol w="3000375"/>
                <a:gridCol w="3924300"/>
              </a:tblGrid>
              <a:tr h="657225">
                <a:tc>
                  <a:txBody>
                    <a:bodyPr/>
                    <a:lstStyle/>
                    <a:p>
                      <a:r>
                        <a:rPr sz="1500" b="1">
                          <a:solidFill>
                            <a:srgbClr val="FFFFFF"/>
                          </a:solidFill>
                          <a:latin typeface="Arial"/>
                          <a:ea typeface="Arial"/>
                          <a:cs typeface="Arial"/>
                        </a:rPr>
                        <a:t>Scripted policy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Successful episodes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Evidence scope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57225">
                <a:tc>
                  <a:txBody>
                    <a:bodyPr/>
                    <a:lstStyle/>
                    <a:p>
                      <a:r>
                        <a:rPr sz="1725" b="0">
                          <a:solidFill>
                            <a:srgbClr val="193447"/>
                          </a:solidFill>
                          <a:latin typeface="Arial"/>
                          <a:ea typeface="Arial"/>
                          <a:cs typeface="Arial"/>
                        </a:rPr>
                        <a:t>No-op</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 / 40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8 tasks × 5 separate seeds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57225">
                <a:tc>
                  <a:txBody>
                    <a:bodyPr/>
                    <a:lstStyle/>
                    <a:p>
                      <a:r>
                        <a:rPr sz="1725" b="0">
                          <a:solidFill>
                            <a:srgbClr val="193447"/>
                          </a:solidFill>
                          <a:latin typeface="Arial"/>
                          <a:ea typeface="Arial"/>
                          <a:cs typeface="Arial"/>
                        </a:rPr>
                        <a:t>Nominal / max radio</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25 / 40 and 20 / 40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 / 15 on the three hard tasks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57225">
                <a:tc>
                  <a:txBody>
                    <a:bodyPr/>
                    <a:lstStyle/>
                    <a:p>
                      <a:r>
                        <a:rPr sz="1725" b="0">
                          <a:solidFill>
                            <a:srgbClr val="193447"/>
                          </a:solidFill>
                          <a:latin typeface="Arial"/>
                          <a:ea typeface="Arial"/>
                          <a:cs typeface="Arial"/>
                        </a:rPr>
                        <a:t>Privileged reference</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40 / 40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Feasibility baseline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7" name="">
            <a:extLst xmlns:a="http://schemas.openxmlformats.org/drawingml/2006/main">
              <a:ext uri="{FF2B5EF4-FFF2-40B4-BE49-F238E27FC236}">
                <a16:creationId xmlns:a16="http://schemas.microsoft.com/office/drawing/2014/main" id="{9D91211B-83BC-4B0B-8C0A-3D3DB5BF4469}"/>
              </a:ext>
            </a:extLst>
          </p:cNvPr>
          <p:cNvSpPr>
            <a:spLocks xmlns:a="http://schemas.openxmlformats.org/drawingml/2006/main" noGrp="1"/>
          </p:cNvSpPr>
          <p:nvPr/>
        </p:nvSpPr>
        <p:spPr>
          <a:xfrm xmlns:a="http://schemas.openxmlformats.org/drawingml/2006/main">
            <a:off x="609600" y="57435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93447"/>
                </a:solidFill>
                <a:latin typeface="Arial"/>
                <a:ea typeface="Arial"/>
                <a:cs typeface="Arial"/>
              </a:defRPr>
            </a:defPPr>
            <a:lvl1pPr>
              <a:defRPr sz="1800" b="0">
                <a:solidFill>
                  <a:srgbClr val="193447"/>
                </a:solidFill>
                <a:latin typeface="Arial"/>
                <a:ea typeface="Arial"/>
                <a:cs typeface="Arial"/>
              </a:defRPr>
            </a:lvl1pPr>
            <a:lvl2pPr>
              <a:defRPr sz="1800" b="0">
                <a:solidFill>
                  <a:srgbClr val="193447"/>
                </a:solidFill>
                <a:latin typeface="Arial"/>
                <a:ea typeface="Arial"/>
                <a:cs typeface="Arial"/>
              </a:defRPr>
            </a:lvl2pPr>
            <a:lvl3pPr>
              <a:defRPr sz="1800" b="0">
                <a:solidFill>
                  <a:srgbClr val="193447"/>
                </a:solidFill>
                <a:latin typeface="Arial"/>
                <a:ea typeface="Arial"/>
                <a:cs typeface="Arial"/>
              </a:defRPr>
            </a:lvl3pPr>
            <a:lvl4pPr>
              <a:defRPr sz="1800" b="0">
                <a:solidFill>
                  <a:srgbClr val="193447"/>
                </a:solidFill>
                <a:latin typeface="Arial"/>
                <a:ea typeface="Arial"/>
                <a:cs typeface="Arial"/>
              </a:defRPr>
            </a:lvl4pPr>
            <a:lvl5pPr>
              <a:defRPr sz="1800" b="0">
                <a:solidFill>
                  <a:srgbClr val="193447"/>
                </a:solidFill>
                <a:latin typeface="Arial"/>
                <a:ea typeface="Arial"/>
                <a:cs typeface="Arial"/>
              </a:defRPr>
            </a:lvl5pPr>
            <a:lvl6pPr>
              <a:defRPr sz="1800" b="0">
                <a:solidFill>
                  <a:srgbClr val="193447"/>
                </a:solidFill>
                <a:latin typeface="Arial"/>
                <a:ea typeface="Arial"/>
                <a:cs typeface="Arial"/>
              </a:defRPr>
            </a:lvl6pPr>
            <a:lvl7pPr>
              <a:defRPr sz="1800" b="0">
                <a:solidFill>
                  <a:srgbClr val="193447"/>
                </a:solidFill>
                <a:latin typeface="Arial"/>
                <a:ea typeface="Arial"/>
                <a:cs typeface="Arial"/>
              </a:defRPr>
            </a:lvl7pPr>
            <a:lvl8pPr>
              <a:defRPr sz="1800" b="0">
                <a:solidFill>
                  <a:srgbClr val="193447"/>
                </a:solidFill>
                <a:latin typeface="Arial"/>
                <a:ea typeface="Arial"/>
                <a:cs typeface="Arial"/>
              </a:defRPr>
            </a:lvl8pPr>
            <a:lvl9pPr>
              <a:defRPr sz="1800" b="0">
                <a:solidFill>
                  <a:srgbClr val="193447"/>
                </a:solidFill>
                <a:latin typeface="Arial"/>
                <a:ea typeface="Arial"/>
                <a:cs typeface="Arial"/>
              </a:defRPr>
            </a:lvl9pPr>
          </a:lstStyle>
          <a:p xmlns:a="http://schemas.openxmlformats.org/drawingml/2006/main">
            <a:pPr>
              <a:defRPr sz="1800" b="0">
                <a:solidFill>
                  <a:srgbClr val="193447"/>
                </a:solidFill>
                <a:latin typeface="Arial"/>
                <a:ea typeface="Arial"/>
                <a:cs typeface="Arial"/>
              </a:defRPr>
            </a:pPr>
            <a:r>
              <a:rPr sz="1800" b="0">
                <a:solidFill>
                  <a:srgbClr val="193447"/>
                </a:solidFill>
                <a:latin typeface="Arial"/>
                <a:ea typeface="Arial"/>
                <a:cs typeface="Arial"/>
              </a:rPr>
              <a:t>All 8 gates pass. The offline policy comparison never calls a model.</a:t>
            </a:r>
          </a:p>
        </p:txBody>
      </p:sp>
    </p:spTree>
    <p:extLst>
      <p:ext uri="{BB962C8B-B14F-4D97-AF65-F5344CB8AC3E}">
        <p14:creationId xmlns:p14="http://schemas.microsoft.com/office/powerpoint/2010/main" val="4724761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F330D5-2364-4230-ACD9-9EF0F1579B3A}"/>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ORGANIZER DEPLOYMENT: GPT-6-LUNA</a:t>
            </a:r>
          </a:p>
        </p:txBody>
      </p:sp>
      <p:sp>
        <p:nvSpPr>
          <p:cNvPr id="2" name="">
            <a:extLst xmlns:a="http://schemas.openxmlformats.org/drawingml/2006/main">
              <a:ext uri="{FF2B5EF4-FFF2-40B4-BE49-F238E27FC236}">
                <a16:creationId xmlns:a16="http://schemas.microsoft.com/office/drawing/2014/main" id="{4253FBEF-608F-44D3-ABBC-9BF270D683CB}"/>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Final-source model evidence includes connection failures</a:t>
            </a:r>
          </a:p>
        </p:txBody>
      </p:sp>
      <p:sp>
        <p:nvSpPr>
          <p:cNvPr id="3" name="">
            <a:extLst xmlns:a="http://schemas.openxmlformats.org/drawingml/2006/main">
              <a:ext uri="{FF2B5EF4-FFF2-40B4-BE49-F238E27FC236}">
                <a16:creationId xmlns:a16="http://schemas.microsoft.com/office/drawing/2014/main" id="{653CFBA7-5B90-431C-AC43-A889DD4E0DF6}"/>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A23EC8B0-7B3D-48E5-94E6-FBCFE3D738A9}"/>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09</a:t>
            </a:r>
          </a:p>
        </p:txBody>
      </p:sp>
      <p:graphicFrame>
        <p:nvGraphicFramePr>
          <p:cNvPr id="5" name="">
            <a:extLst xmlns:a="http://schemas.openxmlformats.org/drawingml/2006/main">
              <a:ext uri="{FF2B5EF4-FFF2-40B4-BE49-F238E27FC236}">
                <a16:creationId xmlns:a16="http://schemas.microsoft.com/office/drawing/2014/main" id="{6A771661-D9C6-466B-873E-F9C8C77FBE1C}"/>
              </a:ext>
            </a:extLst>
          </p:cNvPr>
          <p:cNvGraphicFramePr/>
          <p:nvPr/>
        </p:nvGraphicFramePr>
        <p:xfrm>
          <a:off xmlns:a="http://schemas.openxmlformats.org/drawingml/2006/main" x="609600" y="2038350"/>
          <a:ext xmlns:a="http://schemas.openxmlformats.org/drawingml/2006/main" cx="10972800" cy="3238500"/>
        </p:xfrm>
        <a:graphic xmlns:a="http://schemas.openxmlformats.org/drawingml/2006/main">
          <a:graphicData uri="http://schemas.openxmlformats.org/drawingml/2006/table">
            <a:tbl>
              <a:tblPr/>
              <a:tblGrid>
                <a:gridCol w="4019550"/>
                <a:gridCol w="3333750"/>
                <a:gridCol w="1238250"/>
                <a:gridCol w="2381250"/>
              </a:tblGrid>
              <a:tr h="647700">
                <a:tc>
                  <a:txBody>
                    <a:bodyPr/>
                    <a:lstStyle/>
                    <a:p>
                      <a:r>
                        <a:rPr sz="1500" b="1">
                          <a:solidFill>
                            <a:srgbClr val="FFFFFF"/>
                          </a:solidFill>
                          <a:latin typeface="Arial"/>
                          <a:ea typeface="Arial"/>
                          <a:cs typeface="Arial"/>
                        </a:rPr>
                        <a:t>Attempt</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Outcome / reward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Replies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Harness seconds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47700">
                <a:tc>
                  <a:txBody>
                    <a:bodyPr/>
                    <a:lstStyle/>
                    <a:p>
                      <a:r>
                        <a:rPr sz="1650" b="0">
                          <a:solidFill>
                            <a:srgbClr val="193447"/>
                          </a:solidFill>
                          <a:latin typeface="Arial"/>
                          <a:ea typeface="Arial"/>
                          <a:cs typeface="Arial"/>
                        </a:rPr>
                        <a:t>EPS Run A, no append</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Success / 1.0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7</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29.31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47700">
                <a:tc>
                  <a:txBody>
                    <a:bodyPr/>
                    <a:lstStyle/>
                    <a:p>
                      <a:r>
                        <a:rPr sz="1650" b="0">
                          <a:solidFill>
                            <a:srgbClr val="193447"/>
                          </a:solidFill>
                          <a:latin typeface="Arial"/>
                          <a:ea typeface="Arial"/>
                          <a:cs typeface="Arial"/>
                        </a:rPr>
                        <a:t>EPS + sample append</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Success / 1.0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10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44.72</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47700">
                <a:tc>
                  <a:txBody>
                    <a:bodyPr/>
                    <a:lstStyle/>
                    <a:p>
                      <a:r>
                        <a:rPr sz="1650" b="0">
                          <a:solidFill>
                            <a:srgbClr val="193447"/>
                          </a:solidFill>
                          <a:latin typeface="Arial"/>
                          <a:ea typeface="Arial"/>
                          <a:cs typeface="Arial"/>
                        </a:rPr>
                        <a:t>Early pass,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Connection crash / 0.0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12.81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47700">
                <a:tc>
                  <a:txBody>
                    <a:bodyPr/>
                    <a:lstStyle/>
                    <a:p>
                      <a:r>
                        <a:rPr sz="1650" b="0">
                          <a:solidFill>
                            <a:srgbClr val="193447"/>
                          </a:solidFill>
                          <a:latin typeface="Arial"/>
                          <a:ea typeface="Arial"/>
                          <a:cs typeface="Arial"/>
                        </a:rPr>
                        <a:t>Observation,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Connection crash / 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7.14</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16F3E46C-BC94-4BB5-A7DC-85BD0CF900B6}"/>
              </a:ext>
            </a:extLst>
          </p:cNvPr>
          <p:cNvSpPr>
            <a:spLocks xmlns:a="http://schemas.openxmlformats.org/drawingml/2006/main" noGrp="1"/>
          </p:cNvSpPr>
          <p:nvPr/>
        </p:nvSpPr>
        <p:spPr>
          <a:xfrm xmlns:a="http://schemas.openxmlformats.org/drawingml/2006/main">
            <a:off x="609600" y="5657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E83"/>
                </a:solidFill>
                <a:latin typeface="Arial"/>
                <a:ea typeface="Arial"/>
                <a:cs typeface="Arial"/>
              </a:defRPr>
            </a:defPPr>
            <a:lvl1pPr>
              <a:defRPr sz="1725" b="1">
                <a:solidFill>
                  <a:srgbClr val="007E83"/>
                </a:solidFill>
                <a:latin typeface="Arial"/>
                <a:ea typeface="Arial"/>
                <a:cs typeface="Arial"/>
              </a:defRPr>
            </a:lvl1pPr>
            <a:lvl2pPr>
              <a:defRPr sz="1725" b="1">
                <a:solidFill>
                  <a:srgbClr val="007E83"/>
                </a:solidFill>
                <a:latin typeface="Arial"/>
                <a:ea typeface="Arial"/>
                <a:cs typeface="Arial"/>
              </a:defRPr>
            </a:lvl2pPr>
            <a:lvl3pPr>
              <a:defRPr sz="1725" b="1">
                <a:solidFill>
                  <a:srgbClr val="007E83"/>
                </a:solidFill>
                <a:latin typeface="Arial"/>
                <a:ea typeface="Arial"/>
                <a:cs typeface="Arial"/>
              </a:defRPr>
            </a:lvl3pPr>
            <a:lvl4pPr>
              <a:defRPr sz="1725" b="1">
                <a:solidFill>
                  <a:srgbClr val="007E83"/>
                </a:solidFill>
                <a:latin typeface="Arial"/>
                <a:ea typeface="Arial"/>
                <a:cs typeface="Arial"/>
              </a:defRPr>
            </a:lvl4pPr>
            <a:lvl5pPr>
              <a:defRPr sz="1725" b="1">
                <a:solidFill>
                  <a:srgbClr val="007E83"/>
                </a:solidFill>
                <a:latin typeface="Arial"/>
                <a:ea typeface="Arial"/>
                <a:cs typeface="Arial"/>
              </a:defRPr>
            </a:lvl5pPr>
            <a:lvl6pPr>
              <a:defRPr sz="1725" b="1">
                <a:solidFill>
                  <a:srgbClr val="007E83"/>
                </a:solidFill>
                <a:latin typeface="Arial"/>
                <a:ea typeface="Arial"/>
                <a:cs typeface="Arial"/>
              </a:defRPr>
            </a:lvl6pPr>
            <a:lvl7pPr>
              <a:defRPr sz="1725" b="1">
                <a:solidFill>
                  <a:srgbClr val="007E83"/>
                </a:solidFill>
                <a:latin typeface="Arial"/>
                <a:ea typeface="Arial"/>
                <a:cs typeface="Arial"/>
              </a:defRPr>
            </a:lvl7pPr>
            <a:lvl8pPr>
              <a:defRPr sz="1725" b="1">
                <a:solidFill>
                  <a:srgbClr val="007E83"/>
                </a:solidFill>
                <a:latin typeface="Arial"/>
                <a:ea typeface="Arial"/>
                <a:cs typeface="Arial"/>
              </a:defRPr>
            </a:lvl8pPr>
            <a:lvl9pPr>
              <a:defRPr sz="1725" b="1">
                <a:solidFill>
                  <a:srgbClr val="007E83"/>
                </a:solidFill>
                <a:latin typeface="Arial"/>
                <a:ea typeface="Arial"/>
                <a:cs typeface="Arial"/>
              </a:defRPr>
            </a:lvl9pPr>
          </a:lstStyle>
          <a:p xmlns:a="http://schemas.openxmlformats.org/drawingml/2006/main">
            <a:pPr>
              <a:defRPr sz="1725" b="1">
                <a:solidFill>
                  <a:srgbClr val="007E83"/>
                </a:solidFill>
                <a:latin typeface="Arial"/>
                <a:ea typeface="Arial"/>
                <a:cs typeface="Arial"/>
              </a:defRPr>
            </a:pPr>
            <a:r>
              <a:rPr sz="1725" b="1">
                <a:solidFill>
                  <a:srgbClr val="007E83"/>
                </a:solidFill>
                <a:latin typeface="Arial"/>
                <a:ea typeface="Arial"/>
                <a:cs typeface="Arial"/>
              </a:rPr>
              <a:t>2 successes, 2 provider failures. Hard-task model capability remains unproven.</a:t>
            </a:r>
          </a:p>
        </p:txBody>
      </p:sp>
    </p:spTree>
    <p:extLst>
      <p:ext uri="{BB962C8B-B14F-4D97-AF65-F5344CB8AC3E}">
        <p14:creationId xmlns:p14="http://schemas.microsoft.com/office/powerpoint/2010/main" val="2924652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6E5BC30-9D42-4E59-94F6-EBD25440DB67}"/>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DEMO AND DEFENSE</a:t>
            </a:r>
          </a:p>
        </p:txBody>
      </p:sp>
      <p:sp>
        <p:nvSpPr>
          <p:cNvPr id="2" name="">
            <a:extLst xmlns:a="http://schemas.openxmlformats.org/drawingml/2006/main">
              <a:ext uri="{FF2B5EF4-FFF2-40B4-BE49-F238E27FC236}">
                <a16:creationId xmlns:a16="http://schemas.microsoft.com/office/drawing/2014/main" id="{212066B2-A86D-4C36-900B-B8F67392F5A2}"/>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The demo is ready, with explicit limits</a:t>
            </a:r>
          </a:p>
        </p:txBody>
      </p:sp>
      <p:sp>
        <p:nvSpPr>
          <p:cNvPr id="3" name="">
            <a:extLst xmlns:a="http://schemas.openxmlformats.org/drawingml/2006/main">
              <a:ext uri="{FF2B5EF4-FFF2-40B4-BE49-F238E27FC236}">
                <a16:creationId xmlns:a16="http://schemas.microsoft.com/office/drawing/2014/main" id="{AD93E5C2-5A62-4C6E-AC09-FF51D9BE5FC7}"/>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35F23370-EA0C-4F7F-9012-4F0EA71B9381}"/>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E5A9642A-7CE2-4D4A-9D22-2441967B78AA}"/>
              </a:ext>
            </a:extLst>
          </p:cNvPr>
          <p:cNvSpPr>
            <a:spLocks xmlns:a="http://schemas.openxmlformats.org/drawingml/2006/main" noGrp="1"/>
          </p:cNvSpPr>
          <p:nvPr/>
        </p:nvSpPr>
        <p:spPr>
          <a:xfrm xmlns:a="http://schemas.openxmlformats.org/drawingml/2006/main">
            <a:off x="609600" y="19716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102539"/>
                </a:solidFill>
                <a:latin typeface="Arial"/>
                <a:ea typeface="Arial"/>
                <a:cs typeface="Arial"/>
              </a:defRPr>
            </a:defPPr>
            <a:lvl1pPr>
              <a:defRPr sz="2700" b="1">
                <a:solidFill>
                  <a:srgbClr val="102539"/>
                </a:solidFill>
                <a:latin typeface="Arial"/>
                <a:ea typeface="Arial"/>
                <a:cs typeface="Arial"/>
              </a:defRPr>
            </a:lvl1pPr>
            <a:lvl2pPr>
              <a:defRPr sz="2700" b="1">
                <a:solidFill>
                  <a:srgbClr val="102539"/>
                </a:solidFill>
                <a:latin typeface="Arial"/>
                <a:ea typeface="Arial"/>
                <a:cs typeface="Arial"/>
              </a:defRPr>
            </a:lvl2pPr>
            <a:lvl3pPr>
              <a:defRPr sz="2700" b="1">
                <a:solidFill>
                  <a:srgbClr val="102539"/>
                </a:solidFill>
                <a:latin typeface="Arial"/>
                <a:ea typeface="Arial"/>
                <a:cs typeface="Arial"/>
              </a:defRPr>
            </a:lvl3pPr>
            <a:lvl4pPr>
              <a:defRPr sz="2700" b="1">
                <a:solidFill>
                  <a:srgbClr val="102539"/>
                </a:solidFill>
                <a:latin typeface="Arial"/>
                <a:ea typeface="Arial"/>
                <a:cs typeface="Arial"/>
              </a:defRPr>
            </a:lvl4pPr>
            <a:lvl5pPr>
              <a:defRPr sz="2700" b="1">
                <a:solidFill>
                  <a:srgbClr val="102539"/>
                </a:solidFill>
                <a:latin typeface="Arial"/>
                <a:ea typeface="Arial"/>
                <a:cs typeface="Arial"/>
              </a:defRPr>
            </a:lvl5pPr>
            <a:lvl6pPr>
              <a:defRPr sz="2700" b="1">
                <a:solidFill>
                  <a:srgbClr val="102539"/>
                </a:solidFill>
                <a:latin typeface="Arial"/>
                <a:ea typeface="Arial"/>
                <a:cs typeface="Arial"/>
              </a:defRPr>
            </a:lvl6pPr>
            <a:lvl7pPr>
              <a:defRPr sz="2700" b="1">
                <a:solidFill>
                  <a:srgbClr val="102539"/>
                </a:solidFill>
                <a:latin typeface="Arial"/>
                <a:ea typeface="Arial"/>
                <a:cs typeface="Arial"/>
              </a:defRPr>
            </a:lvl7pPr>
            <a:lvl8pPr>
              <a:defRPr sz="2700" b="1">
                <a:solidFill>
                  <a:srgbClr val="102539"/>
                </a:solidFill>
                <a:latin typeface="Arial"/>
                <a:ea typeface="Arial"/>
                <a:cs typeface="Arial"/>
              </a:defRPr>
            </a:lvl8pPr>
            <a:lvl9pPr>
              <a:defRPr sz="2700" b="1">
                <a:solidFill>
                  <a:srgbClr val="102539"/>
                </a:solidFill>
                <a:latin typeface="Arial"/>
                <a:ea typeface="Arial"/>
                <a:cs typeface="Arial"/>
              </a:defRPr>
            </a:lvl9pPr>
          </a:lstStyle>
          <a:p xmlns:a="http://schemas.openxmlformats.org/drawingml/2006/main">
            <a:pPr>
              <a:defRPr sz="2700" b="1">
                <a:solidFill>
                  <a:srgbClr val="102539"/>
                </a:solidFill>
                <a:latin typeface="Arial"/>
                <a:ea typeface="Arial"/>
                <a:cs typeface="Arial"/>
              </a:defRPr>
            </a:pPr>
            <a:r>
              <a:rPr sz="2700" b="1">
                <a:solidFill>
                  <a:srgbClr val="102539"/>
                </a:solidFill>
                <a:latin typeface="Arial"/>
                <a:ea typeface="Arial"/>
                <a:cs typeface="Arial"/>
              </a:rPr>
              <a:t>Run A: EPS recovery, seed 0</a:t>
            </a:r>
          </a:p>
        </p:txBody>
      </p:sp>
      <p:sp>
        <p:nvSpPr>
          <p:cNvPr id="6" name="">
            <a:extLst xmlns:a="http://schemas.openxmlformats.org/drawingml/2006/main">
              <a:ext uri="{FF2B5EF4-FFF2-40B4-BE49-F238E27FC236}">
                <a16:creationId xmlns:a16="http://schemas.microsoft.com/office/drawing/2014/main" id="{39381630-4136-45C9-A805-F99BC9BAF493}"/>
              </a:ext>
            </a:extLst>
          </p:cNvPr>
          <p:cNvSpPr>
            <a:spLocks xmlns:a="http://schemas.openxmlformats.org/drawingml/2006/main" noGrp="1"/>
          </p:cNvSpPr>
          <p:nvPr/>
        </p:nvSpPr>
        <p:spPr>
          <a:xfrm xmlns:a="http://schemas.openxmlformats.org/drawingml/2006/main">
            <a:off x="609600" y="27717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E83"/>
                </a:solidFill>
                <a:latin typeface="Arial"/>
                <a:ea typeface="Arial"/>
                <a:cs typeface="Arial"/>
              </a:defRPr>
            </a:defPPr>
            <a:lvl1pPr>
              <a:defRPr sz="2025" b="1">
                <a:solidFill>
                  <a:srgbClr val="007E83"/>
                </a:solidFill>
                <a:latin typeface="Arial"/>
                <a:ea typeface="Arial"/>
                <a:cs typeface="Arial"/>
              </a:defRPr>
            </a:lvl1pPr>
            <a:lvl2pPr>
              <a:defRPr sz="2025" b="1">
                <a:solidFill>
                  <a:srgbClr val="007E83"/>
                </a:solidFill>
                <a:latin typeface="Arial"/>
                <a:ea typeface="Arial"/>
                <a:cs typeface="Arial"/>
              </a:defRPr>
            </a:lvl2pPr>
            <a:lvl3pPr>
              <a:defRPr sz="2025" b="1">
                <a:solidFill>
                  <a:srgbClr val="007E83"/>
                </a:solidFill>
                <a:latin typeface="Arial"/>
                <a:ea typeface="Arial"/>
                <a:cs typeface="Arial"/>
              </a:defRPr>
            </a:lvl3pPr>
            <a:lvl4pPr>
              <a:defRPr sz="2025" b="1">
                <a:solidFill>
                  <a:srgbClr val="007E83"/>
                </a:solidFill>
                <a:latin typeface="Arial"/>
                <a:ea typeface="Arial"/>
                <a:cs typeface="Arial"/>
              </a:defRPr>
            </a:lvl4pPr>
            <a:lvl5pPr>
              <a:defRPr sz="2025" b="1">
                <a:solidFill>
                  <a:srgbClr val="007E83"/>
                </a:solidFill>
                <a:latin typeface="Arial"/>
                <a:ea typeface="Arial"/>
                <a:cs typeface="Arial"/>
              </a:defRPr>
            </a:lvl5pPr>
            <a:lvl6pPr>
              <a:defRPr sz="2025" b="1">
                <a:solidFill>
                  <a:srgbClr val="007E83"/>
                </a:solidFill>
                <a:latin typeface="Arial"/>
                <a:ea typeface="Arial"/>
                <a:cs typeface="Arial"/>
              </a:defRPr>
            </a:lvl6pPr>
            <a:lvl7pPr>
              <a:defRPr sz="2025" b="1">
                <a:solidFill>
                  <a:srgbClr val="007E83"/>
                </a:solidFill>
                <a:latin typeface="Arial"/>
                <a:ea typeface="Arial"/>
                <a:cs typeface="Arial"/>
              </a:defRPr>
            </a:lvl7pPr>
            <a:lvl8pPr>
              <a:defRPr sz="2025" b="1">
                <a:solidFill>
                  <a:srgbClr val="007E83"/>
                </a:solidFill>
                <a:latin typeface="Arial"/>
                <a:ea typeface="Arial"/>
                <a:cs typeface="Arial"/>
              </a:defRPr>
            </a:lvl8pPr>
            <a:lvl9pPr>
              <a:defRPr sz="2025" b="1">
                <a:solidFill>
                  <a:srgbClr val="007E83"/>
                </a:solidFill>
                <a:latin typeface="Arial"/>
                <a:ea typeface="Arial"/>
                <a:cs typeface="Arial"/>
              </a:defRPr>
            </a:lvl9pPr>
          </a:lstStyle>
          <a:p xmlns:a="http://schemas.openxmlformats.org/drawingml/2006/main">
            <a:pPr>
              <a:defRPr sz="2025" b="1">
                <a:solidFill>
                  <a:srgbClr val="007E83"/>
                </a:solidFill>
                <a:latin typeface="Arial"/>
                <a:ea typeface="Arial"/>
                <a:cs typeface="Arial"/>
              </a:defRPr>
            </a:pPr>
            <a:r>
              <a:rPr sz="2025" b="1">
                <a:solidFill>
                  <a:srgbClr val="007E83"/>
                </a:solidFill>
                <a:latin typeface="Arial"/>
                <a:ea typeface="Arial"/>
                <a:cs typeface="Arial"/>
              </a:rPr>
              <a:t>Reward 1.0     7 replies     29.31 harness seconds     No append</a:t>
            </a:r>
          </a:p>
        </p:txBody>
      </p:sp>
      <p:sp>
        <p:nvSpPr>
          <p:cNvPr id="7" name="">
            <a:extLst xmlns:a="http://schemas.openxmlformats.org/drawingml/2006/main">
              <a:ext uri="{FF2B5EF4-FFF2-40B4-BE49-F238E27FC236}">
                <a16:creationId xmlns:a16="http://schemas.microsoft.com/office/drawing/2014/main" id="{1E02BED3-877D-4141-833A-5099500EF4A0}"/>
              </a:ext>
            </a:extLst>
          </p:cNvPr>
          <p:cNvSpPr>
            <a:spLocks xmlns:a="http://schemas.openxmlformats.org/drawingml/2006/main" noGrp="1"/>
          </p:cNvSpPr>
          <p:nvPr/>
        </p:nvSpPr>
        <p:spPr>
          <a:xfrm xmlns:a="http://schemas.openxmlformats.org/drawingml/2006/main">
            <a:off x="609600" y="37719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539"/>
                </a:solidFill>
                <a:latin typeface="Arial"/>
                <a:ea typeface="Arial"/>
                <a:cs typeface="Arial"/>
              </a:defRPr>
            </a:defPPr>
            <a:lvl1pPr>
              <a:defRPr sz="2250" b="1">
                <a:solidFill>
                  <a:srgbClr val="102539"/>
                </a:solidFill>
                <a:latin typeface="Arial"/>
                <a:ea typeface="Arial"/>
                <a:cs typeface="Arial"/>
              </a:defRPr>
            </a:lvl1pPr>
            <a:lvl2pPr>
              <a:defRPr sz="2250" b="1">
                <a:solidFill>
                  <a:srgbClr val="102539"/>
                </a:solidFill>
                <a:latin typeface="Arial"/>
                <a:ea typeface="Arial"/>
                <a:cs typeface="Arial"/>
              </a:defRPr>
            </a:lvl2pPr>
            <a:lvl3pPr>
              <a:defRPr sz="2250" b="1">
                <a:solidFill>
                  <a:srgbClr val="102539"/>
                </a:solidFill>
                <a:latin typeface="Arial"/>
                <a:ea typeface="Arial"/>
                <a:cs typeface="Arial"/>
              </a:defRPr>
            </a:lvl3pPr>
            <a:lvl4pPr>
              <a:defRPr sz="2250" b="1">
                <a:solidFill>
                  <a:srgbClr val="102539"/>
                </a:solidFill>
                <a:latin typeface="Arial"/>
                <a:ea typeface="Arial"/>
                <a:cs typeface="Arial"/>
              </a:defRPr>
            </a:lvl4pPr>
            <a:lvl5pPr>
              <a:defRPr sz="2250" b="1">
                <a:solidFill>
                  <a:srgbClr val="102539"/>
                </a:solidFill>
                <a:latin typeface="Arial"/>
                <a:ea typeface="Arial"/>
                <a:cs typeface="Arial"/>
              </a:defRPr>
            </a:lvl5pPr>
            <a:lvl6pPr>
              <a:defRPr sz="2250" b="1">
                <a:solidFill>
                  <a:srgbClr val="102539"/>
                </a:solidFill>
                <a:latin typeface="Arial"/>
                <a:ea typeface="Arial"/>
                <a:cs typeface="Arial"/>
              </a:defRPr>
            </a:lvl6pPr>
            <a:lvl7pPr>
              <a:defRPr sz="2250" b="1">
                <a:solidFill>
                  <a:srgbClr val="102539"/>
                </a:solidFill>
                <a:latin typeface="Arial"/>
                <a:ea typeface="Arial"/>
                <a:cs typeface="Arial"/>
              </a:defRPr>
            </a:lvl7pPr>
            <a:lvl8pPr>
              <a:defRPr sz="2250" b="1">
                <a:solidFill>
                  <a:srgbClr val="102539"/>
                </a:solidFill>
                <a:latin typeface="Arial"/>
                <a:ea typeface="Arial"/>
                <a:cs typeface="Arial"/>
              </a:defRPr>
            </a:lvl8pPr>
            <a:lvl9pPr>
              <a:defRPr sz="2250" b="1">
                <a:solidFill>
                  <a:srgbClr val="102539"/>
                </a:solidFill>
                <a:latin typeface="Arial"/>
                <a:ea typeface="Arial"/>
                <a:cs typeface="Arial"/>
              </a:defRPr>
            </a:lvl9pPr>
          </a:lstStyle>
          <a:p xmlns:a="http://schemas.openxmlformats.org/drawingml/2006/main">
            <a:pPr>
              <a:defRPr sz="2250" b="1">
                <a:solidFill>
                  <a:srgbClr val="102539"/>
                </a:solidFill>
                <a:latin typeface="Arial"/>
                <a:ea typeface="Arial"/>
                <a:cs typeface="Arial"/>
              </a:defRPr>
            </a:pPr>
            <a:r>
              <a:rPr sz="2250" b="1">
                <a:solidFill>
                  <a:srgbClr val="102539"/>
                </a:solidFill>
                <a:latin typeface="Arial"/>
                <a:ea typeface="Arial"/>
                <a:cs typeface="Arial"/>
              </a:rPr>
              <a:t>Known limits</a:t>
            </a:r>
          </a:p>
        </p:txBody>
      </p:sp>
      <p:sp>
        <p:nvSpPr>
          <p:cNvPr id="8" name="">
            <a:extLst xmlns:a="http://schemas.openxmlformats.org/drawingml/2006/main">
              <a:ext uri="{FF2B5EF4-FFF2-40B4-BE49-F238E27FC236}">
                <a16:creationId xmlns:a16="http://schemas.microsoft.com/office/drawing/2014/main" id="{3C5606C1-4C17-470F-817B-E9F35D32C86A}"/>
              </a:ext>
            </a:extLst>
          </p:cNvPr>
          <p:cNvSpPr>
            <a:spLocks xmlns:a="http://schemas.openxmlformats.org/drawingml/2006/main" noGrp="1"/>
          </p:cNvSpPr>
          <p:nvPr/>
        </p:nvSpPr>
        <p:spPr>
          <a:xfrm xmlns:a="http://schemas.openxmlformats.org/drawingml/2006/main">
            <a:off x="609600" y="4391025"/>
            <a:ext cx="109728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93447"/>
                </a:solidFill>
                <a:latin typeface="Arial"/>
                <a:ea typeface="Arial"/>
                <a:cs typeface="Arial"/>
              </a:defRPr>
            </a:defPPr>
            <a:lvl1pPr>
              <a:defRPr sz="1950" b="0">
                <a:solidFill>
                  <a:srgbClr val="193447"/>
                </a:solidFill>
                <a:latin typeface="Arial"/>
                <a:ea typeface="Arial"/>
                <a:cs typeface="Arial"/>
              </a:defRPr>
            </a:lvl1pPr>
            <a:lvl2pPr>
              <a:defRPr sz="1950" b="0">
                <a:solidFill>
                  <a:srgbClr val="193447"/>
                </a:solidFill>
                <a:latin typeface="Arial"/>
                <a:ea typeface="Arial"/>
                <a:cs typeface="Arial"/>
              </a:defRPr>
            </a:lvl2pPr>
            <a:lvl3pPr>
              <a:defRPr sz="1950" b="0">
                <a:solidFill>
                  <a:srgbClr val="193447"/>
                </a:solidFill>
                <a:latin typeface="Arial"/>
                <a:ea typeface="Arial"/>
                <a:cs typeface="Arial"/>
              </a:defRPr>
            </a:lvl3pPr>
            <a:lvl4pPr>
              <a:defRPr sz="1950" b="0">
                <a:solidFill>
                  <a:srgbClr val="193447"/>
                </a:solidFill>
                <a:latin typeface="Arial"/>
                <a:ea typeface="Arial"/>
                <a:cs typeface="Arial"/>
              </a:defRPr>
            </a:lvl4pPr>
            <a:lvl5pPr>
              <a:defRPr sz="1950" b="0">
                <a:solidFill>
                  <a:srgbClr val="193447"/>
                </a:solidFill>
                <a:latin typeface="Arial"/>
                <a:ea typeface="Arial"/>
                <a:cs typeface="Arial"/>
              </a:defRPr>
            </a:lvl5pPr>
            <a:lvl6pPr>
              <a:defRPr sz="1950" b="0">
                <a:solidFill>
                  <a:srgbClr val="193447"/>
                </a:solidFill>
                <a:latin typeface="Arial"/>
                <a:ea typeface="Arial"/>
                <a:cs typeface="Arial"/>
              </a:defRPr>
            </a:lvl6pPr>
            <a:lvl7pPr>
              <a:defRPr sz="1950" b="0">
                <a:solidFill>
                  <a:srgbClr val="193447"/>
                </a:solidFill>
                <a:latin typeface="Arial"/>
                <a:ea typeface="Arial"/>
                <a:cs typeface="Arial"/>
              </a:defRPr>
            </a:lvl7pPr>
            <a:lvl8pPr>
              <a:defRPr sz="1950" b="0">
                <a:solidFill>
                  <a:srgbClr val="193447"/>
                </a:solidFill>
                <a:latin typeface="Arial"/>
                <a:ea typeface="Arial"/>
                <a:cs typeface="Arial"/>
              </a:defRPr>
            </a:lvl8pPr>
            <a:lvl9pPr>
              <a:defRPr sz="1950" b="0">
                <a:solidFill>
                  <a:srgbClr val="193447"/>
                </a:solidFill>
                <a:latin typeface="Arial"/>
                <a:ea typeface="Arial"/>
                <a:cs typeface="Arial"/>
              </a:defRPr>
            </a:lvl9pPr>
          </a:lstStyle>
          <a:p xmlns:a="http://schemas.openxmlformats.org/drawingml/2006/main">
            <a:pPr>
              <a:defRPr sz="1950" b="0">
                <a:solidFill>
                  <a:srgbClr val="193447"/>
                </a:solidFill>
                <a:latin typeface="Arial"/>
                <a:ea typeface="Arial"/>
                <a:cs typeface="Arial"/>
              </a:defRPr>
            </a:pPr>
            <a:r>
              <a:rPr sz="1950" b="0">
                <a:solidFill>
                  <a:srgbClr val="193447"/>
                </a:solidFill>
                <a:latin typeface="Arial"/>
                <a:ea typeface="Arial"/>
                <a:cs typeface="Arial"/>
              </a:rPr>
              <a:t>Simplified dynamics. Five guided repair tasks. Finite exploit coverage.</a:t>
            </a:r>
          </a:p>
          <a:p xmlns:a="http://schemas.openxmlformats.org/drawingml/2006/main">
            <a:pPr>
              <a:defRPr sz="1950" b="0">
                <a:solidFill>
                  <a:srgbClr val="193447"/>
                </a:solidFill>
                <a:latin typeface="Arial"/>
                <a:ea typeface="Arial"/>
                <a:cs typeface="Arial"/>
              </a:defRPr>
            </a:pPr>
            <a:r>
              <a:rPr sz="1950" b="0">
                <a:solidFill>
                  <a:srgbClr val="193447"/>
                </a:solidFill>
                <a:latin typeface="Arial"/>
                <a:ea typeface="Arial"/>
                <a:cs typeface="Arial"/>
              </a:rPr>
              <a:t>One tested deployment. Provider connectivity affected hard-task runs.</a:t>
            </a:r>
          </a:p>
        </p:txBody>
      </p:sp>
      <p:sp>
        <p:nvSpPr>
          <p:cNvPr id="9" name="">
            <a:extLst xmlns:a="http://schemas.openxmlformats.org/drawingml/2006/main">
              <a:ext uri="{FF2B5EF4-FFF2-40B4-BE49-F238E27FC236}">
                <a16:creationId xmlns:a16="http://schemas.microsoft.com/office/drawing/2014/main" id="{9CC2A0A7-5E30-4A01-8EBE-051644FCCB04}"/>
              </a:ext>
            </a:extLst>
          </p:cNvPr>
          <p:cNvSpPr>
            <a:spLocks xmlns:a="http://schemas.openxmlformats.org/drawingml/2006/main" noGrp="1"/>
          </p:cNvSpPr>
          <p:nvPr/>
        </p:nvSpPr>
        <p:spPr>
          <a:xfrm xmlns:a="http://schemas.openxmlformats.org/drawingml/2006/main">
            <a:off x="609600" y="559117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36777"/>
                </a:solidFill>
                <a:latin typeface="Arial"/>
                <a:ea typeface="Arial"/>
                <a:cs typeface="Arial"/>
              </a:defRPr>
            </a:defPPr>
            <a:lvl1pPr>
              <a:defRPr sz="1650" b="0">
                <a:solidFill>
                  <a:srgbClr val="536777"/>
                </a:solidFill>
                <a:latin typeface="Arial"/>
                <a:ea typeface="Arial"/>
                <a:cs typeface="Arial"/>
              </a:defRPr>
            </a:lvl1pPr>
            <a:lvl2pPr>
              <a:defRPr sz="1650" b="0">
                <a:solidFill>
                  <a:srgbClr val="536777"/>
                </a:solidFill>
                <a:latin typeface="Arial"/>
                <a:ea typeface="Arial"/>
                <a:cs typeface="Arial"/>
              </a:defRPr>
            </a:lvl2pPr>
            <a:lvl3pPr>
              <a:defRPr sz="1650" b="0">
                <a:solidFill>
                  <a:srgbClr val="536777"/>
                </a:solidFill>
                <a:latin typeface="Arial"/>
                <a:ea typeface="Arial"/>
                <a:cs typeface="Arial"/>
              </a:defRPr>
            </a:lvl3pPr>
            <a:lvl4pPr>
              <a:defRPr sz="1650" b="0">
                <a:solidFill>
                  <a:srgbClr val="536777"/>
                </a:solidFill>
                <a:latin typeface="Arial"/>
                <a:ea typeface="Arial"/>
                <a:cs typeface="Arial"/>
              </a:defRPr>
            </a:lvl4pPr>
            <a:lvl5pPr>
              <a:defRPr sz="1650" b="0">
                <a:solidFill>
                  <a:srgbClr val="536777"/>
                </a:solidFill>
                <a:latin typeface="Arial"/>
                <a:ea typeface="Arial"/>
                <a:cs typeface="Arial"/>
              </a:defRPr>
            </a:lvl5pPr>
            <a:lvl6pPr>
              <a:defRPr sz="1650" b="0">
                <a:solidFill>
                  <a:srgbClr val="536777"/>
                </a:solidFill>
                <a:latin typeface="Arial"/>
                <a:ea typeface="Arial"/>
                <a:cs typeface="Arial"/>
              </a:defRPr>
            </a:lvl6pPr>
            <a:lvl7pPr>
              <a:defRPr sz="1650" b="0">
                <a:solidFill>
                  <a:srgbClr val="536777"/>
                </a:solidFill>
                <a:latin typeface="Arial"/>
                <a:ea typeface="Arial"/>
                <a:cs typeface="Arial"/>
              </a:defRPr>
            </a:lvl7pPr>
            <a:lvl8pPr>
              <a:defRPr sz="1650" b="0">
                <a:solidFill>
                  <a:srgbClr val="536777"/>
                </a:solidFill>
                <a:latin typeface="Arial"/>
                <a:ea typeface="Arial"/>
                <a:cs typeface="Arial"/>
              </a:defRPr>
            </a:lvl8pPr>
            <a:lvl9pPr>
              <a:defRPr sz="1650" b="0">
                <a:solidFill>
                  <a:srgbClr val="536777"/>
                </a:solidFill>
                <a:latin typeface="Arial"/>
                <a:ea typeface="Arial"/>
                <a:cs typeface="Arial"/>
              </a:defRPr>
            </a:lvl9pPr>
          </a:lstStyle>
          <a:p xmlns:a="http://schemas.openxmlformats.org/drawingml/2006/main">
            <a:pPr>
              <a:defRPr sz="1650" b="0">
                <a:solidFill>
                  <a:srgbClr val="536777"/>
                </a:solidFill>
                <a:latin typeface="Arial"/>
                <a:ea typeface="Arial"/>
                <a:cs typeface="Arial"/>
              </a:defRPr>
            </a:pPr>
            <a:r>
              <a:rPr sz="1650" b="0">
                <a:solidFill>
                  <a:srgbClr val="536777"/>
                </a:solidFill>
                <a:latin typeface="Arial"/>
                <a:ea typeface="Arial"/>
                <a:cs typeface="Arial"/>
              </a:rPr>
              <a:t>Submission still needs privacy/name-case review, organizer access and form upload.</a:t>
            </a:r>
          </a:p>
        </p:txBody>
      </p:sp>
    </p:spTree>
    <p:extLst>
      <p:ext uri="{BB962C8B-B14F-4D97-AF65-F5344CB8AC3E}">
        <p14:creationId xmlns:p14="http://schemas.microsoft.com/office/powerpoint/2010/main" val="9738171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2026-10-24T20:02:08.7360000Z</dcterms:created>
  <dcterms:modified xsi:type="dcterms:W3CDTF">2026-10-24T20:02:08.7360000Z</dcterms:modified>
</coreProperties>
</file>