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de08176bfda4a06" /><Relationship Type="http://schemas.openxmlformats.org/officeDocument/2006/relationships/extended-properties" Target="/docProps/app.xml" Id="R2156b2783c7246aa" /><Relationship Type="http://schemas.openxmlformats.org/officeDocument/2006/relationships/officeDocument" Target="/ppt/presentation.xml" Id="Raddbba31cf8242f6" /></Relationships>
</file>

<file path=ppt/presentation.xml><?xml version="1.0" encoding="utf-8"?>
<p:presentation xmlns:p="http://schemas.openxmlformats.org/presentationml/2006/main">
  <p:sldMasterIdLst>
    <p:sldMasterId xmlns:r="http://schemas.openxmlformats.org/officeDocument/2006/relationships" id="2147483648" r:id="R77427032311f4c4b"/>
  </p:sldMasterIdLst>
  <p:notesMasterIdLst>
    <p:notesMasterId xmlns:r="http://schemas.openxmlformats.org/officeDocument/2006/relationships" r:id="R20320de9f43b4cbb"/>
  </p:notesMasterIdLst>
  <p:sldIdLst>
    <p:sldId xmlns:r="http://schemas.openxmlformats.org/officeDocument/2006/relationships" id="256" r:id="R877a5d82a8864676"/>
    <p:sldId xmlns:r="http://schemas.openxmlformats.org/officeDocument/2006/relationships" id="257" r:id="Rddf908602d874026"/>
    <p:sldId xmlns:r="http://schemas.openxmlformats.org/officeDocument/2006/relationships" id="258" r:id="R33a7f9aa12694932"/>
    <p:sldId xmlns:r="http://schemas.openxmlformats.org/officeDocument/2006/relationships" id="259" r:id="R48e19c2df5e848e1"/>
    <p:sldId xmlns:r="http://schemas.openxmlformats.org/officeDocument/2006/relationships" id="260" r:id="R33cc33b765364dab"/>
    <p:sldId xmlns:r="http://schemas.openxmlformats.org/officeDocument/2006/relationships" id="261" r:id="R5bd13bff735d4d20"/>
    <p:sldId xmlns:r="http://schemas.openxmlformats.org/officeDocument/2006/relationships" id="262" r:id="Rf85ff33496cb48b5"/>
    <p:sldId xmlns:r="http://schemas.openxmlformats.org/officeDocument/2006/relationships" id="263" r:id="Rc094c0a1153d4dbe"/>
    <p:sldId xmlns:r="http://schemas.openxmlformats.org/officeDocument/2006/relationships" id="264" r:id="Rad9aa8f479f440f0"/>
    <p:sldId xmlns:r="http://schemas.openxmlformats.org/officeDocument/2006/relationships" id="265" r:id="R37909d6d8b6a41f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652efed2fbe4a47" /><Relationship Type="http://schemas.openxmlformats.org/officeDocument/2006/relationships/slideMaster" Target="/ppt/slideMasters/slideMaster1.xml" Id="R77427032311f4c4b" /><Relationship Type="http://schemas.openxmlformats.org/officeDocument/2006/relationships/notesMaster" Target="/ppt/notesMasters/notesMaster1.xml" Id="R20320de9f43b4cbb" /><Relationship Type="http://schemas.openxmlformats.org/officeDocument/2006/relationships/presProps" Target="/ppt/presProps.xml" Id="Rd5764e4ac8cb473a" /><Relationship Type="http://schemas.openxmlformats.org/officeDocument/2006/relationships/tableStyles" Target="/ppt/tableStyles.xml" Id="R56126f94e889489f" /><Relationship Type="http://schemas.openxmlformats.org/officeDocument/2006/relationships/slide" Target="/ppt/slides/slide1.xml" Id="R877a5d82a8864676" /><Relationship Type="http://schemas.openxmlformats.org/officeDocument/2006/relationships/slide" Target="/ppt/slides/slide2.xml" Id="Rddf908602d874026" /><Relationship Type="http://schemas.openxmlformats.org/officeDocument/2006/relationships/slide" Target="/ppt/slides/slide3.xml" Id="R33a7f9aa12694932" /><Relationship Type="http://schemas.openxmlformats.org/officeDocument/2006/relationships/slide" Target="/ppt/slides/slide4.xml" Id="R48e19c2df5e848e1" /><Relationship Type="http://schemas.openxmlformats.org/officeDocument/2006/relationships/slide" Target="/ppt/slides/slide5.xml" Id="R33cc33b765364dab" /><Relationship Type="http://schemas.openxmlformats.org/officeDocument/2006/relationships/slide" Target="/ppt/slides/slide6.xml" Id="R5bd13bff735d4d20" /><Relationship Type="http://schemas.openxmlformats.org/officeDocument/2006/relationships/slide" Target="/ppt/slides/slide7.xml" Id="Rf85ff33496cb48b5" /><Relationship Type="http://schemas.openxmlformats.org/officeDocument/2006/relationships/slide" Target="/ppt/slides/slide8.xml" Id="Rc094c0a1153d4dbe" /><Relationship Type="http://schemas.openxmlformats.org/officeDocument/2006/relationships/slide" Target="/ppt/slides/slide9.xml" Id="Rad9aa8f479f440f0" /><Relationship Type="http://schemas.openxmlformats.org/officeDocument/2006/relationships/slide" Target="/ppt/slides/slide10.xml" Id="R37909d6d8b6a41f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1a9dc9004244ed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8710d3c63fe43fd" /><Relationship Type="http://schemas.openxmlformats.org/officeDocument/2006/relationships/notesMaster" Target="/ppt/notesMasters/notesMaster1.xml" Id="R8f8229c837ec4688" /></Relationships>
</file>

<file path=ppt/notesSlides/_rels/notesSlide2.xml.rels>&#65279;<?xml version="1.0" encoding="utf-8"?><Relationships xmlns="http://schemas.openxmlformats.org/package/2006/relationships"><Relationship Type="http://schemas.openxmlformats.org/officeDocument/2006/relationships/slide" Target="/ppt/slides/slide2.xml" Id="Rffe67079f39149da" /><Relationship Type="http://schemas.openxmlformats.org/officeDocument/2006/relationships/notesMaster" Target="/ppt/notesMasters/notesMaster1.xml" Id="R2a57b0eed6ba416e" /></Relationships>
</file>

<file path=ppt/notesSlides/_rels/notesSlide3.xml.rels>&#65279;<?xml version="1.0" encoding="utf-8"?><Relationships xmlns="http://schemas.openxmlformats.org/package/2006/relationships"><Relationship Type="http://schemas.openxmlformats.org/officeDocument/2006/relationships/slide" Target="/ppt/slides/slide3.xml" Id="Rbf1c67d21a364f51" /><Relationship Type="http://schemas.openxmlformats.org/officeDocument/2006/relationships/notesMaster" Target="/ppt/notesMasters/notesMaster1.xml" Id="R9c12b8987a034892" /></Relationships>
</file>

<file path=ppt/notesSlides/_rels/notesSlide4.xml.rels>&#65279;<?xml version="1.0" encoding="utf-8"?><Relationships xmlns="http://schemas.openxmlformats.org/package/2006/relationships"><Relationship Type="http://schemas.openxmlformats.org/officeDocument/2006/relationships/slide" Target="/ppt/slides/slide4.xml" Id="R2644125d6e914b61" /><Relationship Type="http://schemas.openxmlformats.org/officeDocument/2006/relationships/notesMaster" Target="/ppt/notesMasters/notesMaster1.xml" Id="Rf43df90e6a914f66" /></Relationships>
</file>

<file path=ppt/notesSlides/_rels/notesSlide5.xml.rels>&#65279;<?xml version="1.0" encoding="utf-8"?><Relationships xmlns="http://schemas.openxmlformats.org/package/2006/relationships"><Relationship Type="http://schemas.openxmlformats.org/officeDocument/2006/relationships/slide" Target="/ppt/slides/slide5.xml" Id="R8f821fde1c614e54" /><Relationship Type="http://schemas.openxmlformats.org/officeDocument/2006/relationships/notesMaster" Target="/ppt/notesMasters/notesMaster1.xml" Id="R91c99ecd8e2543a0" /></Relationships>
</file>

<file path=ppt/notesSlides/_rels/notesSlide6.xml.rels>&#65279;<?xml version="1.0" encoding="utf-8"?><Relationships xmlns="http://schemas.openxmlformats.org/package/2006/relationships"><Relationship Type="http://schemas.openxmlformats.org/officeDocument/2006/relationships/slide" Target="/ppt/slides/slide6.xml" Id="R3400f092ca1a4e48" /><Relationship Type="http://schemas.openxmlformats.org/officeDocument/2006/relationships/notesMaster" Target="/ppt/notesMasters/notesMaster1.xml" Id="R14acf668e3ca4b61" /></Relationships>
</file>

<file path=ppt/notesSlides/_rels/notesSlide7.xml.rels>&#65279;<?xml version="1.0" encoding="utf-8"?><Relationships xmlns="http://schemas.openxmlformats.org/package/2006/relationships"><Relationship Type="http://schemas.openxmlformats.org/officeDocument/2006/relationships/slide" Target="/ppt/slides/slide7.xml" Id="R557dd031dc5c4861" /><Relationship Type="http://schemas.openxmlformats.org/officeDocument/2006/relationships/notesMaster" Target="/ppt/notesMasters/notesMaster1.xml" Id="Rd073efda85784c41" /></Relationships>
</file>

<file path=ppt/notesSlides/_rels/notesSlide8.xml.rels>&#65279;<?xml version="1.0" encoding="utf-8"?><Relationships xmlns="http://schemas.openxmlformats.org/package/2006/relationships"><Relationship Type="http://schemas.openxmlformats.org/officeDocument/2006/relationships/slide" Target="/ppt/slides/slide8.xml" Id="R52538320ea7c4d1d" /><Relationship Type="http://schemas.openxmlformats.org/officeDocument/2006/relationships/notesMaster" Target="/ppt/notesMasters/notesMaster1.xml" Id="R5596543a6e2c4dfb" /></Relationships>
</file>

<file path=ppt/notesSlides/_rels/notesSlide9.xml.rels>&#65279;<?xml version="1.0" encoding="utf-8"?><Relationships xmlns="http://schemas.openxmlformats.org/package/2006/relationships"><Relationship Type="http://schemas.openxmlformats.org/officeDocument/2006/relationships/slide" Target="/ppt/slides/slide9.xml" Id="Rae46758a478c4935" /><Relationship Type="http://schemas.openxmlformats.org/officeDocument/2006/relationships/notesMaster" Target="/ppt/notesMasters/notesMaster1.xml" Id="R7488458fb1d443a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ccbe2e37aba4c3b" /><Relationship Type="http://schemas.openxmlformats.org/officeDocument/2006/relationships/notesMaster" Target="/ppt/notesMasters/notesMaster1.xml" Id="Rd4366f25acd44d5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0:00–0:35. We build an environment in which judges can evaluate an agent. The agent diagnoses and repairs a satellite simulation through tools. A separate verifier scores the actual mission history. We do not train a policy or claim flight certification. Sources: README.md and docs/model-assumptions.md.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0:35–1:25. Explain the transition from files and telemetry through tools to protected physical state. Completed ordinary tool attempts, including tool errors, cost 30 simulated seconds. Schema-rejected calls do not execute or advance time. step_orbit advances 1–30 minutes. Final scoring projects the remaining mission with the current configuration. Distinguish simulated time from the 600-second real execution budget.</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1:25–2:20. The first five tasks teach diagnosis and repair. Four hard tasks add interacting constraints: radio energy, an irreversible early contact, one observation window, and two-window science with finite storage. Seeds vary hardware, faults and timing. Sources: harness/tasks.py, harness/science_mission.py and model-assumptions.md.</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2:20–3:25. Collect only during two protected observation windows. Each needs at least 90 percent exposure. Data is generated causally, so a contact cannot send data not yet collected. Storage holds only 1.05 times the larger window volume, so both windows cannot simply be stored until the final contact. The first contact must drain the buffer. Energy forbids leaving payload on throughout. The measured feasible reference and independent alternatives pass.</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3:25–4:25. Standard raw weights are power.35, thermal.25, pointing.20 and comms.20. Observation adds exposure. Science scales the standard vector by.6 and adds independent window completion.2 and science delivery.2. Normalized progress is relative to the seeded no-op. Mandatory checks independently cap all failures below.95, and catastrophic failures latch atzero. Invalid fields are rejected instead of silently defaulted.</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4:25–5:25. Walk through the harness, agent and behavioral evaluator. Verifier code is not in the sandbox image. Control endpoints require a rotated token. Workers run as UID 1001 and isolated scripts as UID 1002. Read-only root, internal network, bounded workspace, 128-process cgroup and descendant cleanup limit attacks. Docker and the host kernel remain trusted. Twelve real-container regressions passed, but finite tests do not prove absence of every exploit.</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5:25–6:25. These are intentionally wrong scripted policies, never model runs. Telemetry forgery cannot affect protected state. Late repair cannot reverse missed contact or exposure. New science probes separately check missed first contact and forged mission quotas/finalinventory. The underlying logs preserve actual counters and conservation. Finite probes demonstrate tested cases, not proof against every exploit.</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6:25–7:30. State the exact final-source Linux test count. The reset/no-op/reference sweep covers all nine tasks across 20 seeds. The separate scripted policy comparison covers five other seeds and never calls a model. The privileged reference measures feasibility, not model reasoning. Provider regressions use local loopback responses, not live service reliability. Expected build contract v3 binds source evidence to six non-secret build inputs, not to a measured Docker daemon.</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7:30–8:45. Every row is a genuine provider attempt on this source. Report successes and failures exactly as logged. A zero-reply provider failure is diagnostic and does not count toward three completed evidence runs. Failure on a hard task is not by itself a broken environment, but limits model capability claims. All API calls use same interface. The sample append is only a smoke test, not a substitute for unknown judge instructions. Timing uses the harness monotonic clock; host pauses preclude independent external wall-clock certification.</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8:45–10:00. Use Run A unappended EPS seed zero as the named realistic demo. Open source-matched logs if network fails. Show gates, one action, state hash and final checks without showing .env. Defend why planning is necessary using science dutybounds and data conservation. Explain scalar physics and trusted host boundary. Public repository is user requested but conflicts with the private PS rule. Exact name case, organizer access, deadline and form submission remain administrative items. No claim of an actual judge score or exhaustive robustness.</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c1446c628cf4cf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e64b6e6bc47455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5dfe007f15d45c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e423cc6c5e3445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ebe749d908f4ae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74029676b5a483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BDCDFC0-0E27-48BF-B44F-13DA981C821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E70B570-081D-4EF9-8829-52F85E49276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EACEE7F-C33E-425B-82B0-E306BBC6A67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4733825-F7D4-4FC9-86C8-8E9470815BF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14A2EBA-EC47-46F2-B571-12D67B446BF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415168F-4720-4A8E-837D-8604CEAB0B1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F7F3D37-00ED-48B1-B7C6-0CC87857D22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83F0D86-1920-49F1-93D5-0F936D3B089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3439D57-CC70-40CF-A63D-A15DB94D35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7FBA695-C293-42A3-80DD-8D0370B9958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8544ef66ea64eeb" /><Relationship Type="http://schemas.openxmlformats.org/officeDocument/2006/relationships/slideLayout" Target="/ppt/slideLayouts/slideLayout1.xml" Id="R43745a8a25344ed7" /><Relationship Type="http://schemas.openxmlformats.org/officeDocument/2006/relationships/slideLayout" Target="/ppt/slideLayouts/slideLayout2.xml" Id="Rf02d526cbb714afa" /><Relationship Type="http://schemas.openxmlformats.org/officeDocument/2006/relationships/slideLayout" Target="/ppt/slideLayouts/slideLayout3.xml" Id="R2b727f95d5d2476b" /><Relationship Type="http://schemas.openxmlformats.org/officeDocument/2006/relationships/slideLayout" Target="/ppt/slideLayouts/slideLayout4.xml" Id="Rb4f0a548857f4c1a" /><Relationship Type="http://schemas.openxmlformats.org/officeDocument/2006/relationships/slideLayout" Target="/ppt/slideLayouts/slideLayout5.xml" Id="Rf34a9a6ab7db416d" /><Relationship Type="http://schemas.openxmlformats.org/officeDocument/2006/relationships/slideLayout" Target="/ppt/slideLayouts/slideLayout6.xml" Id="R558a1c4a2bfe499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3745a8a25344ed7"/>
    <p:sldLayoutId xmlns:r="http://schemas.openxmlformats.org/officeDocument/2006/relationships" id="2147483650" r:id="Rf02d526cbb714afa"/>
    <p:sldLayoutId xmlns:r="http://schemas.openxmlformats.org/officeDocument/2006/relationships" id="2147483651" r:id="R2b727f95d5d2476b"/>
    <p:sldLayoutId xmlns:r="http://schemas.openxmlformats.org/officeDocument/2006/relationships" id="2147483652" r:id="Rb4f0a548857f4c1a"/>
    <p:sldLayoutId xmlns:r="http://schemas.openxmlformats.org/officeDocument/2006/relationships" id="2147483653" r:id="Rf34a9a6ab7db416d"/>
    <p:sldLayoutId xmlns:r="http://schemas.openxmlformats.org/officeDocument/2006/relationships" id="2147483654" r:id="R558a1c4a2bfe499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8d5ccd02af491a" /><Relationship Type="http://schemas.openxmlformats.org/officeDocument/2006/relationships/notesSlide" Target="/ppt/notesSlides/notesSlide1.xml" Id="Rbd3b6a3e38b6456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094b4941d2d4912" /><Relationship Type="http://schemas.openxmlformats.org/officeDocument/2006/relationships/notesSlide" Target="/ppt/notesSlides/notesSlide2.xml" Id="R94f59902b43b472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77ced1157a14dd0" /><Relationship Type="http://schemas.openxmlformats.org/officeDocument/2006/relationships/notesSlide" Target="/ppt/notesSlides/notesSlide3.xml" Id="Rfad4e1a8a5024c1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01c7e650cfb468b" /><Relationship Type="http://schemas.openxmlformats.org/officeDocument/2006/relationships/notesSlide" Target="/ppt/notesSlides/notesSlide4.xml" Id="R781a765cb34645e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0cba0d899844c99" /><Relationship Type="http://schemas.openxmlformats.org/officeDocument/2006/relationships/notesSlide" Target="/ppt/notesSlides/notesSlide5.xml" Id="R55ec29a99213407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681cc1cf4594daa" /><Relationship Type="http://schemas.openxmlformats.org/officeDocument/2006/relationships/notesSlide" Target="/ppt/notesSlides/notesSlide6.xml" Id="Ra5cc584857094b9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3e55bae80a04803" /><Relationship Type="http://schemas.openxmlformats.org/officeDocument/2006/relationships/notesSlide" Target="/ppt/notesSlides/notesSlide7.xml" Id="R0927c35667f64e6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0c0ecf5b1dd4f81" /><Relationship Type="http://schemas.openxmlformats.org/officeDocument/2006/relationships/notesSlide" Target="/ppt/notesSlides/notesSlide8.xml" Id="R94c8d8640b0749f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081b5fc12d7476c" /><Relationship Type="http://schemas.openxmlformats.org/officeDocument/2006/relationships/notesSlide" Target="/ppt/notesSlides/notesSlide9.xml" Id="R7711e1214832408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a8f868d365f436d" /><Relationship Type="http://schemas.openxmlformats.org/officeDocument/2006/relationships/notesSlide" Target="/ppt/notesSlides/notesSlide10.xml" Id="Racb06eb37cc8494e" /></Relationships>
</file>

<file path=ppt/slides/slide1.xml><?xml version="1.0" encoding="utf-8"?>
<p:sld xmlns:p="http://schemas.openxmlformats.org/presentationml/2006/main">
  <p:cSld>
    <p:bg>
      <p:bgPr>
        <a:solidFill xmlns:a="http://schemas.openxmlformats.org/drawingml/2006/main">
          <a:srgbClr val="10253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C26BE88-2FC1-4C12-8960-3B0FD78F6578}"/>
              </a:ext>
            </a:extLst>
          </p:cNvPr>
          <p:cNvSpPr>
            <a:spLocks xmlns:a="http://schemas.openxmlformats.org/drawingml/2006/main" noGrp="1"/>
          </p:cNvSpPr>
          <p:nvPr/>
        </p:nvSpPr>
        <p:spPr>
          <a:xfrm xmlns:a="http://schemas.openxmlformats.org/drawingml/2006/main">
            <a:off x="609600" y="657225"/>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55D9CB"/>
                </a:solidFill>
                <a:latin typeface="Arial"/>
                <a:ea typeface="Arial"/>
                <a:cs typeface="Arial"/>
              </a:defRPr>
            </a:defPPr>
            <a:lvl1pPr>
              <a:defRPr sz="1650" b="1">
                <a:solidFill>
                  <a:srgbClr val="55D9CB"/>
                </a:solidFill>
                <a:latin typeface="Arial"/>
                <a:ea typeface="Arial"/>
                <a:cs typeface="Arial"/>
              </a:defRPr>
            </a:lvl1pPr>
            <a:lvl2pPr>
              <a:defRPr sz="1650" b="1">
                <a:solidFill>
                  <a:srgbClr val="55D9CB"/>
                </a:solidFill>
                <a:latin typeface="Arial"/>
                <a:ea typeface="Arial"/>
                <a:cs typeface="Arial"/>
              </a:defRPr>
            </a:lvl2pPr>
            <a:lvl3pPr>
              <a:defRPr sz="1650" b="1">
                <a:solidFill>
                  <a:srgbClr val="55D9CB"/>
                </a:solidFill>
                <a:latin typeface="Arial"/>
                <a:ea typeface="Arial"/>
                <a:cs typeface="Arial"/>
              </a:defRPr>
            </a:lvl3pPr>
            <a:lvl4pPr>
              <a:defRPr sz="1650" b="1">
                <a:solidFill>
                  <a:srgbClr val="55D9CB"/>
                </a:solidFill>
                <a:latin typeface="Arial"/>
                <a:ea typeface="Arial"/>
                <a:cs typeface="Arial"/>
              </a:defRPr>
            </a:lvl4pPr>
            <a:lvl5pPr>
              <a:defRPr sz="1650" b="1">
                <a:solidFill>
                  <a:srgbClr val="55D9CB"/>
                </a:solidFill>
                <a:latin typeface="Arial"/>
                <a:ea typeface="Arial"/>
                <a:cs typeface="Arial"/>
              </a:defRPr>
            </a:lvl5pPr>
            <a:lvl6pPr>
              <a:defRPr sz="1650" b="1">
                <a:solidFill>
                  <a:srgbClr val="55D9CB"/>
                </a:solidFill>
                <a:latin typeface="Arial"/>
                <a:ea typeface="Arial"/>
                <a:cs typeface="Arial"/>
              </a:defRPr>
            </a:lvl6pPr>
            <a:lvl7pPr>
              <a:defRPr sz="1650" b="1">
                <a:solidFill>
                  <a:srgbClr val="55D9CB"/>
                </a:solidFill>
                <a:latin typeface="Arial"/>
                <a:ea typeface="Arial"/>
                <a:cs typeface="Arial"/>
              </a:defRPr>
            </a:lvl7pPr>
            <a:lvl8pPr>
              <a:defRPr sz="1650" b="1">
                <a:solidFill>
                  <a:srgbClr val="55D9CB"/>
                </a:solidFill>
                <a:latin typeface="Arial"/>
                <a:ea typeface="Arial"/>
                <a:cs typeface="Arial"/>
              </a:defRPr>
            </a:lvl8pPr>
            <a:lvl9pPr>
              <a:defRPr sz="1650" b="1">
                <a:solidFill>
                  <a:srgbClr val="55D9CB"/>
                </a:solidFill>
                <a:latin typeface="Arial"/>
                <a:ea typeface="Arial"/>
                <a:cs typeface="Arial"/>
              </a:defRPr>
            </a:lvl9pPr>
          </a:lstStyle>
          <a:p xmlns:a="http://schemas.openxmlformats.org/drawingml/2006/main">
            <a:pPr>
              <a:defRPr sz="1650" b="1">
                <a:solidFill>
                  <a:srgbClr val="55D9CB"/>
                </a:solidFill>
                <a:latin typeface="Arial"/>
                <a:ea typeface="Arial"/>
                <a:cs typeface="Arial"/>
              </a:defRPr>
            </a:pPr>
            <a:r>
              <a:rPr sz="1650" b="1">
                <a:solidFill>
                  <a:srgbClr val="55D9CB"/>
                </a:solidFill>
                <a:latin typeface="Arial"/>
                <a:ea typeface="Arial"/>
                <a:cs typeface="Arial"/>
              </a:rPr>
              <a:t>TEAM ASTRO</a:t>
            </a:r>
          </a:p>
        </p:txBody>
      </p:sp>
      <p:sp>
        <p:nvSpPr>
          <p:cNvPr id="2" name="">
            <a:extLst xmlns:a="http://schemas.openxmlformats.org/drawingml/2006/main">
              <a:ext uri="{FF2B5EF4-FFF2-40B4-BE49-F238E27FC236}">
                <a16:creationId xmlns:a16="http://schemas.microsoft.com/office/drawing/2014/main" id="{959FEFC1-E82F-41E6-A282-598F008E54A7}"/>
              </a:ext>
            </a:extLst>
          </p:cNvPr>
          <p:cNvSpPr>
            <a:spLocks xmlns:a="http://schemas.openxmlformats.org/drawingml/2006/main" noGrp="1"/>
          </p:cNvSpPr>
          <p:nvPr/>
        </p:nvSpPr>
        <p:spPr>
          <a:xfrm xmlns:a="http://schemas.openxmlformats.org/drawingml/2006/main">
            <a:off x="609600" y="1885950"/>
            <a:ext cx="109728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150" b="1">
                <a:solidFill>
                  <a:srgbClr val="FFFFFF"/>
                </a:solidFill>
                <a:latin typeface="Arial"/>
                <a:ea typeface="Arial"/>
                <a:cs typeface="Arial"/>
              </a:defRPr>
            </a:defPPr>
            <a:lvl1pPr>
              <a:defRPr sz="6150" b="1">
                <a:solidFill>
                  <a:srgbClr val="FFFFFF"/>
                </a:solidFill>
                <a:latin typeface="Arial"/>
                <a:ea typeface="Arial"/>
                <a:cs typeface="Arial"/>
              </a:defRPr>
            </a:lvl1pPr>
            <a:lvl2pPr>
              <a:defRPr sz="6150" b="1">
                <a:solidFill>
                  <a:srgbClr val="FFFFFF"/>
                </a:solidFill>
                <a:latin typeface="Arial"/>
                <a:ea typeface="Arial"/>
                <a:cs typeface="Arial"/>
              </a:defRPr>
            </a:lvl2pPr>
            <a:lvl3pPr>
              <a:defRPr sz="6150" b="1">
                <a:solidFill>
                  <a:srgbClr val="FFFFFF"/>
                </a:solidFill>
                <a:latin typeface="Arial"/>
                <a:ea typeface="Arial"/>
                <a:cs typeface="Arial"/>
              </a:defRPr>
            </a:lvl3pPr>
            <a:lvl4pPr>
              <a:defRPr sz="6150" b="1">
                <a:solidFill>
                  <a:srgbClr val="FFFFFF"/>
                </a:solidFill>
                <a:latin typeface="Arial"/>
                <a:ea typeface="Arial"/>
                <a:cs typeface="Arial"/>
              </a:defRPr>
            </a:lvl4pPr>
            <a:lvl5pPr>
              <a:defRPr sz="6150" b="1">
                <a:solidFill>
                  <a:srgbClr val="FFFFFF"/>
                </a:solidFill>
                <a:latin typeface="Arial"/>
                <a:ea typeface="Arial"/>
                <a:cs typeface="Arial"/>
              </a:defRPr>
            </a:lvl5pPr>
            <a:lvl6pPr>
              <a:defRPr sz="6150" b="1">
                <a:solidFill>
                  <a:srgbClr val="FFFFFF"/>
                </a:solidFill>
                <a:latin typeface="Arial"/>
                <a:ea typeface="Arial"/>
                <a:cs typeface="Arial"/>
              </a:defRPr>
            </a:lvl6pPr>
            <a:lvl7pPr>
              <a:defRPr sz="6150" b="1">
                <a:solidFill>
                  <a:srgbClr val="FFFFFF"/>
                </a:solidFill>
                <a:latin typeface="Arial"/>
                <a:ea typeface="Arial"/>
                <a:cs typeface="Arial"/>
              </a:defRPr>
            </a:lvl7pPr>
            <a:lvl8pPr>
              <a:defRPr sz="6150" b="1">
                <a:solidFill>
                  <a:srgbClr val="FFFFFF"/>
                </a:solidFill>
                <a:latin typeface="Arial"/>
                <a:ea typeface="Arial"/>
                <a:cs typeface="Arial"/>
              </a:defRPr>
            </a:lvl8pPr>
            <a:lvl9pPr>
              <a:defRPr sz="6150" b="1">
                <a:solidFill>
                  <a:srgbClr val="FFFFFF"/>
                </a:solidFill>
                <a:latin typeface="Arial"/>
                <a:ea typeface="Arial"/>
                <a:cs typeface="Arial"/>
              </a:defRPr>
            </a:lvl9pPr>
          </a:lstStyle>
          <a:p xmlns:a="http://schemas.openxmlformats.org/drawingml/2006/main">
            <a:pPr>
              <a:defRPr sz="6150" b="1">
                <a:solidFill>
                  <a:srgbClr val="FFFFFF"/>
                </a:solidFill>
                <a:latin typeface="Arial"/>
                <a:ea typeface="Arial"/>
                <a:cs typeface="Arial"/>
              </a:defRPr>
            </a:pPr>
            <a:r>
              <a:rPr sz="6150" b="1">
                <a:solidFill>
                  <a:srgbClr val="FFFFFF"/>
                </a:solidFill>
                <a:latin typeface="Arial"/>
                <a:ea typeface="Arial"/>
                <a:cs typeface="Arial"/>
              </a:rPr>
              <a:t>AeroSentinel</a:t>
            </a:r>
          </a:p>
        </p:txBody>
      </p:sp>
      <p:sp>
        <p:nvSpPr>
          <p:cNvPr id="3" name="">
            <a:extLst xmlns:a="http://schemas.openxmlformats.org/drawingml/2006/main">
              <a:ext uri="{FF2B5EF4-FFF2-40B4-BE49-F238E27FC236}">
                <a16:creationId xmlns:a16="http://schemas.microsoft.com/office/drawing/2014/main" id="{BAFCA502-0846-4174-BF6F-C53E352E72BA}"/>
              </a:ext>
            </a:extLst>
          </p:cNvPr>
          <p:cNvSpPr>
            <a:spLocks xmlns:a="http://schemas.openxmlformats.org/drawingml/2006/main" noGrp="1"/>
          </p:cNvSpPr>
          <p:nvPr/>
        </p:nvSpPr>
        <p:spPr>
          <a:xfrm xmlns:a="http://schemas.openxmlformats.org/drawingml/2006/main">
            <a:off x="609600" y="3314700"/>
            <a:ext cx="107632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0">
                <a:solidFill>
                  <a:srgbClr val="FFFFFF"/>
                </a:solidFill>
                <a:latin typeface="Arial"/>
                <a:ea typeface="Arial"/>
                <a:cs typeface="Arial"/>
              </a:defRPr>
            </a:defPPr>
            <a:lvl1pPr>
              <a:defRPr sz="2925" b="0">
                <a:solidFill>
                  <a:srgbClr val="FFFFFF"/>
                </a:solidFill>
                <a:latin typeface="Arial"/>
                <a:ea typeface="Arial"/>
                <a:cs typeface="Arial"/>
              </a:defRPr>
            </a:lvl1pPr>
            <a:lvl2pPr>
              <a:defRPr sz="2925" b="0">
                <a:solidFill>
                  <a:srgbClr val="FFFFFF"/>
                </a:solidFill>
                <a:latin typeface="Arial"/>
                <a:ea typeface="Arial"/>
                <a:cs typeface="Arial"/>
              </a:defRPr>
            </a:lvl2pPr>
            <a:lvl3pPr>
              <a:defRPr sz="2925" b="0">
                <a:solidFill>
                  <a:srgbClr val="FFFFFF"/>
                </a:solidFill>
                <a:latin typeface="Arial"/>
                <a:ea typeface="Arial"/>
                <a:cs typeface="Arial"/>
              </a:defRPr>
            </a:lvl3pPr>
            <a:lvl4pPr>
              <a:defRPr sz="2925" b="0">
                <a:solidFill>
                  <a:srgbClr val="FFFFFF"/>
                </a:solidFill>
                <a:latin typeface="Arial"/>
                <a:ea typeface="Arial"/>
                <a:cs typeface="Arial"/>
              </a:defRPr>
            </a:lvl4pPr>
            <a:lvl5pPr>
              <a:defRPr sz="2925" b="0">
                <a:solidFill>
                  <a:srgbClr val="FFFFFF"/>
                </a:solidFill>
                <a:latin typeface="Arial"/>
                <a:ea typeface="Arial"/>
                <a:cs typeface="Arial"/>
              </a:defRPr>
            </a:lvl5pPr>
            <a:lvl6pPr>
              <a:defRPr sz="2925" b="0">
                <a:solidFill>
                  <a:srgbClr val="FFFFFF"/>
                </a:solidFill>
                <a:latin typeface="Arial"/>
                <a:ea typeface="Arial"/>
                <a:cs typeface="Arial"/>
              </a:defRPr>
            </a:lvl6pPr>
            <a:lvl7pPr>
              <a:defRPr sz="2925" b="0">
                <a:solidFill>
                  <a:srgbClr val="FFFFFF"/>
                </a:solidFill>
                <a:latin typeface="Arial"/>
                <a:ea typeface="Arial"/>
                <a:cs typeface="Arial"/>
              </a:defRPr>
            </a:lvl7pPr>
            <a:lvl8pPr>
              <a:defRPr sz="2925" b="0">
                <a:solidFill>
                  <a:srgbClr val="FFFFFF"/>
                </a:solidFill>
                <a:latin typeface="Arial"/>
                <a:ea typeface="Arial"/>
                <a:cs typeface="Arial"/>
              </a:defRPr>
            </a:lvl8pPr>
            <a:lvl9pPr>
              <a:defRPr sz="2925" b="0">
                <a:solidFill>
                  <a:srgbClr val="FFFFFF"/>
                </a:solidFill>
                <a:latin typeface="Arial"/>
                <a:ea typeface="Arial"/>
                <a:cs typeface="Arial"/>
              </a:defRPr>
            </a:lvl9pPr>
          </a:lstStyle>
          <a:p xmlns:a="http://schemas.openxmlformats.org/drawingml/2006/main">
            <a:pPr>
              <a:defRPr sz="2925" b="0">
                <a:solidFill>
                  <a:srgbClr val="FFFFFF"/>
                </a:solidFill>
                <a:latin typeface="Arial"/>
                <a:ea typeface="Arial"/>
                <a:cs typeface="Arial"/>
              </a:defRPr>
            </a:pPr>
            <a:r>
              <a:rPr sz="2925" b="0">
                <a:solidFill>
                  <a:srgbClr val="FFFFFF"/>
                </a:solidFill>
                <a:latin typeface="Arial"/>
                <a:ea typeface="Arial"/>
                <a:cs typeface="Arial"/>
              </a:rPr>
              <a:t>Satellite recovery decisions</a:t>
            </a:r>
          </a:p>
          <a:p xmlns:a="http://schemas.openxmlformats.org/drawingml/2006/main">
            <a:pPr>
              <a:defRPr sz="2925" b="0">
                <a:solidFill>
                  <a:srgbClr val="FFFFFF"/>
                </a:solidFill>
                <a:latin typeface="Arial"/>
                <a:ea typeface="Arial"/>
                <a:cs typeface="Arial"/>
              </a:defRPr>
            </a:pPr>
            <a:r>
              <a:rPr sz="2925" b="0">
                <a:solidFill>
                  <a:srgbClr val="FFFFFF"/>
                </a:solidFill>
                <a:latin typeface="Arial"/>
                <a:ea typeface="Arial"/>
                <a:cs typeface="Arial"/>
              </a:rPr>
              <a:t>with protected mission history</a:t>
            </a:r>
          </a:p>
        </p:txBody>
      </p:sp>
      <p:sp>
        <p:nvSpPr>
          <p:cNvPr id="4" name="">
            <a:extLst xmlns:a="http://schemas.openxmlformats.org/drawingml/2006/main">
              <a:ext uri="{FF2B5EF4-FFF2-40B4-BE49-F238E27FC236}">
                <a16:creationId xmlns:a16="http://schemas.microsoft.com/office/drawing/2014/main" id="{687FBE3F-12B8-4C89-83DD-B8EC9565A370}"/>
              </a:ext>
            </a:extLst>
          </p:cNvPr>
          <p:cNvSpPr>
            <a:spLocks xmlns:a="http://schemas.openxmlformats.org/drawingml/2006/main" noGrp="1"/>
          </p:cNvSpPr>
          <p:nvPr/>
        </p:nvSpPr>
        <p:spPr>
          <a:xfrm xmlns:a="http://schemas.openxmlformats.org/drawingml/2006/main">
            <a:off x="609600" y="5238750"/>
            <a:ext cx="10906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BCD0DB"/>
                </a:solidFill>
                <a:latin typeface="Arial"/>
                <a:ea typeface="Arial"/>
                <a:cs typeface="Arial"/>
              </a:defRPr>
            </a:defPPr>
            <a:lvl1pPr>
              <a:defRPr sz="1800" b="0">
                <a:solidFill>
                  <a:srgbClr val="BCD0DB"/>
                </a:solidFill>
                <a:latin typeface="Arial"/>
                <a:ea typeface="Arial"/>
                <a:cs typeface="Arial"/>
              </a:defRPr>
            </a:lvl1pPr>
            <a:lvl2pPr>
              <a:defRPr sz="1800" b="0">
                <a:solidFill>
                  <a:srgbClr val="BCD0DB"/>
                </a:solidFill>
                <a:latin typeface="Arial"/>
                <a:ea typeface="Arial"/>
                <a:cs typeface="Arial"/>
              </a:defRPr>
            </a:lvl2pPr>
            <a:lvl3pPr>
              <a:defRPr sz="1800" b="0">
                <a:solidFill>
                  <a:srgbClr val="BCD0DB"/>
                </a:solidFill>
                <a:latin typeface="Arial"/>
                <a:ea typeface="Arial"/>
                <a:cs typeface="Arial"/>
              </a:defRPr>
            </a:lvl3pPr>
            <a:lvl4pPr>
              <a:defRPr sz="1800" b="0">
                <a:solidFill>
                  <a:srgbClr val="BCD0DB"/>
                </a:solidFill>
                <a:latin typeface="Arial"/>
                <a:ea typeface="Arial"/>
                <a:cs typeface="Arial"/>
              </a:defRPr>
            </a:lvl4pPr>
            <a:lvl5pPr>
              <a:defRPr sz="1800" b="0">
                <a:solidFill>
                  <a:srgbClr val="BCD0DB"/>
                </a:solidFill>
                <a:latin typeface="Arial"/>
                <a:ea typeface="Arial"/>
                <a:cs typeface="Arial"/>
              </a:defRPr>
            </a:lvl5pPr>
            <a:lvl6pPr>
              <a:defRPr sz="1800" b="0">
                <a:solidFill>
                  <a:srgbClr val="BCD0DB"/>
                </a:solidFill>
                <a:latin typeface="Arial"/>
                <a:ea typeface="Arial"/>
                <a:cs typeface="Arial"/>
              </a:defRPr>
            </a:lvl6pPr>
            <a:lvl7pPr>
              <a:defRPr sz="1800" b="0">
                <a:solidFill>
                  <a:srgbClr val="BCD0DB"/>
                </a:solidFill>
                <a:latin typeface="Arial"/>
                <a:ea typeface="Arial"/>
                <a:cs typeface="Arial"/>
              </a:defRPr>
            </a:lvl7pPr>
            <a:lvl8pPr>
              <a:defRPr sz="1800" b="0">
                <a:solidFill>
                  <a:srgbClr val="BCD0DB"/>
                </a:solidFill>
                <a:latin typeface="Arial"/>
                <a:ea typeface="Arial"/>
                <a:cs typeface="Arial"/>
              </a:defRPr>
            </a:lvl8pPr>
            <a:lvl9pPr>
              <a:defRPr sz="1800" b="0">
                <a:solidFill>
                  <a:srgbClr val="BCD0DB"/>
                </a:solidFill>
                <a:latin typeface="Arial"/>
                <a:ea typeface="Arial"/>
                <a:cs typeface="Arial"/>
              </a:defRPr>
            </a:lvl9pPr>
          </a:lstStyle>
          <a:p xmlns:a="http://schemas.openxmlformats.org/drawingml/2006/main">
            <a:pPr>
              <a:defRPr sz="1800" b="0">
                <a:solidFill>
                  <a:srgbClr val="BCD0DB"/>
                </a:solidFill>
                <a:latin typeface="Arial"/>
                <a:ea typeface="Arial"/>
                <a:cs typeface="Arial"/>
              </a:defRPr>
            </a:pPr>
            <a:r>
              <a:rPr sz="1800" b="0">
                <a:solidFill>
                  <a:srgbClr val="BCD0DB"/>
                </a:solidFill>
                <a:latin typeface="Arial"/>
                <a:ea typeface="Arial"/>
                <a:cs typeface="Arial"/>
              </a:rPr>
              <a:t>9 task families   /   3 difficulty levels   /   tool-using agents</a:t>
            </a:r>
          </a:p>
        </p:txBody>
      </p:sp>
      <p:sp>
        <p:nvSpPr>
          <p:cNvPr id="5" name="">
            <a:extLst xmlns:a="http://schemas.openxmlformats.org/drawingml/2006/main">
              <a:ext uri="{FF2B5EF4-FFF2-40B4-BE49-F238E27FC236}">
                <a16:creationId xmlns:a16="http://schemas.microsoft.com/office/drawing/2014/main" id="{16E04EBA-CAAC-45C4-9DE0-BE1A4ED192D1}"/>
              </a:ext>
            </a:extLst>
          </p:cNvPr>
          <p:cNvSpPr>
            <a:spLocks xmlns:a="http://schemas.openxmlformats.org/drawingml/2006/main" noGrp="1"/>
          </p:cNvSpPr>
          <p:nvPr/>
        </p:nvSpPr>
        <p:spPr>
          <a:xfrm xmlns:a="http://schemas.openxmlformats.org/drawingml/2006/main">
            <a:off x="609600" y="6200775"/>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BCD0DB"/>
                </a:solidFill>
                <a:latin typeface="Arial"/>
                <a:ea typeface="Arial"/>
                <a:cs typeface="Arial"/>
              </a:defRPr>
            </a:defPPr>
            <a:lvl1pPr>
              <a:defRPr sz="1350" b="0">
                <a:solidFill>
                  <a:srgbClr val="BCD0DB"/>
                </a:solidFill>
                <a:latin typeface="Arial"/>
                <a:ea typeface="Arial"/>
                <a:cs typeface="Arial"/>
              </a:defRPr>
            </a:lvl1pPr>
            <a:lvl2pPr>
              <a:defRPr sz="1350" b="0">
                <a:solidFill>
                  <a:srgbClr val="BCD0DB"/>
                </a:solidFill>
                <a:latin typeface="Arial"/>
                <a:ea typeface="Arial"/>
                <a:cs typeface="Arial"/>
              </a:defRPr>
            </a:lvl2pPr>
            <a:lvl3pPr>
              <a:defRPr sz="1350" b="0">
                <a:solidFill>
                  <a:srgbClr val="BCD0DB"/>
                </a:solidFill>
                <a:latin typeface="Arial"/>
                <a:ea typeface="Arial"/>
                <a:cs typeface="Arial"/>
              </a:defRPr>
            </a:lvl3pPr>
            <a:lvl4pPr>
              <a:defRPr sz="1350" b="0">
                <a:solidFill>
                  <a:srgbClr val="BCD0DB"/>
                </a:solidFill>
                <a:latin typeface="Arial"/>
                <a:ea typeface="Arial"/>
                <a:cs typeface="Arial"/>
              </a:defRPr>
            </a:lvl4pPr>
            <a:lvl5pPr>
              <a:defRPr sz="1350" b="0">
                <a:solidFill>
                  <a:srgbClr val="BCD0DB"/>
                </a:solidFill>
                <a:latin typeface="Arial"/>
                <a:ea typeface="Arial"/>
                <a:cs typeface="Arial"/>
              </a:defRPr>
            </a:lvl5pPr>
            <a:lvl6pPr>
              <a:defRPr sz="1350" b="0">
                <a:solidFill>
                  <a:srgbClr val="BCD0DB"/>
                </a:solidFill>
                <a:latin typeface="Arial"/>
                <a:ea typeface="Arial"/>
                <a:cs typeface="Arial"/>
              </a:defRPr>
            </a:lvl6pPr>
            <a:lvl7pPr>
              <a:defRPr sz="1350" b="0">
                <a:solidFill>
                  <a:srgbClr val="BCD0DB"/>
                </a:solidFill>
                <a:latin typeface="Arial"/>
                <a:ea typeface="Arial"/>
                <a:cs typeface="Arial"/>
              </a:defRPr>
            </a:lvl7pPr>
            <a:lvl8pPr>
              <a:defRPr sz="1350" b="0">
                <a:solidFill>
                  <a:srgbClr val="BCD0DB"/>
                </a:solidFill>
                <a:latin typeface="Arial"/>
                <a:ea typeface="Arial"/>
                <a:cs typeface="Arial"/>
              </a:defRPr>
            </a:lvl8pPr>
            <a:lvl9pPr>
              <a:defRPr sz="1350" b="0">
                <a:solidFill>
                  <a:srgbClr val="BCD0DB"/>
                </a:solidFill>
                <a:latin typeface="Arial"/>
                <a:ea typeface="Arial"/>
                <a:cs typeface="Arial"/>
              </a:defRPr>
            </a:lvl9pPr>
          </a:lstStyle>
          <a:p xmlns:a="http://schemas.openxmlformats.org/drawingml/2006/main">
            <a:pPr>
              <a:defRPr sz="1350" b="0">
                <a:solidFill>
                  <a:srgbClr val="BCD0DB"/>
                </a:solidFill>
                <a:latin typeface="Arial"/>
                <a:ea typeface="Arial"/>
                <a:cs typeface="Arial"/>
              </a:defRPr>
            </a:pPr>
            <a:r>
              <a:rPr sz="1350" b="0">
                <a:solidFill>
                  <a:srgbClr val="BCD0DB"/>
                </a:solidFill>
                <a:latin typeface="Arial"/>
                <a:ea typeface="Arial"/>
                <a:cs typeface="Arial"/>
              </a:rPr>
              <a:t>A declared benchmark simulator</a:t>
            </a:r>
          </a:p>
        </p:txBody>
      </p:sp>
    </p:spTree>
    <p:extLst>
      <p:ext uri="{BB962C8B-B14F-4D97-AF65-F5344CB8AC3E}">
        <p14:creationId xmlns:p14="http://schemas.microsoft.com/office/powerpoint/2010/main" val="15477806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FEF092B-89D9-4D9B-8C6F-2D5BC37C0BF3}"/>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ENVIRONMENT CONTRACT</a:t>
            </a:r>
          </a:p>
        </p:txBody>
      </p:sp>
      <p:sp>
        <p:nvSpPr>
          <p:cNvPr id="2" name="">
            <a:extLst xmlns:a="http://schemas.openxmlformats.org/drawingml/2006/main">
              <a:ext uri="{FF2B5EF4-FFF2-40B4-BE49-F238E27FC236}">
                <a16:creationId xmlns:a16="http://schemas.microsoft.com/office/drawing/2014/main" id="{B0D540A4-0CE3-4A58-996E-33DB43FBEE9F}"/>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Each action changes a persistent mission</a:t>
            </a:r>
          </a:p>
        </p:txBody>
      </p:sp>
      <p:sp>
        <p:nvSpPr>
          <p:cNvPr id="3" name="">
            <a:extLst xmlns:a="http://schemas.openxmlformats.org/drawingml/2006/main">
              <a:ext uri="{FF2B5EF4-FFF2-40B4-BE49-F238E27FC236}">
                <a16:creationId xmlns:a16="http://schemas.microsoft.com/office/drawing/2014/main" id="{2C88D20C-EF13-4628-91ED-2F3AD4D29DF6}"/>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7772B2DB-FF57-44BA-8F17-8E86A6D2DB86}"/>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02</a:t>
            </a:r>
          </a:p>
        </p:txBody>
      </p:sp>
      <p:graphicFrame>
        <p:nvGraphicFramePr>
          <p:cNvPr id="5" name="">
            <a:extLst xmlns:a="http://schemas.openxmlformats.org/drawingml/2006/main">
              <a:ext uri="{FF2B5EF4-FFF2-40B4-BE49-F238E27FC236}">
                <a16:creationId xmlns:a16="http://schemas.microsoft.com/office/drawing/2014/main" id="{8DDE69E0-DF73-463E-B8BD-E9E36F009BF4}"/>
              </a:ext>
            </a:extLst>
          </p:cNvPr>
          <p:cNvGraphicFramePr/>
          <p:nvPr/>
        </p:nvGraphicFramePr>
        <p:xfrm>
          <a:off xmlns:a="http://schemas.openxmlformats.org/drawingml/2006/main" x="609600" y="2076450"/>
          <a:ext xmlns:a="http://schemas.openxmlformats.org/drawingml/2006/main" cx="10972800" cy="3276600"/>
        </p:xfrm>
        <a:graphic xmlns:a="http://schemas.openxmlformats.org/drawingml/2006/main">
          <a:graphicData uri="http://schemas.openxmlformats.org/drawingml/2006/table">
            <a:tbl>
              <a:tblPr/>
              <a:tblGrid>
                <a:gridCol w="2095500"/>
                <a:gridCol w="4476750"/>
                <a:gridCol w="4400550"/>
              </a:tblGrid>
              <a:tr h="819150">
                <a:tc>
                  <a:txBody>
                    <a:bodyPr/>
                    <a:lstStyle/>
                    <a:p>
                      <a:r>
                        <a:rPr sz="1500" b="1">
                          <a:solidFill>
                            <a:srgbClr val="FFFFFF"/>
                          </a:solidFill>
                          <a:latin typeface="Arial"/>
                          <a:ea typeface="Arial"/>
                          <a:cs typeface="Arial"/>
                        </a:rPr>
                        <a:t>Layer</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Agent sees or controls</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Verifier evaluates</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819150">
                <a:tc>
                  <a:txBody>
                    <a:bodyPr/>
                    <a:lstStyle/>
                    <a:p>
                      <a:r>
                        <a:rPr sz="1725" b="0">
                          <a:solidFill>
                            <a:srgbClr val="193447"/>
                          </a:solidFill>
                          <a:latin typeface="Arial"/>
                          <a:ea typeface="Arial"/>
                          <a:cs typeface="Arial"/>
                        </a:rPr>
                        <a:t>Observations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Manual, configs, mission targets</a:t>
                      </a:r>
                    </a:p>
                    <a:p>
                      <a:r>
                        <a:rPr sz="1725" b="0">
                          <a:solidFill>
                            <a:srgbClr val="193447"/>
                          </a:solidFill>
                          <a:latin typeface="Arial"/>
                          <a:ea typeface="Arial"/>
                          <a:cs typeface="Arial"/>
                        </a:rPr>
                        <a:t>and live telemetry</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Seeded protected facts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819150">
                <a:tc>
                  <a:txBody>
                    <a:bodyPr/>
                    <a:lstStyle/>
                    <a:p>
                      <a:r>
                        <a:rPr sz="1725" b="0">
                          <a:solidFill>
                            <a:srgbClr val="193447"/>
                          </a:solidFill>
                          <a:latin typeface="Arial"/>
                          <a:ea typeface="Arial"/>
                          <a:cs typeface="Arial"/>
                        </a:rPr>
                        <a:t>Actions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Read, write, run Python,</a:t>
                      </a:r>
                    </a:p>
                    <a:p>
                      <a:r>
                        <a:rPr sz="1725" b="0">
                          <a:solidFill>
                            <a:srgbClr val="193447"/>
                          </a:solidFill>
                          <a:latin typeface="Arial"/>
                          <a:ea typeface="Arial"/>
                          <a:cs typeface="Arial"/>
                        </a:rPr>
                        <a:t>advance orbit, finish</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Time, energy, exposure</a:t>
                      </a:r>
                    </a:p>
                    <a:p>
                      <a:r>
                        <a:rPr sz="1725" b="0">
                          <a:solidFill>
                            <a:srgbClr val="193447"/>
                          </a:solidFill>
                          <a:latin typeface="Arial"/>
                          <a:ea typeface="Arial"/>
                          <a:cs typeface="Arial"/>
                        </a:rPr>
                        <a:t>and delivered data</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819150">
                <a:tc>
                  <a:txBody>
                    <a:bodyPr/>
                    <a:lstStyle/>
                    <a:p>
                      <a:r>
                        <a:rPr sz="1725" b="0">
                          <a:solidFill>
                            <a:srgbClr val="193447"/>
                          </a:solidFill>
                          <a:latin typeface="Arial"/>
                          <a:ea typeface="Arial"/>
                          <a:cs typeface="Arial"/>
                        </a:rPr>
                        <a:t>Limits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40 replies and 10 tools per reply</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600 seconds plus a separate</a:t>
                      </a:r>
                    </a:p>
                    <a:p>
                      <a:r>
                        <a:rPr sz="1725" b="0">
                          <a:solidFill>
                            <a:srgbClr val="193447"/>
                          </a:solidFill>
                          <a:latin typeface="Arial"/>
                          <a:ea typeface="Arial"/>
                          <a:cs typeface="Arial"/>
                        </a:rPr>
                        <a:t>120-second final check</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bl>
          </a:graphicData>
        </a:graphic>
      </p:graphicFrame>
      <p:sp>
        <p:nvSpPr>
          <p:cNvPr id="6" name="">
            <a:extLst xmlns:a="http://schemas.openxmlformats.org/drawingml/2006/main">
              <a:ext uri="{FF2B5EF4-FFF2-40B4-BE49-F238E27FC236}">
                <a16:creationId xmlns:a16="http://schemas.microsoft.com/office/drawing/2014/main" id="{D1EEA7E3-7A79-4FE2-8E02-9C518F43D12A}"/>
              </a:ext>
            </a:extLst>
          </p:cNvPr>
          <p:cNvSpPr>
            <a:spLocks xmlns:a="http://schemas.openxmlformats.org/drawingml/2006/main" noGrp="1"/>
          </p:cNvSpPr>
          <p:nvPr/>
        </p:nvSpPr>
        <p:spPr>
          <a:xfrm xmlns:a="http://schemas.openxmlformats.org/drawingml/2006/main">
            <a:off x="609600" y="5648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07E83"/>
                </a:solidFill>
                <a:latin typeface="Arial"/>
                <a:ea typeface="Arial"/>
                <a:cs typeface="Arial"/>
              </a:defRPr>
            </a:defPPr>
            <a:lvl1pPr>
              <a:defRPr sz="1875" b="1">
                <a:solidFill>
                  <a:srgbClr val="007E83"/>
                </a:solidFill>
                <a:latin typeface="Arial"/>
                <a:ea typeface="Arial"/>
                <a:cs typeface="Arial"/>
              </a:defRPr>
            </a:lvl1pPr>
            <a:lvl2pPr>
              <a:defRPr sz="1875" b="1">
                <a:solidFill>
                  <a:srgbClr val="007E83"/>
                </a:solidFill>
                <a:latin typeface="Arial"/>
                <a:ea typeface="Arial"/>
                <a:cs typeface="Arial"/>
              </a:defRPr>
            </a:lvl2pPr>
            <a:lvl3pPr>
              <a:defRPr sz="1875" b="1">
                <a:solidFill>
                  <a:srgbClr val="007E83"/>
                </a:solidFill>
                <a:latin typeface="Arial"/>
                <a:ea typeface="Arial"/>
                <a:cs typeface="Arial"/>
              </a:defRPr>
            </a:lvl3pPr>
            <a:lvl4pPr>
              <a:defRPr sz="1875" b="1">
                <a:solidFill>
                  <a:srgbClr val="007E83"/>
                </a:solidFill>
                <a:latin typeface="Arial"/>
                <a:ea typeface="Arial"/>
                <a:cs typeface="Arial"/>
              </a:defRPr>
            </a:lvl4pPr>
            <a:lvl5pPr>
              <a:defRPr sz="1875" b="1">
                <a:solidFill>
                  <a:srgbClr val="007E83"/>
                </a:solidFill>
                <a:latin typeface="Arial"/>
                <a:ea typeface="Arial"/>
                <a:cs typeface="Arial"/>
              </a:defRPr>
            </a:lvl5pPr>
            <a:lvl6pPr>
              <a:defRPr sz="1875" b="1">
                <a:solidFill>
                  <a:srgbClr val="007E83"/>
                </a:solidFill>
                <a:latin typeface="Arial"/>
                <a:ea typeface="Arial"/>
                <a:cs typeface="Arial"/>
              </a:defRPr>
            </a:lvl6pPr>
            <a:lvl7pPr>
              <a:defRPr sz="1875" b="1">
                <a:solidFill>
                  <a:srgbClr val="007E83"/>
                </a:solidFill>
                <a:latin typeface="Arial"/>
                <a:ea typeface="Arial"/>
                <a:cs typeface="Arial"/>
              </a:defRPr>
            </a:lvl7pPr>
            <a:lvl8pPr>
              <a:defRPr sz="1875" b="1">
                <a:solidFill>
                  <a:srgbClr val="007E83"/>
                </a:solidFill>
                <a:latin typeface="Arial"/>
                <a:ea typeface="Arial"/>
                <a:cs typeface="Arial"/>
              </a:defRPr>
            </a:lvl8pPr>
            <a:lvl9pPr>
              <a:defRPr sz="1875" b="1">
                <a:solidFill>
                  <a:srgbClr val="007E83"/>
                </a:solidFill>
                <a:latin typeface="Arial"/>
                <a:ea typeface="Arial"/>
                <a:cs typeface="Arial"/>
              </a:defRPr>
            </a:lvl9pPr>
          </a:lstStyle>
          <a:p xmlns:a="http://schemas.openxmlformats.org/drawingml/2006/main">
            <a:pPr>
              <a:defRPr sz="1875" b="1">
                <a:solidFill>
                  <a:srgbClr val="007E83"/>
                </a:solidFill>
                <a:latin typeface="Arial"/>
                <a:ea typeface="Arial"/>
                <a:cs typeface="Arial"/>
              </a:defRPr>
            </a:pPr>
            <a:r>
              <a:rPr sz="1875" b="1">
                <a:solidFill>
                  <a:srgbClr val="007E83"/>
                </a:solidFill>
                <a:latin typeface="Arial"/>
                <a:ea typeface="Arial"/>
                <a:cs typeface="Arial"/>
              </a:rPr>
              <a:t>The same tool and reward contract applies to every configured model.</a:t>
            </a:r>
          </a:p>
        </p:txBody>
      </p:sp>
    </p:spTree>
    <p:extLst>
      <p:ext uri="{BB962C8B-B14F-4D97-AF65-F5344CB8AC3E}">
        <p14:creationId xmlns:p14="http://schemas.microsoft.com/office/powerpoint/2010/main" val="73408959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CE1E6FB-C563-4AF6-A297-3288FB613939}"/>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TASK PROGRESSION</a:t>
            </a:r>
          </a:p>
        </p:txBody>
      </p:sp>
      <p:sp>
        <p:nvSpPr>
          <p:cNvPr id="2" name="">
            <a:extLst xmlns:a="http://schemas.openxmlformats.org/drawingml/2006/main">
              <a:ext uri="{FF2B5EF4-FFF2-40B4-BE49-F238E27FC236}">
                <a16:creationId xmlns:a16="http://schemas.microsoft.com/office/drawing/2014/main" id="{6C3F033F-3C4E-40D0-8CAE-832CE267D181}"/>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Nine tasks, four planning challenges</a:t>
            </a:r>
          </a:p>
        </p:txBody>
      </p:sp>
      <p:sp>
        <p:nvSpPr>
          <p:cNvPr id="3" name="">
            <a:extLst xmlns:a="http://schemas.openxmlformats.org/drawingml/2006/main">
              <a:ext uri="{FF2B5EF4-FFF2-40B4-BE49-F238E27FC236}">
                <a16:creationId xmlns:a16="http://schemas.microsoft.com/office/drawing/2014/main" id="{71039999-693D-4896-B3DB-25866E778E15}"/>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6BF291F5-33D8-4BD5-8A43-7EB7327353F3}"/>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03</a:t>
            </a:r>
          </a:p>
        </p:txBody>
      </p:sp>
      <p:graphicFrame>
        <p:nvGraphicFramePr>
          <p:cNvPr id="5" name="">
            <a:extLst xmlns:a="http://schemas.openxmlformats.org/drawingml/2006/main">
              <a:ext uri="{FF2B5EF4-FFF2-40B4-BE49-F238E27FC236}">
                <a16:creationId xmlns:a16="http://schemas.microsoft.com/office/drawing/2014/main" id="{4F8C644D-5D04-4999-A82C-C60C35601B79}"/>
              </a:ext>
            </a:extLst>
          </p:cNvPr>
          <p:cNvGraphicFramePr/>
          <p:nvPr/>
        </p:nvGraphicFramePr>
        <p:xfrm>
          <a:off xmlns:a="http://schemas.openxmlformats.org/drawingml/2006/main" x="609600" y="2076450"/>
          <a:ext xmlns:a="http://schemas.openxmlformats.org/drawingml/2006/main" cx="10972800" cy="3333750"/>
        </p:xfrm>
        <a:graphic xmlns:a="http://schemas.openxmlformats.org/drawingml/2006/main">
          <a:graphicData uri="http://schemas.openxmlformats.org/drawingml/2006/table">
            <a:tbl>
              <a:tblPr/>
              <a:tblGrid>
                <a:gridCol w="2286000"/>
                <a:gridCol w="4476750"/>
                <a:gridCol w="4210050"/>
              </a:tblGrid>
              <a:tr h="833438">
                <a:tc>
                  <a:txBody>
                    <a:bodyPr/>
                    <a:lstStyle/>
                    <a:p>
                      <a:r>
                        <a:rPr sz="1500" b="1">
                          <a:solidFill>
                            <a:srgbClr val="FFFFFF"/>
                          </a:solidFill>
                          <a:latin typeface="Arial"/>
                          <a:ea typeface="Arial"/>
                          <a:cs typeface="Arial"/>
                        </a:rPr>
                        <a:t>Group</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Task families</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Decision required</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833438">
                <a:tc>
                  <a:txBody>
                    <a:bodyPr/>
                    <a:lstStyle/>
                    <a:p>
                      <a:r>
                        <a:rPr sz="1725" b="0">
                          <a:solidFill>
                            <a:srgbClr val="193447"/>
                          </a:solidFill>
                          <a:latin typeface="Arial"/>
                          <a:ea typeface="Arial"/>
                          <a:cs typeface="Arial"/>
                        </a:rPr>
                        <a:t>5 guided repairs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Power, pointing, thermal,</a:t>
                      </a:r>
                    </a:p>
                    <a:p>
                      <a:r>
                        <a:rPr sz="1725" b="0">
                          <a:solidFill>
                            <a:srgbClr val="193447"/>
                          </a:solidFill>
                          <a:latin typeface="Arial"/>
                          <a:ea typeface="Arial"/>
                          <a:cs typeface="Arial"/>
                        </a:rPr>
                        <a:t>radio and fault cascade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Diagnose seeded faults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833438">
                <a:tc>
                  <a:txBody>
                    <a:bodyPr/>
                    <a:lstStyle/>
                    <a:p>
                      <a:r>
                        <a:rPr sz="1725" b="0">
                          <a:solidFill>
                            <a:srgbClr val="193447"/>
                          </a:solidFill>
                          <a:latin typeface="Arial"/>
                          <a:ea typeface="Arial"/>
                          <a:cs typeface="Arial"/>
                        </a:rPr>
                        <a:t>2 radio missions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RF energy tradeoff</a:t>
                      </a:r>
                    </a:p>
                    <a:p>
                      <a:r>
                        <a:rPr sz="1725" b="0">
                          <a:solidFill>
                            <a:srgbClr val="193447"/>
                          </a:solidFill>
                          <a:latin typeface="Arial"/>
                          <a:ea typeface="Arial"/>
                          <a:cs typeface="Arial"/>
                        </a:rPr>
                        <a:t>Early pass recovery</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Balance link and energy</a:t>
                      </a:r>
                    </a:p>
                    <a:p>
                      <a:r>
                        <a:rPr sz="1725" b="0">
                          <a:solidFill>
                            <a:srgbClr val="193447"/>
                          </a:solidFill>
                          <a:latin typeface="Arial"/>
                          <a:ea typeface="Arial"/>
                          <a:cs typeface="Arial"/>
                        </a:rPr>
                        <a:t>Meet a contact deadline</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833438">
                <a:tc>
                  <a:txBody>
                    <a:bodyPr/>
                    <a:lstStyle/>
                    <a:p>
                      <a:r>
                        <a:rPr sz="1725" b="0">
                          <a:solidFill>
                            <a:srgbClr val="193447"/>
                          </a:solidFill>
                          <a:latin typeface="Arial"/>
                          <a:ea typeface="Arial"/>
                          <a:cs typeface="Arial"/>
                        </a:rPr>
                        <a:t>2 payload missions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Observation scheduling</a:t>
                      </a:r>
                    </a:p>
                    <a:p>
                      <a:r>
                        <a:rPr sz="1725" b="0">
                          <a:solidFill>
                            <a:srgbClr val="193447"/>
                          </a:solidFill>
                          <a:latin typeface="Arial"/>
                          <a:ea typeface="Arial"/>
                          <a:cs typeface="Arial"/>
                        </a:rPr>
                        <a:t>Science store and forward</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Schedule useful exposure</a:t>
                      </a:r>
                    </a:p>
                    <a:p>
                      <a:r>
                        <a:rPr sz="1725" b="0">
                          <a:solidFill>
                            <a:srgbClr val="193447"/>
                          </a:solidFill>
                          <a:latin typeface="Arial"/>
                          <a:ea typeface="Arial"/>
                          <a:cs typeface="Arial"/>
                        </a:rPr>
                        <a:t>Manage storage and contacts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bl>
          </a:graphicData>
        </a:graphic>
      </p:graphicFrame>
      <p:sp>
        <p:nvSpPr>
          <p:cNvPr id="6" name="">
            <a:extLst xmlns:a="http://schemas.openxmlformats.org/drawingml/2006/main">
              <a:ext uri="{FF2B5EF4-FFF2-40B4-BE49-F238E27FC236}">
                <a16:creationId xmlns:a16="http://schemas.microsoft.com/office/drawing/2014/main" id="{4EEE064B-4408-451F-AE3A-D820853CDFE5}"/>
              </a:ext>
            </a:extLst>
          </p:cNvPr>
          <p:cNvSpPr>
            <a:spLocks xmlns:a="http://schemas.openxmlformats.org/drawingml/2006/main" noGrp="1"/>
          </p:cNvSpPr>
          <p:nvPr/>
        </p:nvSpPr>
        <p:spPr>
          <a:xfrm xmlns:a="http://schemas.openxmlformats.org/drawingml/2006/main">
            <a:off x="609600" y="57054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E83"/>
                </a:solidFill>
                <a:latin typeface="Arial"/>
                <a:ea typeface="Arial"/>
                <a:cs typeface="Arial"/>
              </a:defRPr>
            </a:defPPr>
            <a:lvl1pPr>
              <a:defRPr sz="1725" b="1">
                <a:solidFill>
                  <a:srgbClr val="007E83"/>
                </a:solidFill>
                <a:latin typeface="Arial"/>
                <a:ea typeface="Arial"/>
                <a:cs typeface="Arial"/>
              </a:defRPr>
            </a:lvl1pPr>
            <a:lvl2pPr>
              <a:defRPr sz="1725" b="1">
                <a:solidFill>
                  <a:srgbClr val="007E83"/>
                </a:solidFill>
                <a:latin typeface="Arial"/>
                <a:ea typeface="Arial"/>
                <a:cs typeface="Arial"/>
              </a:defRPr>
            </a:lvl2pPr>
            <a:lvl3pPr>
              <a:defRPr sz="1725" b="1">
                <a:solidFill>
                  <a:srgbClr val="007E83"/>
                </a:solidFill>
                <a:latin typeface="Arial"/>
                <a:ea typeface="Arial"/>
                <a:cs typeface="Arial"/>
              </a:defRPr>
            </a:lvl3pPr>
            <a:lvl4pPr>
              <a:defRPr sz="1725" b="1">
                <a:solidFill>
                  <a:srgbClr val="007E83"/>
                </a:solidFill>
                <a:latin typeface="Arial"/>
                <a:ea typeface="Arial"/>
                <a:cs typeface="Arial"/>
              </a:defRPr>
            </a:lvl4pPr>
            <a:lvl5pPr>
              <a:defRPr sz="1725" b="1">
                <a:solidFill>
                  <a:srgbClr val="007E83"/>
                </a:solidFill>
                <a:latin typeface="Arial"/>
                <a:ea typeface="Arial"/>
                <a:cs typeface="Arial"/>
              </a:defRPr>
            </a:lvl5pPr>
            <a:lvl6pPr>
              <a:defRPr sz="1725" b="1">
                <a:solidFill>
                  <a:srgbClr val="007E83"/>
                </a:solidFill>
                <a:latin typeface="Arial"/>
                <a:ea typeface="Arial"/>
                <a:cs typeface="Arial"/>
              </a:defRPr>
            </a:lvl6pPr>
            <a:lvl7pPr>
              <a:defRPr sz="1725" b="1">
                <a:solidFill>
                  <a:srgbClr val="007E83"/>
                </a:solidFill>
                <a:latin typeface="Arial"/>
                <a:ea typeface="Arial"/>
                <a:cs typeface="Arial"/>
              </a:defRPr>
            </a:lvl7pPr>
            <a:lvl8pPr>
              <a:defRPr sz="1725" b="1">
                <a:solidFill>
                  <a:srgbClr val="007E83"/>
                </a:solidFill>
                <a:latin typeface="Arial"/>
                <a:ea typeface="Arial"/>
                <a:cs typeface="Arial"/>
              </a:defRPr>
            </a:lvl8pPr>
            <a:lvl9pPr>
              <a:defRPr sz="1725" b="1">
                <a:solidFill>
                  <a:srgbClr val="007E83"/>
                </a:solidFill>
                <a:latin typeface="Arial"/>
                <a:ea typeface="Arial"/>
                <a:cs typeface="Arial"/>
              </a:defRPr>
            </a:lvl9pPr>
          </a:lstStyle>
          <a:p xmlns:a="http://schemas.openxmlformats.org/drawingml/2006/main">
            <a:pPr>
              <a:defRPr sz="1725" b="1">
                <a:solidFill>
                  <a:srgbClr val="007E83"/>
                </a:solidFill>
                <a:latin typeface="Arial"/>
                <a:ea typeface="Arial"/>
                <a:cs typeface="Arial"/>
              </a:defRPr>
            </a:pPr>
            <a:r>
              <a:rPr sz="1725" b="1">
                <a:solidFill>
                  <a:srgbClr val="007E83"/>
                </a:solidFill>
                <a:latin typeface="Arial"/>
                <a:ea typeface="Arial"/>
                <a:cs typeface="Arial"/>
              </a:rPr>
              <a:t>Static nominal and maximum-radio policies fail all measured hard-task cases.</a:t>
            </a:r>
          </a:p>
        </p:txBody>
      </p:sp>
    </p:spTree>
    <p:extLst>
      <p:ext uri="{BB962C8B-B14F-4D97-AF65-F5344CB8AC3E}">
        <p14:creationId xmlns:p14="http://schemas.microsoft.com/office/powerpoint/2010/main" val="126070241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612858C-CF74-4B0D-A31D-6FBAC5B7E851}"/>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COUPLED TEMPORAL PLANNING</a:t>
            </a:r>
          </a:p>
        </p:txBody>
      </p:sp>
      <p:sp>
        <p:nvSpPr>
          <p:cNvPr id="2" name="">
            <a:extLst xmlns:a="http://schemas.openxmlformats.org/drawingml/2006/main">
              <a:ext uri="{FF2B5EF4-FFF2-40B4-BE49-F238E27FC236}">
                <a16:creationId xmlns:a16="http://schemas.microsoft.com/office/drawing/2014/main" id="{2BCD7152-26EB-4E0A-B16A-55003915798C}"/>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Two science windows, one finite buffer</a:t>
            </a:r>
          </a:p>
        </p:txBody>
      </p:sp>
      <p:sp>
        <p:nvSpPr>
          <p:cNvPr id="3" name="">
            <a:extLst xmlns:a="http://schemas.openxmlformats.org/drawingml/2006/main">
              <a:ext uri="{FF2B5EF4-FFF2-40B4-BE49-F238E27FC236}">
                <a16:creationId xmlns:a16="http://schemas.microsoft.com/office/drawing/2014/main" id="{AFBFE949-1C57-4204-89FC-76284F520622}"/>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A070930C-49E3-4B62-BC76-9FEB5DEB2FC5}"/>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04</a:t>
            </a:r>
          </a:p>
        </p:txBody>
      </p:sp>
      <p:graphicFrame>
        <p:nvGraphicFramePr>
          <p:cNvPr id="5" name="">
            <a:extLst xmlns:a="http://schemas.openxmlformats.org/drawingml/2006/main">
              <a:ext uri="{FF2B5EF4-FFF2-40B4-BE49-F238E27FC236}">
                <a16:creationId xmlns:a16="http://schemas.microsoft.com/office/drawing/2014/main" id="{2EDE67E9-9FA5-4799-AAFC-B770A964734A}"/>
              </a:ext>
            </a:extLst>
          </p:cNvPr>
          <p:cNvGraphicFramePr/>
          <p:nvPr/>
        </p:nvGraphicFramePr>
        <p:xfrm>
          <a:off xmlns:a="http://schemas.openxmlformats.org/drawingml/2006/main" x="609600" y="2009775"/>
          <a:ext xmlns:a="http://schemas.openxmlformats.org/drawingml/2006/main" cx="10972800" cy="2724150"/>
        </p:xfrm>
        <a:graphic xmlns:a="http://schemas.openxmlformats.org/drawingml/2006/main">
          <a:graphicData uri="http://schemas.openxmlformats.org/drawingml/2006/table">
            <a:tbl>
              <a:tblPr/>
              <a:tblGrid>
                <a:gridCol w="3238500"/>
                <a:gridCol w="4048125"/>
                <a:gridCol w="3686175"/>
              </a:tblGrid>
              <a:tr h="681038">
                <a:tc>
                  <a:txBody>
                    <a:bodyPr/>
                    <a:lstStyle/>
                    <a:p>
                      <a:r>
                        <a:rPr sz="1500" b="1">
                          <a:solidFill>
                            <a:srgbClr val="FFFFFF"/>
                          </a:solidFill>
                          <a:latin typeface="Arial"/>
                          <a:ea typeface="Arial"/>
                          <a:cs typeface="Arial"/>
                        </a:rPr>
                        <a:t>Mission stage</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Required decision</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Irreversible consequence</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681038">
                <a:tc>
                  <a:txBody>
                    <a:bodyPr/>
                    <a:lstStyle/>
                    <a:p>
                      <a:r>
                        <a:rPr sz="1725" b="0">
                          <a:solidFill>
                            <a:srgbClr val="193447"/>
                          </a:solidFill>
                          <a:latin typeface="Arial"/>
                          <a:ea typeface="Arial"/>
                          <a:cs typeface="Arial"/>
                        </a:rPr>
                        <a:t>Before window 1</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Inspect targets and configure radio</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Tool calls consume time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681038">
                <a:tc>
                  <a:txBody>
                    <a:bodyPr/>
                    <a:lstStyle/>
                    <a:p>
                      <a:r>
                        <a:rPr sz="1725" b="0">
                          <a:solidFill>
                            <a:srgbClr val="193447"/>
                          </a:solidFill>
                          <a:latin typeface="Arial"/>
                          <a:ea typeface="Arial"/>
                          <a:cs typeface="Arial"/>
                        </a:rPr>
                        <a:t>Window 1 → contact 1</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Collect, switch off, drain buffer</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Lost data cannot be restored</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681038">
                <a:tc>
                  <a:txBody>
                    <a:bodyPr/>
                    <a:lstStyle/>
                    <a:p>
                      <a:r>
                        <a:rPr sz="1725" b="0">
                          <a:solidFill>
                            <a:srgbClr val="193447"/>
                          </a:solidFill>
                          <a:latin typeface="Arial"/>
                          <a:ea typeface="Arial"/>
                          <a:cs typeface="Arial"/>
                        </a:rPr>
                        <a:t>Window 2 → contact 2</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Collect, switch off, deliver remainder</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Both exposure quotas must pass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bl>
          </a:graphicData>
        </a:graphic>
      </p:graphicFrame>
      <p:sp>
        <p:nvSpPr>
          <p:cNvPr id="6" name="">
            <a:extLst xmlns:a="http://schemas.openxmlformats.org/drawingml/2006/main">
              <a:ext uri="{FF2B5EF4-FFF2-40B4-BE49-F238E27FC236}">
                <a16:creationId xmlns:a16="http://schemas.microsoft.com/office/drawing/2014/main" id="{157A6012-BC70-4B18-83C8-C12AB4F77108}"/>
              </a:ext>
            </a:extLst>
          </p:cNvPr>
          <p:cNvSpPr>
            <a:spLocks xmlns:a="http://schemas.openxmlformats.org/drawingml/2006/main" noGrp="1"/>
          </p:cNvSpPr>
          <p:nvPr/>
        </p:nvSpPr>
        <p:spPr>
          <a:xfrm xmlns:a="http://schemas.openxmlformats.org/drawingml/2006/main">
            <a:off x="609600" y="50387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7E83"/>
                </a:solidFill>
                <a:latin typeface="Arial"/>
                <a:ea typeface="Arial"/>
                <a:cs typeface="Arial"/>
              </a:defRPr>
            </a:defPPr>
            <a:lvl1pPr>
              <a:defRPr sz="1950" b="1">
                <a:solidFill>
                  <a:srgbClr val="007E83"/>
                </a:solidFill>
                <a:latin typeface="Arial"/>
                <a:ea typeface="Arial"/>
                <a:cs typeface="Arial"/>
              </a:defRPr>
            </a:lvl1pPr>
            <a:lvl2pPr>
              <a:defRPr sz="1950" b="1">
                <a:solidFill>
                  <a:srgbClr val="007E83"/>
                </a:solidFill>
                <a:latin typeface="Arial"/>
                <a:ea typeface="Arial"/>
                <a:cs typeface="Arial"/>
              </a:defRPr>
            </a:lvl2pPr>
            <a:lvl3pPr>
              <a:defRPr sz="1950" b="1">
                <a:solidFill>
                  <a:srgbClr val="007E83"/>
                </a:solidFill>
                <a:latin typeface="Arial"/>
                <a:ea typeface="Arial"/>
                <a:cs typeface="Arial"/>
              </a:defRPr>
            </a:lvl3pPr>
            <a:lvl4pPr>
              <a:defRPr sz="1950" b="1">
                <a:solidFill>
                  <a:srgbClr val="007E83"/>
                </a:solidFill>
                <a:latin typeface="Arial"/>
                <a:ea typeface="Arial"/>
                <a:cs typeface="Arial"/>
              </a:defRPr>
            </a:lvl4pPr>
            <a:lvl5pPr>
              <a:defRPr sz="1950" b="1">
                <a:solidFill>
                  <a:srgbClr val="007E83"/>
                </a:solidFill>
                <a:latin typeface="Arial"/>
                <a:ea typeface="Arial"/>
                <a:cs typeface="Arial"/>
              </a:defRPr>
            </a:lvl5pPr>
            <a:lvl6pPr>
              <a:defRPr sz="1950" b="1">
                <a:solidFill>
                  <a:srgbClr val="007E83"/>
                </a:solidFill>
                <a:latin typeface="Arial"/>
                <a:ea typeface="Arial"/>
                <a:cs typeface="Arial"/>
              </a:defRPr>
            </a:lvl6pPr>
            <a:lvl7pPr>
              <a:defRPr sz="1950" b="1">
                <a:solidFill>
                  <a:srgbClr val="007E83"/>
                </a:solidFill>
                <a:latin typeface="Arial"/>
                <a:ea typeface="Arial"/>
                <a:cs typeface="Arial"/>
              </a:defRPr>
            </a:lvl7pPr>
            <a:lvl8pPr>
              <a:defRPr sz="1950" b="1">
                <a:solidFill>
                  <a:srgbClr val="007E83"/>
                </a:solidFill>
                <a:latin typeface="Arial"/>
                <a:ea typeface="Arial"/>
                <a:cs typeface="Arial"/>
              </a:defRPr>
            </a:lvl8pPr>
            <a:lvl9pPr>
              <a:defRPr sz="1950" b="1">
                <a:solidFill>
                  <a:srgbClr val="007E83"/>
                </a:solidFill>
                <a:latin typeface="Arial"/>
                <a:ea typeface="Arial"/>
                <a:cs typeface="Arial"/>
              </a:defRPr>
            </a:lvl9pPr>
          </a:lstStyle>
          <a:p xmlns:a="http://schemas.openxmlformats.org/drawingml/2006/main">
            <a:pPr>
              <a:defRPr sz="1950" b="1">
                <a:solidFill>
                  <a:srgbClr val="007E83"/>
                </a:solidFill>
                <a:latin typeface="Arial"/>
                <a:ea typeface="Arial"/>
                <a:cs typeface="Arial"/>
              </a:defRPr>
            </a:pPr>
            <a:r>
              <a:rPr sz="1950" b="1">
                <a:solidFill>
                  <a:srgbClr val="007E83"/>
                </a:solidFill>
                <a:latin typeface="Arial"/>
                <a:ea typeface="Arial"/>
                <a:cs typeface="Arial"/>
              </a:rPr>
              <a:t>Constant duty needs ≥0.90 for exposure, but energy permits ≤0.101–0.152.</a:t>
            </a:r>
          </a:p>
        </p:txBody>
      </p:sp>
      <p:sp>
        <p:nvSpPr>
          <p:cNvPr id="7" name="">
            <a:extLst xmlns:a="http://schemas.openxmlformats.org/drawingml/2006/main">
              <a:ext uri="{FF2B5EF4-FFF2-40B4-BE49-F238E27FC236}">
                <a16:creationId xmlns:a16="http://schemas.microsoft.com/office/drawing/2014/main" id="{93BFC2FB-9CD1-4BE6-89A4-06442173C9D3}"/>
              </a:ext>
            </a:extLst>
          </p:cNvPr>
          <p:cNvSpPr>
            <a:spLocks xmlns:a="http://schemas.openxmlformats.org/drawingml/2006/main" noGrp="1"/>
          </p:cNvSpPr>
          <p:nvPr/>
        </p:nvSpPr>
        <p:spPr>
          <a:xfrm xmlns:a="http://schemas.openxmlformats.org/drawingml/2006/main">
            <a:off x="609600" y="5781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93447"/>
                </a:solidFill>
                <a:latin typeface="Arial"/>
                <a:ea typeface="Arial"/>
                <a:cs typeface="Arial"/>
              </a:defRPr>
            </a:defPPr>
            <a:lvl1pPr>
              <a:defRPr sz="1725" b="0">
                <a:solidFill>
                  <a:srgbClr val="193447"/>
                </a:solidFill>
                <a:latin typeface="Arial"/>
                <a:ea typeface="Arial"/>
                <a:cs typeface="Arial"/>
              </a:defRPr>
            </a:lvl1pPr>
            <a:lvl2pPr>
              <a:defRPr sz="1725" b="0">
                <a:solidFill>
                  <a:srgbClr val="193447"/>
                </a:solidFill>
                <a:latin typeface="Arial"/>
                <a:ea typeface="Arial"/>
                <a:cs typeface="Arial"/>
              </a:defRPr>
            </a:lvl2pPr>
            <a:lvl3pPr>
              <a:defRPr sz="1725" b="0">
                <a:solidFill>
                  <a:srgbClr val="193447"/>
                </a:solidFill>
                <a:latin typeface="Arial"/>
                <a:ea typeface="Arial"/>
                <a:cs typeface="Arial"/>
              </a:defRPr>
            </a:lvl3pPr>
            <a:lvl4pPr>
              <a:defRPr sz="1725" b="0">
                <a:solidFill>
                  <a:srgbClr val="193447"/>
                </a:solidFill>
                <a:latin typeface="Arial"/>
                <a:ea typeface="Arial"/>
                <a:cs typeface="Arial"/>
              </a:defRPr>
            </a:lvl4pPr>
            <a:lvl5pPr>
              <a:defRPr sz="1725" b="0">
                <a:solidFill>
                  <a:srgbClr val="193447"/>
                </a:solidFill>
                <a:latin typeface="Arial"/>
                <a:ea typeface="Arial"/>
                <a:cs typeface="Arial"/>
              </a:defRPr>
            </a:lvl5pPr>
            <a:lvl6pPr>
              <a:defRPr sz="1725" b="0">
                <a:solidFill>
                  <a:srgbClr val="193447"/>
                </a:solidFill>
                <a:latin typeface="Arial"/>
                <a:ea typeface="Arial"/>
                <a:cs typeface="Arial"/>
              </a:defRPr>
            </a:lvl6pPr>
            <a:lvl7pPr>
              <a:defRPr sz="1725" b="0">
                <a:solidFill>
                  <a:srgbClr val="193447"/>
                </a:solidFill>
                <a:latin typeface="Arial"/>
                <a:ea typeface="Arial"/>
                <a:cs typeface="Arial"/>
              </a:defRPr>
            </a:lvl7pPr>
            <a:lvl8pPr>
              <a:defRPr sz="1725" b="0">
                <a:solidFill>
                  <a:srgbClr val="193447"/>
                </a:solidFill>
                <a:latin typeface="Arial"/>
                <a:ea typeface="Arial"/>
                <a:cs typeface="Arial"/>
              </a:defRPr>
            </a:lvl8pPr>
            <a:lvl9pPr>
              <a:defRPr sz="1725" b="0">
                <a:solidFill>
                  <a:srgbClr val="193447"/>
                </a:solidFill>
                <a:latin typeface="Arial"/>
                <a:ea typeface="Arial"/>
                <a:cs typeface="Arial"/>
              </a:defRPr>
            </a:lvl9pPr>
          </a:lstStyle>
          <a:p xmlns:a="http://schemas.openxmlformats.org/drawingml/2006/main">
            <a:pPr>
              <a:defRPr sz="1725" b="0">
                <a:solidFill>
                  <a:srgbClr val="193447"/>
                </a:solidFill>
                <a:latin typeface="Arial"/>
                <a:ea typeface="Arial"/>
                <a:cs typeface="Arial"/>
              </a:defRPr>
            </a:pPr>
            <a:r>
              <a:rPr sz="1725" b="0">
                <a:solidFill>
                  <a:srgbClr val="193447"/>
                </a:solidFill>
                <a:latin typeface="Arial"/>
                <a:ea typeface="Arial"/>
                <a:cs typeface="Arial"/>
              </a:rPr>
              <a:t>Generated science = buffered + delivered + lost. Overflow must remain zero.</a:t>
            </a:r>
          </a:p>
        </p:txBody>
      </p:sp>
    </p:spTree>
    <p:extLst>
      <p:ext uri="{BB962C8B-B14F-4D97-AF65-F5344CB8AC3E}">
        <p14:creationId xmlns:p14="http://schemas.microsoft.com/office/powerpoint/2010/main" val="145553930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7FAC408-31E7-4787-8F6A-723E4D390C70}"/>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SCORING CONTRACT</a:t>
            </a:r>
          </a:p>
        </p:txBody>
      </p:sp>
      <p:sp>
        <p:nvSpPr>
          <p:cNvPr id="2" name="">
            <a:extLst xmlns:a="http://schemas.openxmlformats.org/drawingml/2006/main">
              <a:ext uri="{FF2B5EF4-FFF2-40B4-BE49-F238E27FC236}">
                <a16:creationId xmlns:a16="http://schemas.microsoft.com/office/drawing/2014/main" id="{AD3DE947-F27F-40AC-9AA3-3BC078C75CAE}"/>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Reward follows verified mission history</a:t>
            </a:r>
          </a:p>
        </p:txBody>
      </p:sp>
      <p:sp>
        <p:nvSpPr>
          <p:cNvPr id="3" name="">
            <a:extLst xmlns:a="http://schemas.openxmlformats.org/drawingml/2006/main">
              <a:ext uri="{FF2B5EF4-FFF2-40B4-BE49-F238E27FC236}">
                <a16:creationId xmlns:a16="http://schemas.microsoft.com/office/drawing/2014/main" id="{40BC21CB-FA24-4762-BC2F-D96A2C586DF8}"/>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5C0D896E-C5DE-46BD-83C3-BF35C208A877}"/>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05</a:t>
            </a:r>
          </a:p>
        </p:txBody>
      </p:sp>
      <p:graphicFrame>
        <p:nvGraphicFramePr>
          <p:cNvPr id="5" name="">
            <a:extLst xmlns:a="http://schemas.openxmlformats.org/drawingml/2006/main">
              <a:ext uri="{FF2B5EF4-FFF2-40B4-BE49-F238E27FC236}">
                <a16:creationId xmlns:a16="http://schemas.microsoft.com/office/drawing/2014/main" id="{77347453-FFB4-4921-806C-A97C9C1C5362}"/>
              </a:ext>
            </a:extLst>
          </p:cNvPr>
          <p:cNvGraphicFramePr/>
          <p:nvPr/>
        </p:nvGraphicFramePr>
        <p:xfrm>
          <a:off xmlns:a="http://schemas.openxmlformats.org/drawingml/2006/main" x="609600" y="1971675"/>
          <a:ext xmlns:a="http://schemas.openxmlformats.org/drawingml/2006/main" cx="10972800" cy="2657475"/>
        </p:xfrm>
        <a:graphic xmlns:a="http://schemas.openxmlformats.org/drawingml/2006/main">
          <a:graphicData uri="http://schemas.openxmlformats.org/drawingml/2006/table">
            <a:tbl>
              <a:tblPr/>
              <a:tblGrid>
                <a:gridCol w="4000500"/>
                <a:gridCol w="2324100"/>
                <a:gridCol w="2324100"/>
                <a:gridCol w="2324100"/>
              </a:tblGrid>
              <a:tr h="664369">
                <a:tc>
                  <a:txBody>
                    <a:bodyPr/>
                    <a:lstStyle/>
                    <a:p>
                      <a:r>
                        <a:rPr sz="1500" b="1">
                          <a:solidFill>
                            <a:srgbClr val="FFFFFF"/>
                          </a:solidFill>
                          <a:latin typeface="Arial"/>
                          <a:ea typeface="Arial"/>
                          <a:cs typeface="Arial"/>
                        </a:rPr>
                        <a:t>Raw score family</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Standard</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Observation</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Science</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664369">
                <a:tc>
                  <a:txBody>
                    <a:bodyPr/>
                    <a:lstStyle/>
                    <a:p>
                      <a:r>
                        <a:rPr sz="1650" b="0">
                          <a:solidFill>
                            <a:srgbClr val="193447"/>
                          </a:solidFill>
                          <a:latin typeface="Arial"/>
                          <a:ea typeface="Arial"/>
                          <a:cs typeface="Arial"/>
                        </a:rPr>
                        <a:t>Power / thermal</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0.35 / 0.25</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0.28 / 0.20</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0.21 / 0.15</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664369">
                <a:tc>
                  <a:txBody>
                    <a:bodyPr/>
                    <a:lstStyle/>
                    <a:p>
                      <a:r>
                        <a:rPr sz="1650" b="0">
                          <a:solidFill>
                            <a:srgbClr val="193447"/>
                          </a:solidFill>
                          <a:latin typeface="Arial"/>
                          <a:ea typeface="Arial"/>
                          <a:cs typeface="Arial"/>
                        </a:rPr>
                        <a:t>Pointing / comms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0.20 / 0.20</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0.16 / 0.16</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0.12 / 0.12</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664369">
                <a:tc>
                  <a:txBody>
                    <a:bodyPr/>
                    <a:lstStyle/>
                    <a:p>
                      <a:r>
                        <a:rPr sz="1650" b="0">
                          <a:solidFill>
                            <a:srgbClr val="193447"/>
                          </a:solidFill>
                          <a:latin typeface="Arial"/>
                          <a:ea typeface="Arial"/>
                          <a:cs typeface="Arial"/>
                        </a:rPr>
                        <a:t>Exposure / science delivery</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None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0.20 / none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0.20 / 0.20</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bl>
          </a:graphicData>
        </a:graphic>
      </p:graphicFrame>
      <p:sp>
        <p:nvSpPr>
          <p:cNvPr id="6" name="">
            <a:extLst xmlns:a="http://schemas.openxmlformats.org/drawingml/2006/main">
              <a:ext uri="{FF2B5EF4-FFF2-40B4-BE49-F238E27FC236}">
                <a16:creationId xmlns:a16="http://schemas.microsoft.com/office/drawing/2014/main" id="{E21706D5-AA6A-44DD-B05B-9854EC064805}"/>
              </a:ext>
            </a:extLst>
          </p:cNvPr>
          <p:cNvSpPr>
            <a:spLocks xmlns:a="http://schemas.openxmlformats.org/drawingml/2006/main" noGrp="1"/>
          </p:cNvSpPr>
          <p:nvPr/>
        </p:nvSpPr>
        <p:spPr>
          <a:xfrm xmlns:a="http://schemas.openxmlformats.org/drawingml/2006/main">
            <a:off x="609600" y="4895850"/>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07E83"/>
                </a:solidFill>
                <a:latin typeface="Arial"/>
                <a:ea typeface="Arial"/>
                <a:cs typeface="Arial"/>
              </a:defRPr>
            </a:defPPr>
            <a:lvl1pPr>
              <a:defRPr sz="2025" b="1">
                <a:solidFill>
                  <a:srgbClr val="007E83"/>
                </a:solidFill>
                <a:latin typeface="Arial"/>
                <a:ea typeface="Arial"/>
                <a:cs typeface="Arial"/>
              </a:defRPr>
            </a:lvl1pPr>
            <a:lvl2pPr>
              <a:defRPr sz="2025" b="1">
                <a:solidFill>
                  <a:srgbClr val="007E83"/>
                </a:solidFill>
                <a:latin typeface="Arial"/>
                <a:ea typeface="Arial"/>
                <a:cs typeface="Arial"/>
              </a:defRPr>
            </a:lvl2pPr>
            <a:lvl3pPr>
              <a:defRPr sz="2025" b="1">
                <a:solidFill>
                  <a:srgbClr val="007E83"/>
                </a:solidFill>
                <a:latin typeface="Arial"/>
                <a:ea typeface="Arial"/>
                <a:cs typeface="Arial"/>
              </a:defRPr>
            </a:lvl3pPr>
            <a:lvl4pPr>
              <a:defRPr sz="2025" b="1">
                <a:solidFill>
                  <a:srgbClr val="007E83"/>
                </a:solidFill>
                <a:latin typeface="Arial"/>
                <a:ea typeface="Arial"/>
                <a:cs typeface="Arial"/>
              </a:defRPr>
            </a:lvl4pPr>
            <a:lvl5pPr>
              <a:defRPr sz="2025" b="1">
                <a:solidFill>
                  <a:srgbClr val="007E83"/>
                </a:solidFill>
                <a:latin typeface="Arial"/>
                <a:ea typeface="Arial"/>
                <a:cs typeface="Arial"/>
              </a:defRPr>
            </a:lvl5pPr>
            <a:lvl6pPr>
              <a:defRPr sz="2025" b="1">
                <a:solidFill>
                  <a:srgbClr val="007E83"/>
                </a:solidFill>
                <a:latin typeface="Arial"/>
                <a:ea typeface="Arial"/>
                <a:cs typeface="Arial"/>
              </a:defRPr>
            </a:lvl6pPr>
            <a:lvl7pPr>
              <a:defRPr sz="2025" b="1">
                <a:solidFill>
                  <a:srgbClr val="007E83"/>
                </a:solidFill>
                <a:latin typeface="Arial"/>
                <a:ea typeface="Arial"/>
                <a:cs typeface="Arial"/>
              </a:defRPr>
            </a:lvl7pPr>
            <a:lvl8pPr>
              <a:defRPr sz="2025" b="1">
                <a:solidFill>
                  <a:srgbClr val="007E83"/>
                </a:solidFill>
                <a:latin typeface="Arial"/>
                <a:ea typeface="Arial"/>
                <a:cs typeface="Arial"/>
              </a:defRPr>
            </a:lvl8pPr>
            <a:lvl9pPr>
              <a:defRPr sz="2025" b="1">
                <a:solidFill>
                  <a:srgbClr val="007E83"/>
                </a:solidFill>
                <a:latin typeface="Arial"/>
                <a:ea typeface="Arial"/>
                <a:cs typeface="Arial"/>
              </a:defRPr>
            </a:lvl9pPr>
          </a:lstStyle>
          <a:p xmlns:a="http://schemas.openxmlformats.org/drawingml/2006/main">
            <a:pPr>
              <a:defRPr sz="2025" b="1">
                <a:solidFill>
                  <a:srgbClr val="007E83"/>
                </a:solidFill>
                <a:latin typeface="Arial"/>
                <a:ea typeface="Arial"/>
                <a:cs typeface="Arial"/>
              </a:defRPr>
            </a:pPr>
            <a:r>
              <a:rPr sz="2025" b="1">
                <a:solidFill>
                  <a:srgbClr val="007E83"/>
                </a:solidFill>
                <a:latin typeface="Arial"/>
                <a:ea typeface="Arial"/>
                <a:cs typeface="Arial"/>
              </a:rPr>
              <a:t>Progress = clamp((raw − no-op raw) / (1 − no-op raw), 0, 1)</a:t>
            </a:r>
          </a:p>
        </p:txBody>
      </p:sp>
      <p:sp>
        <p:nvSpPr>
          <p:cNvPr id="7" name="">
            <a:extLst xmlns:a="http://schemas.openxmlformats.org/drawingml/2006/main">
              <a:ext uri="{FF2B5EF4-FFF2-40B4-BE49-F238E27FC236}">
                <a16:creationId xmlns:a16="http://schemas.microsoft.com/office/drawing/2014/main" id="{C48C90F7-5F0E-4EC0-B2F7-D7F6E7305723}"/>
              </a:ext>
            </a:extLst>
          </p:cNvPr>
          <p:cNvSpPr>
            <a:spLocks xmlns:a="http://schemas.openxmlformats.org/drawingml/2006/main" noGrp="1"/>
          </p:cNvSpPr>
          <p:nvPr/>
        </p:nvSpPr>
        <p:spPr>
          <a:xfrm xmlns:a="http://schemas.openxmlformats.org/drawingml/2006/main">
            <a:off x="609600" y="563880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93447"/>
                </a:solidFill>
                <a:latin typeface="Arial"/>
                <a:ea typeface="Arial"/>
                <a:cs typeface="Arial"/>
              </a:defRPr>
            </a:defPPr>
            <a:lvl1pPr>
              <a:defRPr sz="1800" b="0">
                <a:solidFill>
                  <a:srgbClr val="193447"/>
                </a:solidFill>
                <a:latin typeface="Arial"/>
                <a:ea typeface="Arial"/>
                <a:cs typeface="Arial"/>
              </a:defRPr>
            </a:lvl1pPr>
            <a:lvl2pPr>
              <a:defRPr sz="1800" b="0">
                <a:solidFill>
                  <a:srgbClr val="193447"/>
                </a:solidFill>
                <a:latin typeface="Arial"/>
                <a:ea typeface="Arial"/>
                <a:cs typeface="Arial"/>
              </a:defRPr>
            </a:lvl2pPr>
            <a:lvl3pPr>
              <a:defRPr sz="1800" b="0">
                <a:solidFill>
                  <a:srgbClr val="193447"/>
                </a:solidFill>
                <a:latin typeface="Arial"/>
                <a:ea typeface="Arial"/>
                <a:cs typeface="Arial"/>
              </a:defRPr>
            </a:lvl3pPr>
            <a:lvl4pPr>
              <a:defRPr sz="1800" b="0">
                <a:solidFill>
                  <a:srgbClr val="193447"/>
                </a:solidFill>
                <a:latin typeface="Arial"/>
                <a:ea typeface="Arial"/>
                <a:cs typeface="Arial"/>
              </a:defRPr>
            </a:lvl4pPr>
            <a:lvl5pPr>
              <a:defRPr sz="1800" b="0">
                <a:solidFill>
                  <a:srgbClr val="193447"/>
                </a:solidFill>
                <a:latin typeface="Arial"/>
                <a:ea typeface="Arial"/>
                <a:cs typeface="Arial"/>
              </a:defRPr>
            </a:lvl5pPr>
            <a:lvl6pPr>
              <a:defRPr sz="1800" b="0">
                <a:solidFill>
                  <a:srgbClr val="193447"/>
                </a:solidFill>
                <a:latin typeface="Arial"/>
                <a:ea typeface="Arial"/>
                <a:cs typeface="Arial"/>
              </a:defRPr>
            </a:lvl6pPr>
            <a:lvl7pPr>
              <a:defRPr sz="1800" b="0">
                <a:solidFill>
                  <a:srgbClr val="193447"/>
                </a:solidFill>
                <a:latin typeface="Arial"/>
                <a:ea typeface="Arial"/>
                <a:cs typeface="Arial"/>
              </a:defRPr>
            </a:lvl7pPr>
            <a:lvl8pPr>
              <a:defRPr sz="1800" b="0">
                <a:solidFill>
                  <a:srgbClr val="193447"/>
                </a:solidFill>
                <a:latin typeface="Arial"/>
                <a:ea typeface="Arial"/>
                <a:cs typeface="Arial"/>
              </a:defRPr>
            </a:lvl8pPr>
            <a:lvl9pPr>
              <a:defRPr sz="1800" b="0">
                <a:solidFill>
                  <a:srgbClr val="193447"/>
                </a:solidFill>
                <a:latin typeface="Arial"/>
                <a:ea typeface="Arial"/>
                <a:cs typeface="Arial"/>
              </a:defRPr>
            </a:lvl9pPr>
          </a:lstStyle>
          <a:p xmlns:a="http://schemas.openxmlformats.org/drawingml/2006/main">
            <a:pPr>
              <a:defRPr sz="1800" b="0">
                <a:solidFill>
                  <a:srgbClr val="193447"/>
                </a:solidFill>
                <a:latin typeface="Arial"/>
                <a:ea typeface="Arial"/>
                <a:cs typeface="Arial"/>
              </a:defRPr>
            </a:pPr>
            <a:r>
              <a:rPr sz="1800" b="0">
                <a:solidFill>
                  <a:srgbClr val="193447"/>
                </a:solidFill>
                <a:latin typeface="Arial"/>
                <a:ea typeface="Arial"/>
                <a:cs typeface="Arial"/>
              </a:rPr>
              <a:t>Every required check must pass. Fixed integration ticks remove timing artifacts.</a:t>
            </a:r>
          </a:p>
        </p:txBody>
      </p:sp>
    </p:spTree>
    <p:extLst>
      <p:ext uri="{BB962C8B-B14F-4D97-AF65-F5344CB8AC3E}">
        <p14:creationId xmlns:p14="http://schemas.microsoft.com/office/powerpoint/2010/main" val="87765461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A1DCFC2-56B2-4752-862C-CA95B7A8E8C8}"/>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TRUST BOUNDARIES</a:t>
            </a:r>
          </a:p>
        </p:txBody>
      </p:sp>
      <p:sp>
        <p:nvSpPr>
          <p:cNvPr id="2" name="">
            <a:extLst xmlns:a="http://schemas.openxmlformats.org/drawingml/2006/main">
              <a:ext uri="{FF2B5EF4-FFF2-40B4-BE49-F238E27FC236}">
                <a16:creationId xmlns:a16="http://schemas.microsoft.com/office/drawing/2014/main" id="{D4DE117C-3B1E-4D7D-BF9E-DE7EFEEE160D}"/>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Separate processes protect scoring and mission facts</a:t>
            </a:r>
          </a:p>
        </p:txBody>
      </p:sp>
      <p:sp>
        <p:nvSpPr>
          <p:cNvPr id="3" name="">
            <a:extLst xmlns:a="http://schemas.openxmlformats.org/drawingml/2006/main">
              <a:ext uri="{FF2B5EF4-FFF2-40B4-BE49-F238E27FC236}">
                <a16:creationId xmlns:a16="http://schemas.microsoft.com/office/drawing/2014/main" id="{70520448-888F-4B9D-908D-D3376D7275B8}"/>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98CEF75A-5671-4367-BA87-F366E9FFCFA7}"/>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06</a:t>
            </a:r>
          </a:p>
        </p:txBody>
      </p:sp>
      <p:graphicFrame>
        <p:nvGraphicFramePr>
          <p:cNvPr id="5" name="">
            <a:extLst xmlns:a="http://schemas.openxmlformats.org/drawingml/2006/main">
              <a:ext uri="{FF2B5EF4-FFF2-40B4-BE49-F238E27FC236}">
                <a16:creationId xmlns:a16="http://schemas.microsoft.com/office/drawing/2014/main" id="{602D7FF9-F878-49B8-AA39-244DEDD88F1C}"/>
              </a:ext>
            </a:extLst>
          </p:cNvPr>
          <p:cNvGraphicFramePr/>
          <p:nvPr/>
        </p:nvGraphicFramePr>
        <p:xfrm>
          <a:off xmlns:a="http://schemas.openxmlformats.org/drawingml/2006/main" x="609600" y="2076450"/>
          <a:ext xmlns:a="http://schemas.openxmlformats.org/drawingml/2006/main" cx="10972800" cy="3295650"/>
        </p:xfrm>
        <a:graphic xmlns:a="http://schemas.openxmlformats.org/drawingml/2006/main">
          <a:graphicData uri="http://schemas.openxmlformats.org/drawingml/2006/table">
            <a:tbl>
              <a:tblPr/>
              <a:tblGrid>
                <a:gridCol w="2428875"/>
                <a:gridCol w="4000500"/>
                <a:gridCol w="4543425"/>
              </a:tblGrid>
              <a:tr h="823913">
                <a:tc>
                  <a:txBody>
                    <a:bodyPr/>
                    <a:lstStyle/>
                    <a:p>
                      <a:r>
                        <a:rPr sz="1500" b="1">
                          <a:solidFill>
                            <a:srgbClr val="FFFFFF"/>
                          </a:solidFill>
                          <a:latin typeface="Arial"/>
                          <a:ea typeface="Arial"/>
                          <a:cs typeface="Arial"/>
                        </a:rPr>
                        <a:t>Boundary</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Authority</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Protection</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823913">
                <a:tc>
                  <a:txBody>
                    <a:bodyPr/>
                    <a:lstStyle/>
                    <a:p>
                      <a:r>
                        <a:rPr sz="1725" b="0">
                          <a:solidFill>
                            <a:srgbClr val="193447"/>
                          </a:solidFill>
                          <a:latin typeface="Arial"/>
                          <a:ea typeface="Arial"/>
                          <a:cs typeface="Arial"/>
                        </a:rPr>
                        <a:t>Harness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Verifier, reward, mission truth</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Separate container</a:t>
                      </a:r>
                    </a:p>
                    <a:p>
                      <a:r>
                        <a:rPr sz="1725" b="0">
                          <a:solidFill>
                            <a:srgbClr val="193447"/>
                          </a:solidFill>
                          <a:latin typeface="Arial"/>
                          <a:ea typeface="Arial"/>
                          <a:cs typeface="Arial"/>
                        </a:rPr>
                        <a:t>Authenticated controls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823913">
                <a:tc>
                  <a:txBody>
                    <a:bodyPr/>
                    <a:lstStyle/>
                    <a:p>
                      <a:r>
                        <a:rPr sz="1725" b="0">
                          <a:solidFill>
                            <a:srgbClr val="193447"/>
                          </a:solidFill>
                          <a:latin typeface="Arial"/>
                          <a:ea typeface="Arial"/>
                          <a:cs typeface="Arial"/>
                        </a:rPr>
                        <a:t>Agent worker</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Workspace repairs and tools</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UID 1001, no outbound route</a:t>
                      </a:r>
                    </a:p>
                    <a:p>
                      <a:r>
                        <a:rPr sz="1725" b="0">
                          <a:solidFill>
                            <a:srgbClr val="193447"/>
                          </a:solidFill>
                          <a:latin typeface="Arial"/>
                          <a:ea typeface="Arial"/>
                          <a:cs typeface="Arial"/>
                        </a:rPr>
                        <a:t>Read-only root and resource limits</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823913">
                <a:tc>
                  <a:txBody>
                    <a:bodyPr/>
                    <a:lstStyle/>
                    <a:p>
                      <a:r>
                        <a:rPr sz="1725" b="0">
                          <a:solidFill>
                            <a:srgbClr val="193447"/>
                          </a:solidFill>
                          <a:latin typeface="Arial"/>
                          <a:ea typeface="Arial"/>
                          <a:cs typeface="Arial"/>
                        </a:rPr>
                        <a:t>Behavioral evaluator</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Runs candidate calculation scripts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UID 1002, bounded fixtures</a:t>
                      </a:r>
                    </a:p>
                    <a:p>
                      <a:r>
                        <a:rPr sz="1725" b="0">
                          <a:solidFill>
                            <a:srgbClr val="193447"/>
                          </a:solidFill>
                          <a:latin typeface="Arial"/>
                          <a:ea typeface="Arial"/>
                          <a:cs typeface="Arial"/>
                        </a:rPr>
                        <a:t>Worker cleanup between calls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bl>
          </a:graphicData>
        </a:graphic>
      </p:graphicFrame>
      <p:sp>
        <p:nvSpPr>
          <p:cNvPr id="6" name="">
            <a:extLst xmlns:a="http://schemas.openxmlformats.org/drawingml/2006/main">
              <a:ext uri="{FF2B5EF4-FFF2-40B4-BE49-F238E27FC236}">
                <a16:creationId xmlns:a16="http://schemas.microsoft.com/office/drawing/2014/main" id="{5ACD9B14-A389-41DC-AB62-196538DF342F}"/>
              </a:ext>
            </a:extLst>
          </p:cNvPr>
          <p:cNvSpPr>
            <a:spLocks xmlns:a="http://schemas.openxmlformats.org/drawingml/2006/main" noGrp="1"/>
          </p:cNvSpPr>
          <p:nvPr/>
        </p:nvSpPr>
        <p:spPr>
          <a:xfrm xmlns:a="http://schemas.openxmlformats.org/drawingml/2006/main">
            <a:off x="609600" y="57054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07E83"/>
                </a:solidFill>
                <a:latin typeface="Arial"/>
                <a:ea typeface="Arial"/>
                <a:cs typeface="Arial"/>
              </a:defRPr>
            </a:defPPr>
            <a:lvl1pPr>
              <a:defRPr sz="1875" b="1">
                <a:solidFill>
                  <a:srgbClr val="007E83"/>
                </a:solidFill>
                <a:latin typeface="Arial"/>
                <a:ea typeface="Arial"/>
                <a:cs typeface="Arial"/>
              </a:defRPr>
            </a:lvl1pPr>
            <a:lvl2pPr>
              <a:defRPr sz="1875" b="1">
                <a:solidFill>
                  <a:srgbClr val="007E83"/>
                </a:solidFill>
                <a:latin typeface="Arial"/>
                <a:ea typeface="Arial"/>
                <a:cs typeface="Arial"/>
              </a:defRPr>
            </a:lvl2pPr>
            <a:lvl3pPr>
              <a:defRPr sz="1875" b="1">
                <a:solidFill>
                  <a:srgbClr val="007E83"/>
                </a:solidFill>
                <a:latin typeface="Arial"/>
                <a:ea typeface="Arial"/>
                <a:cs typeface="Arial"/>
              </a:defRPr>
            </a:lvl3pPr>
            <a:lvl4pPr>
              <a:defRPr sz="1875" b="1">
                <a:solidFill>
                  <a:srgbClr val="007E83"/>
                </a:solidFill>
                <a:latin typeface="Arial"/>
                <a:ea typeface="Arial"/>
                <a:cs typeface="Arial"/>
              </a:defRPr>
            </a:lvl4pPr>
            <a:lvl5pPr>
              <a:defRPr sz="1875" b="1">
                <a:solidFill>
                  <a:srgbClr val="007E83"/>
                </a:solidFill>
                <a:latin typeface="Arial"/>
                <a:ea typeface="Arial"/>
                <a:cs typeface="Arial"/>
              </a:defRPr>
            </a:lvl5pPr>
            <a:lvl6pPr>
              <a:defRPr sz="1875" b="1">
                <a:solidFill>
                  <a:srgbClr val="007E83"/>
                </a:solidFill>
                <a:latin typeface="Arial"/>
                <a:ea typeface="Arial"/>
                <a:cs typeface="Arial"/>
              </a:defRPr>
            </a:lvl6pPr>
            <a:lvl7pPr>
              <a:defRPr sz="1875" b="1">
                <a:solidFill>
                  <a:srgbClr val="007E83"/>
                </a:solidFill>
                <a:latin typeface="Arial"/>
                <a:ea typeface="Arial"/>
                <a:cs typeface="Arial"/>
              </a:defRPr>
            </a:lvl7pPr>
            <a:lvl8pPr>
              <a:defRPr sz="1875" b="1">
                <a:solidFill>
                  <a:srgbClr val="007E83"/>
                </a:solidFill>
                <a:latin typeface="Arial"/>
                <a:ea typeface="Arial"/>
                <a:cs typeface="Arial"/>
              </a:defRPr>
            </a:lvl8pPr>
            <a:lvl9pPr>
              <a:defRPr sz="1875" b="1">
                <a:solidFill>
                  <a:srgbClr val="007E83"/>
                </a:solidFill>
                <a:latin typeface="Arial"/>
                <a:ea typeface="Arial"/>
                <a:cs typeface="Arial"/>
              </a:defRPr>
            </a:lvl9pPr>
          </a:lstStyle>
          <a:p xmlns:a="http://schemas.openxmlformats.org/drawingml/2006/main">
            <a:pPr>
              <a:defRPr sz="1875" b="1">
                <a:solidFill>
                  <a:srgbClr val="007E83"/>
                </a:solidFill>
                <a:latin typeface="Arial"/>
                <a:ea typeface="Arial"/>
                <a:cs typeface="Arial"/>
              </a:defRPr>
            </a:pPr>
            <a:r>
              <a:rPr sz="1875" b="1">
                <a:solidFill>
                  <a:srgbClr val="007E83"/>
                </a:solidFill>
                <a:latin typeface="Arial"/>
                <a:ea typeface="Arial"/>
                <a:cs typeface="Arial"/>
              </a:rPr>
              <a:t>Docker and the host kernel remain part of the trust boundary.</a:t>
            </a:r>
          </a:p>
        </p:txBody>
      </p:sp>
    </p:spTree>
    <p:extLst>
      <p:ext uri="{BB962C8B-B14F-4D97-AF65-F5344CB8AC3E}">
        <p14:creationId xmlns:p14="http://schemas.microsoft.com/office/powerpoint/2010/main" val="17884616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8810DE1-1C38-4189-9A83-CE92FAB8603A}"/>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ADVERSARIAL EVIDENCE</a:t>
            </a:r>
          </a:p>
        </p:txBody>
      </p:sp>
      <p:sp>
        <p:nvSpPr>
          <p:cNvPr id="2" name="">
            <a:extLst xmlns:a="http://schemas.openxmlformats.org/drawingml/2006/main">
              <a:ext uri="{FF2B5EF4-FFF2-40B4-BE49-F238E27FC236}">
                <a16:creationId xmlns:a16="http://schemas.microsoft.com/office/drawing/2014/main" id="{EEE97B09-5ACD-407F-91AB-2AE877C7293D}"/>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Six executed probes fail the success checks</a:t>
            </a:r>
          </a:p>
        </p:txBody>
      </p:sp>
      <p:sp>
        <p:nvSpPr>
          <p:cNvPr id="3" name="">
            <a:extLst xmlns:a="http://schemas.openxmlformats.org/drawingml/2006/main">
              <a:ext uri="{FF2B5EF4-FFF2-40B4-BE49-F238E27FC236}">
                <a16:creationId xmlns:a16="http://schemas.microsoft.com/office/drawing/2014/main" id="{E40B87AB-CA82-4241-BAE7-956FDE6C8C00}"/>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99CC2EA7-D73B-4594-AB0F-EB96A83B244F}"/>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07</a:t>
            </a:r>
          </a:p>
        </p:txBody>
      </p:sp>
      <p:graphicFrame>
        <p:nvGraphicFramePr>
          <p:cNvPr id="5" name="">
            <a:extLst xmlns:a="http://schemas.openxmlformats.org/drawingml/2006/main">
              <a:ext uri="{FF2B5EF4-FFF2-40B4-BE49-F238E27FC236}">
                <a16:creationId xmlns:a16="http://schemas.microsoft.com/office/drawing/2014/main" id="{CE2F88A4-18F1-416D-A4CF-812869542309}"/>
              </a:ext>
            </a:extLst>
          </p:cNvPr>
          <p:cNvGraphicFramePr/>
          <p:nvPr/>
        </p:nvGraphicFramePr>
        <p:xfrm>
          <a:off xmlns:a="http://schemas.openxmlformats.org/drawingml/2006/main" x="609600" y="2000250"/>
          <a:ext xmlns:a="http://schemas.openxmlformats.org/drawingml/2006/main" cx="10972800" cy="3609975"/>
        </p:xfrm>
        <a:graphic xmlns:a="http://schemas.openxmlformats.org/drawingml/2006/main">
          <a:graphicData uri="http://schemas.openxmlformats.org/drawingml/2006/table">
            <a:tbl>
              <a:tblPr/>
              <a:tblGrid>
                <a:gridCol w="6381750"/>
                <a:gridCol w="1962150"/>
                <a:gridCol w="2628900"/>
              </a:tblGrid>
              <a:tr h="515711">
                <a:tc>
                  <a:txBody>
                    <a:bodyPr/>
                    <a:lstStyle/>
                    <a:p>
                      <a:r>
                        <a:rPr sz="1500" b="1">
                          <a:solidFill>
                            <a:srgbClr val="FFFFFF"/>
                          </a:solidFill>
                          <a:latin typeface="Arial"/>
                          <a:ea typeface="Arial"/>
                          <a:cs typeface="Arial"/>
                        </a:rPr>
                        <a:t>Executed probe</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Reward</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Outcome</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515711">
                <a:tc>
                  <a:txBody>
                    <a:bodyPr/>
                    <a:lstStyle/>
                    <a:p>
                      <a:r>
                        <a:rPr sz="1725" b="0">
                          <a:solidFill>
                            <a:srgbClr val="193447"/>
                          </a:solidFill>
                          <a:latin typeface="Arial"/>
                          <a:ea typeface="Arial"/>
                          <a:cs typeface="Arial"/>
                        </a:rPr>
                        <a:t>Relaxed pointing target</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0.800</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failure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515711">
                <a:tc>
                  <a:txBody>
                    <a:bodyPr/>
                    <a:lstStyle/>
                    <a:p>
                      <a:r>
                        <a:rPr sz="1725" b="0">
                          <a:solidFill>
                            <a:srgbClr val="193447"/>
                          </a:solidFill>
                          <a:latin typeface="Arial"/>
                          <a:ea typeface="Arial"/>
                          <a:cs typeface="Arial"/>
                        </a:rPr>
                        <a:t>Forged telemetry</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0.000</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failure</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515711">
                <a:tc>
                  <a:txBody>
                    <a:bodyPr/>
                    <a:lstStyle/>
                    <a:p>
                      <a:r>
                        <a:rPr sz="1725" b="0">
                          <a:solidFill>
                            <a:srgbClr val="193447"/>
                          </a:solidFill>
                          <a:latin typeface="Arial"/>
                          <a:ea typeface="Arial"/>
                          <a:cs typeface="Arial"/>
                        </a:rPr>
                        <a:t>Missed early contact</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0.418</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failure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515711">
                <a:tc>
                  <a:txBody>
                    <a:bodyPr/>
                    <a:lstStyle/>
                    <a:p>
                      <a:r>
                        <a:rPr sz="1725" b="0">
                          <a:solidFill>
                            <a:srgbClr val="193447"/>
                          </a:solidFill>
                          <a:latin typeface="Arial"/>
                          <a:ea typeface="Arial"/>
                          <a:cs typeface="Arial"/>
                        </a:rPr>
                        <a:t>Missed observation</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0.800</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failure</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515711">
                <a:tc>
                  <a:txBody>
                    <a:bodyPr/>
                    <a:lstStyle/>
                    <a:p>
                      <a:r>
                        <a:rPr sz="1725" b="0">
                          <a:solidFill>
                            <a:srgbClr val="193447"/>
                          </a:solidFill>
                          <a:latin typeface="Arial"/>
                          <a:ea typeface="Arial"/>
                          <a:cs typeface="Arial"/>
                        </a:rPr>
                        <a:t>Missed science contact</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0.609</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failure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515711">
                <a:tc>
                  <a:txBody>
                    <a:bodyPr/>
                    <a:lstStyle/>
                    <a:p>
                      <a:r>
                        <a:rPr sz="1725" b="0">
                          <a:solidFill>
                            <a:srgbClr val="193447"/>
                          </a:solidFill>
                          <a:latin typeface="Arial"/>
                          <a:ea typeface="Arial"/>
                          <a:cs typeface="Arial"/>
                        </a:rPr>
                        <a:t>Forged science inventory</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0.521</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failure</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2336FE3F-4D29-4464-B034-7C991229E0CF}"/>
              </a:ext>
            </a:extLst>
          </p:cNvPr>
          <p:cNvSpPr>
            <a:spLocks xmlns:a="http://schemas.openxmlformats.org/drawingml/2006/main" noGrp="1"/>
          </p:cNvSpPr>
          <p:nvPr/>
        </p:nvSpPr>
        <p:spPr>
          <a:xfrm xmlns:a="http://schemas.openxmlformats.org/drawingml/2006/main">
            <a:off x="609600" y="5819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E83"/>
                </a:solidFill>
                <a:latin typeface="Arial"/>
                <a:ea typeface="Arial"/>
                <a:cs typeface="Arial"/>
              </a:defRPr>
            </a:defPPr>
            <a:lvl1pPr>
              <a:defRPr sz="1725" b="1">
                <a:solidFill>
                  <a:srgbClr val="007E83"/>
                </a:solidFill>
                <a:latin typeface="Arial"/>
                <a:ea typeface="Arial"/>
                <a:cs typeface="Arial"/>
              </a:defRPr>
            </a:lvl1pPr>
            <a:lvl2pPr>
              <a:defRPr sz="1725" b="1">
                <a:solidFill>
                  <a:srgbClr val="007E83"/>
                </a:solidFill>
                <a:latin typeface="Arial"/>
                <a:ea typeface="Arial"/>
                <a:cs typeface="Arial"/>
              </a:defRPr>
            </a:lvl2pPr>
            <a:lvl3pPr>
              <a:defRPr sz="1725" b="1">
                <a:solidFill>
                  <a:srgbClr val="007E83"/>
                </a:solidFill>
                <a:latin typeface="Arial"/>
                <a:ea typeface="Arial"/>
                <a:cs typeface="Arial"/>
              </a:defRPr>
            </a:lvl3pPr>
            <a:lvl4pPr>
              <a:defRPr sz="1725" b="1">
                <a:solidFill>
                  <a:srgbClr val="007E83"/>
                </a:solidFill>
                <a:latin typeface="Arial"/>
                <a:ea typeface="Arial"/>
                <a:cs typeface="Arial"/>
              </a:defRPr>
            </a:lvl4pPr>
            <a:lvl5pPr>
              <a:defRPr sz="1725" b="1">
                <a:solidFill>
                  <a:srgbClr val="007E83"/>
                </a:solidFill>
                <a:latin typeface="Arial"/>
                <a:ea typeface="Arial"/>
                <a:cs typeface="Arial"/>
              </a:defRPr>
            </a:lvl5pPr>
            <a:lvl6pPr>
              <a:defRPr sz="1725" b="1">
                <a:solidFill>
                  <a:srgbClr val="007E83"/>
                </a:solidFill>
                <a:latin typeface="Arial"/>
                <a:ea typeface="Arial"/>
                <a:cs typeface="Arial"/>
              </a:defRPr>
            </a:lvl6pPr>
            <a:lvl7pPr>
              <a:defRPr sz="1725" b="1">
                <a:solidFill>
                  <a:srgbClr val="007E83"/>
                </a:solidFill>
                <a:latin typeface="Arial"/>
                <a:ea typeface="Arial"/>
                <a:cs typeface="Arial"/>
              </a:defRPr>
            </a:lvl7pPr>
            <a:lvl8pPr>
              <a:defRPr sz="1725" b="1">
                <a:solidFill>
                  <a:srgbClr val="007E83"/>
                </a:solidFill>
                <a:latin typeface="Arial"/>
                <a:ea typeface="Arial"/>
                <a:cs typeface="Arial"/>
              </a:defRPr>
            </a:lvl8pPr>
            <a:lvl9pPr>
              <a:defRPr sz="1725" b="1">
                <a:solidFill>
                  <a:srgbClr val="007E83"/>
                </a:solidFill>
                <a:latin typeface="Arial"/>
                <a:ea typeface="Arial"/>
                <a:cs typeface="Arial"/>
              </a:defRPr>
            </a:lvl9pPr>
          </a:lstStyle>
          <a:p xmlns:a="http://schemas.openxmlformats.org/drawingml/2006/main">
            <a:pPr>
              <a:defRPr sz="1725" b="1">
                <a:solidFill>
                  <a:srgbClr val="007E83"/>
                </a:solidFill>
                <a:latin typeface="Arial"/>
                <a:ea typeface="Arial"/>
                <a:cs typeface="Arial"/>
              </a:defRPr>
            </a:pPr>
            <a:r>
              <a:rPr sz="1725" b="1">
                <a:solidFill>
                  <a:srgbClr val="007E83"/>
                </a:solidFill>
                <a:latin typeface="Arial"/>
                <a:ea typeface="Arial"/>
                <a:cs typeface="Arial"/>
              </a:rPr>
              <a:t>Writable files cannot redefine protected quotas or manufacture collected data.</a:t>
            </a:r>
          </a:p>
        </p:txBody>
      </p:sp>
    </p:spTree>
    <p:extLst>
      <p:ext uri="{BB962C8B-B14F-4D97-AF65-F5344CB8AC3E}">
        <p14:creationId xmlns:p14="http://schemas.microsoft.com/office/powerpoint/2010/main" val="125193316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39E8434-9DBC-43D6-8CD3-649E30E39360}"/>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FINAL SOURCE EVIDENCE</a:t>
            </a:r>
          </a:p>
        </p:txBody>
      </p:sp>
      <p:sp>
        <p:nvSpPr>
          <p:cNvPr id="2" name="">
            <a:extLst xmlns:a="http://schemas.openxmlformats.org/drawingml/2006/main">
              <a:ext uri="{FF2B5EF4-FFF2-40B4-BE49-F238E27FC236}">
                <a16:creationId xmlns:a16="http://schemas.microsoft.com/office/drawing/2014/main" id="{71AEC104-7B88-486E-BF5E-A9B097019DA3}"/>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Reproducibility and shortcut comparison</a:t>
            </a:r>
          </a:p>
        </p:txBody>
      </p:sp>
      <p:sp>
        <p:nvSpPr>
          <p:cNvPr id="3" name="">
            <a:extLst xmlns:a="http://schemas.openxmlformats.org/drawingml/2006/main">
              <a:ext uri="{FF2B5EF4-FFF2-40B4-BE49-F238E27FC236}">
                <a16:creationId xmlns:a16="http://schemas.microsoft.com/office/drawing/2014/main" id="{E2E1D197-32F9-45CC-BC8B-8154A132FD15}"/>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0FC756AD-B0E7-4C41-8716-505EA62695A5}"/>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08</a:t>
            </a:r>
          </a:p>
        </p:txBody>
      </p:sp>
      <p:sp>
        <p:nvSpPr>
          <p:cNvPr id="5" name="">
            <a:extLst xmlns:a="http://schemas.openxmlformats.org/drawingml/2006/main">
              <a:ext uri="{FF2B5EF4-FFF2-40B4-BE49-F238E27FC236}">
                <a16:creationId xmlns:a16="http://schemas.microsoft.com/office/drawing/2014/main" id="{32EB20E5-771F-4509-96AE-BA6BA58E5E53}"/>
              </a:ext>
            </a:extLst>
          </p:cNvPr>
          <p:cNvSpPr>
            <a:spLocks xmlns:a="http://schemas.openxmlformats.org/drawingml/2006/main" noGrp="1"/>
          </p:cNvSpPr>
          <p:nvPr/>
        </p:nvSpPr>
        <p:spPr>
          <a:xfrm xmlns:a="http://schemas.openxmlformats.org/drawingml/2006/main">
            <a:off x="609600" y="19335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7E83"/>
                </a:solidFill>
                <a:latin typeface="Arial"/>
                <a:ea typeface="Arial"/>
                <a:cs typeface="Arial"/>
              </a:defRPr>
            </a:defPPr>
            <a:lvl1pPr>
              <a:defRPr sz="2100" b="1">
                <a:solidFill>
                  <a:srgbClr val="007E83"/>
                </a:solidFill>
                <a:latin typeface="Arial"/>
                <a:ea typeface="Arial"/>
                <a:cs typeface="Arial"/>
              </a:defRPr>
            </a:lvl1pPr>
            <a:lvl2pPr>
              <a:defRPr sz="2100" b="1">
                <a:solidFill>
                  <a:srgbClr val="007E83"/>
                </a:solidFill>
                <a:latin typeface="Arial"/>
                <a:ea typeface="Arial"/>
                <a:cs typeface="Arial"/>
              </a:defRPr>
            </a:lvl2pPr>
            <a:lvl3pPr>
              <a:defRPr sz="2100" b="1">
                <a:solidFill>
                  <a:srgbClr val="007E83"/>
                </a:solidFill>
                <a:latin typeface="Arial"/>
                <a:ea typeface="Arial"/>
                <a:cs typeface="Arial"/>
              </a:defRPr>
            </a:lvl3pPr>
            <a:lvl4pPr>
              <a:defRPr sz="2100" b="1">
                <a:solidFill>
                  <a:srgbClr val="007E83"/>
                </a:solidFill>
                <a:latin typeface="Arial"/>
                <a:ea typeface="Arial"/>
                <a:cs typeface="Arial"/>
              </a:defRPr>
            </a:lvl4pPr>
            <a:lvl5pPr>
              <a:defRPr sz="2100" b="1">
                <a:solidFill>
                  <a:srgbClr val="007E83"/>
                </a:solidFill>
                <a:latin typeface="Arial"/>
                <a:ea typeface="Arial"/>
                <a:cs typeface="Arial"/>
              </a:defRPr>
            </a:lvl5pPr>
            <a:lvl6pPr>
              <a:defRPr sz="2100" b="1">
                <a:solidFill>
                  <a:srgbClr val="007E83"/>
                </a:solidFill>
                <a:latin typeface="Arial"/>
                <a:ea typeface="Arial"/>
                <a:cs typeface="Arial"/>
              </a:defRPr>
            </a:lvl6pPr>
            <a:lvl7pPr>
              <a:defRPr sz="2100" b="1">
                <a:solidFill>
                  <a:srgbClr val="007E83"/>
                </a:solidFill>
                <a:latin typeface="Arial"/>
                <a:ea typeface="Arial"/>
                <a:cs typeface="Arial"/>
              </a:defRPr>
            </a:lvl7pPr>
            <a:lvl8pPr>
              <a:defRPr sz="2100" b="1">
                <a:solidFill>
                  <a:srgbClr val="007E83"/>
                </a:solidFill>
                <a:latin typeface="Arial"/>
                <a:ea typeface="Arial"/>
                <a:cs typeface="Arial"/>
              </a:defRPr>
            </a:lvl8pPr>
            <a:lvl9pPr>
              <a:defRPr sz="2100" b="1">
                <a:solidFill>
                  <a:srgbClr val="007E83"/>
                </a:solidFill>
                <a:latin typeface="Arial"/>
                <a:ea typeface="Arial"/>
                <a:cs typeface="Arial"/>
              </a:defRPr>
            </a:lvl9pPr>
          </a:lstStyle>
          <a:p xmlns:a="http://schemas.openxmlformats.org/drawingml/2006/main">
            <a:pPr>
              <a:defRPr sz="2100" b="1">
                <a:solidFill>
                  <a:srgbClr val="007E83"/>
                </a:solidFill>
                <a:latin typeface="Arial"/>
                <a:ea typeface="Arial"/>
                <a:cs typeface="Arial"/>
              </a:defRPr>
            </a:pPr>
            <a:r>
              <a:rPr sz="2100" b="1">
                <a:solidFill>
                  <a:srgbClr val="007E83"/>
                </a:solidFill>
                <a:latin typeface="Arial"/>
                <a:ea typeface="Arial"/>
                <a:cs typeface="Arial"/>
              </a:rPr>
              <a:t>114 Linux tests     180 task/seed pairs     12 live isolation checks</a:t>
            </a:r>
          </a:p>
        </p:txBody>
      </p:sp>
      <p:graphicFrame>
        <p:nvGraphicFramePr>
          <p:cNvPr id="6" name="">
            <a:extLst xmlns:a="http://schemas.openxmlformats.org/drawingml/2006/main">
              <a:ext uri="{FF2B5EF4-FFF2-40B4-BE49-F238E27FC236}">
                <a16:creationId xmlns:a16="http://schemas.microsoft.com/office/drawing/2014/main" id="{4D40F79E-9844-4662-B4F3-338ED5DF259F}"/>
              </a:ext>
            </a:extLst>
          </p:cNvPr>
          <p:cNvGraphicFramePr/>
          <p:nvPr/>
        </p:nvGraphicFramePr>
        <p:xfrm>
          <a:off xmlns:a="http://schemas.openxmlformats.org/drawingml/2006/main" x="609600" y="2771775"/>
          <a:ext xmlns:a="http://schemas.openxmlformats.org/drawingml/2006/main" cx="10972800" cy="2638425"/>
        </p:xfrm>
        <a:graphic xmlns:a="http://schemas.openxmlformats.org/drawingml/2006/main">
          <a:graphicData uri="http://schemas.openxmlformats.org/drawingml/2006/table">
            <a:tbl>
              <a:tblPr/>
              <a:tblGrid>
                <a:gridCol w="4048125"/>
                <a:gridCol w="3000375"/>
                <a:gridCol w="3924300"/>
              </a:tblGrid>
              <a:tr h="659606">
                <a:tc>
                  <a:txBody>
                    <a:bodyPr/>
                    <a:lstStyle/>
                    <a:p>
                      <a:r>
                        <a:rPr sz="1500" b="1">
                          <a:solidFill>
                            <a:srgbClr val="FFFFFF"/>
                          </a:solidFill>
                          <a:latin typeface="Arial"/>
                          <a:ea typeface="Arial"/>
                          <a:cs typeface="Arial"/>
                        </a:rPr>
                        <a:t>Scripted policy</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Successes / 45</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Evidence scope</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659606">
                <a:tc>
                  <a:txBody>
                    <a:bodyPr/>
                    <a:lstStyle/>
                    <a:p>
                      <a:r>
                        <a:rPr sz="1725" b="0">
                          <a:solidFill>
                            <a:srgbClr val="193447"/>
                          </a:solidFill>
                          <a:latin typeface="Arial"/>
                          <a:ea typeface="Arial"/>
                          <a:cs typeface="Arial"/>
                        </a:rPr>
                        <a:t>No-op</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0 / 45</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9 tasks × 5 separate seeds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659606">
                <a:tc>
                  <a:txBody>
                    <a:bodyPr/>
                    <a:lstStyle/>
                    <a:p>
                      <a:r>
                        <a:rPr sz="1725" b="0">
                          <a:solidFill>
                            <a:srgbClr val="193447"/>
                          </a:solidFill>
                          <a:latin typeface="Arial"/>
                          <a:ea typeface="Arial"/>
                          <a:cs typeface="Arial"/>
                        </a:rPr>
                        <a:t>Nominal / max radio</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25 / 45 and 20 / 45</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Both fail all 20 hard cases</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659606">
                <a:tc>
                  <a:txBody>
                    <a:bodyPr/>
                    <a:lstStyle/>
                    <a:p>
                      <a:r>
                        <a:rPr sz="1725" b="0">
                          <a:solidFill>
                            <a:srgbClr val="193447"/>
                          </a:solidFill>
                          <a:latin typeface="Arial"/>
                          <a:ea typeface="Arial"/>
                          <a:cs typeface="Arial"/>
                        </a:rPr>
                        <a:t>Privileged reference</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45 / 45</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Feasibility baseline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bl>
          </a:graphicData>
        </a:graphic>
      </p:graphicFrame>
      <p:sp>
        <p:nvSpPr>
          <p:cNvPr id="7" name="">
            <a:extLst xmlns:a="http://schemas.openxmlformats.org/drawingml/2006/main">
              <a:ext uri="{FF2B5EF4-FFF2-40B4-BE49-F238E27FC236}">
                <a16:creationId xmlns:a16="http://schemas.microsoft.com/office/drawing/2014/main" id="{65774FD2-6E39-4100-88AB-3D406E6D26E4}"/>
              </a:ext>
            </a:extLst>
          </p:cNvPr>
          <p:cNvSpPr>
            <a:spLocks xmlns:a="http://schemas.openxmlformats.org/drawingml/2006/main" noGrp="1"/>
          </p:cNvSpPr>
          <p:nvPr/>
        </p:nvSpPr>
        <p:spPr>
          <a:xfrm xmlns:a="http://schemas.openxmlformats.org/drawingml/2006/main">
            <a:off x="609600" y="57340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93447"/>
                </a:solidFill>
                <a:latin typeface="Arial"/>
                <a:ea typeface="Arial"/>
                <a:cs typeface="Arial"/>
              </a:defRPr>
            </a:defPPr>
            <a:lvl1pPr>
              <a:defRPr sz="1725" b="0">
                <a:solidFill>
                  <a:srgbClr val="193447"/>
                </a:solidFill>
                <a:latin typeface="Arial"/>
                <a:ea typeface="Arial"/>
                <a:cs typeface="Arial"/>
              </a:defRPr>
            </a:lvl1pPr>
            <a:lvl2pPr>
              <a:defRPr sz="1725" b="0">
                <a:solidFill>
                  <a:srgbClr val="193447"/>
                </a:solidFill>
                <a:latin typeface="Arial"/>
                <a:ea typeface="Arial"/>
                <a:cs typeface="Arial"/>
              </a:defRPr>
            </a:lvl2pPr>
            <a:lvl3pPr>
              <a:defRPr sz="1725" b="0">
                <a:solidFill>
                  <a:srgbClr val="193447"/>
                </a:solidFill>
                <a:latin typeface="Arial"/>
                <a:ea typeface="Arial"/>
                <a:cs typeface="Arial"/>
              </a:defRPr>
            </a:lvl3pPr>
            <a:lvl4pPr>
              <a:defRPr sz="1725" b="0">
                <a:solidFill>
                  <a:srgbClr val="193447"/>
                </a:solidFill>
                <a:latin typeface="Arial"/>
                <a:ea typeface="Arial"/>
                <a:cs typeface="Arial"/>
              </a:defRPr>
            </a:lvl4pPr>
            <a:lvl5pPr>
              <a:defRPr sz="1725" b="0">
                <a:solidFill>
                  <a:srgbClr val="193447"/>
                </a:solidFill>
                <a:latin typeface="Arial"/>
                <a:ea typeface="Arial"/>
                <a:cs typeface="Arial"/>
              </a:defRPr>
            </a:lvl5pPr>
            <a:lvl6pPr>
              <a:defRPr sz="1725" b="0">
                <a:solidFill>
                  <a:srgbClr val="193447"/>
                </a:solidFill>
                <a:latin typeface="Arial"/>
                <a:ea typeface="Arial"/>
                <a:cs typeface="Arial"/>
              </a:defRPr>
            </a:lvl6pPr>
            <a:lvl7pPr>
              <a:defRPr sz="1725" b="0">
                <a:solidFill>
                  <a:srgbClr val="193447"/>
                </a:solidFill>
                <a:latin typeface="Arial"/>
                <a:ea typeface="Arial"/>
                <a:cs typeface="Arial"/>
              </a:defRPr>
            </a:lvl7pPr>
            <a:lvl8pPr>
              <a:defRPr sz="1725" b="0">
                <a:solidFill>
                  <a:srgbClr val="193447"/>
                </a:solidFill>
                <a:latin typeface="Arial"/>
                <a:ea typeface="Arial"/>
                <a:cs typeface="Arial"/>
              </a:defRPr>
            </a:lvl8pPr>
            <a:lvl9pPr>
              <a:defRPr sz="1725" b="0">
                <a:solidFill>
                  <a:srgbClr val="193447"/>
                </a:solidFill>
                <a:latin typeface="Arial"/>
                <a:ea typeface="Arial"/>
                <a:cs typeface="Arial"/>
              </a:defRPr>
            </a:lvl9pPr>
          </a:lstStyle>
          <a:p xmlns:a="http://schemas.openxmlformats.org/drawingml/2006/main">
            <a:pPr>
              <a:defRPr sz="1725" b="0">
                <a:solidFill>
                  <a:srgbClr val="193447"/>
                </a:solidFill>
                <a:latin typeface="Arial"/>
                <a:ea typeface="Arial"/>
                <a:cs typeface="Arial"/>
              </a:defRPr>
            </a:pPr>
            <a:r>
              <a:rPr sz="1725" b="0">
                <a:solidFill>
                  <a:srgbClr val="193447"/>
                </a:solidFill>
                <a:latin typeface="Arial"/>
                <a:ea typeface="Arial"/>
                <a:cs typeface="Arial"/>
              </a:rPr>
              <a:t>All 9 gates pass. Source and expected build inputs are checked before packaging.</a:t>
            </a:r>
          </a:p>
        </p:txBody>
      </p:sp>
    </p:spTree>
    <p:extLst>
      <p:ext uri="{BB962C8B-B14F-4D97-AF65-F5344CB8AC3E}">
        <p14:creationId xmlns:p14="http://schemas.microsoft.com/office/powerpoint/2010/main" val="41788228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4480B47-1BAA-464E-926B-D8B2A2C9B2CD}"/>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GPT-6-LUNA</a:t>
            </a:r>
          </a:p>
        </p:txBody>
      </p:sp>
      <p:sp>
        <p:nvSpPr>
          <p:cNvPr id="2" name="">
            <a:extLst xmlns:a="http://schemas.openxmlformats.org/drawingml/2006/main">
              <a:ext uri="{FF2B5EF4-FFF2-40B4-BE49-F238E27FC236}">
                <a16:creationId xmlns:a16="http://schemas.microsoft.com/office/drawing/2014/main" id="{535859E0-5AC1-43E5-83ED-95CB961BD250}"/>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Four organizer-model validation attempts</a:t>
            </a:r>
          </a:p>
        </p:txBody>
      </p:sp>
      <p:sp>
        <p:nvSpPr>
          <p:cNvPr id="3" name="">
            <a:extLst xmlns:a="http://schemas.openxmlformats.org/drawingml/2006/main">
              <a:ext uri="{FF2B5EF4-FFF2-40B4-BE49-F238E27FC236}">
                <a16:creationId xmlns:a16="http://schemas.microsoft.com/office/drawing/2014/main" id="{A8D667CC-DE73-47E2-86B6-CFE84435F9B3}"/>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A02F5D2D-070F-4122-A449-951BF17A44B3}"/>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09</a:t>
            </a:r>
          </a:p>
        </p:txBody>
      </p:sp>
      <p:graphicFrame>
        <p:nvGraphicFramePr>
          <p:cNvPr id="5" name="">
            <a:extLst xmlns:a="http://schemas.openxmlformats.org/drawingml/2006/main">
              <a:ext uri="{FF2B5EF4-FFF2-40B4-BE49-F238E27FC236}">
                <a16:creationId xmlns:a16="http://schemas.microsoft.com/office/drawing/2014/main" id="{27A4A070-C544-4EB3-A24B-8EE2CD6E438D}"/>
              </a:ext>
            </a:extLst>
          </p:cNvPr>
          <p:cNvGraphicFramePr/>
          <p:nvPr/>
        </p:nvGraphicFramePr>
        <p:xfrm>
          <a:off xmlns:a="http://schemas.openxmlformats.org/drawingml/2006/main" x="609600" y="2038350"/>
          <a:ext xmlns:a="http://schemas.openxmlformats.org/drawingml/2006/main" cx="10972800" cy="3238500"/>
        </p:xfrm>
        <a:graphic xmlns:a="http://schemas.openxmlformats.org/drawingml/2006/main">
          <a:graphicData uri="http://schemas.openxmlformats.org/drawingml/2006/table">
            <a:tbl>
              <a:tblPr/>
              <a:tblGrid>
                <a:gridCol w="4019550"/>
                <a:gridCol w="3333750"/>
                <a:gridCol w="1238250"/>
                <a:gridCol w="2381250"/>
              </a:tblGrid>
              <a:tr h="647700">
                <a:tc>
                  <a:txBody>
                    <a:bodyPr/>
                    <a:lstStyle/>
                    <a:p>
                      <a:r>
                        <a:rPr sz="1500" b="1">
                          <a:solidFill>
                            <a:srgbClr val="FFFFFF"/>
                          </a:solidFill>
                          <a:latin typeface="Arial"/>
                          <a:ea typeface="Arial"/>
                          <a:cs typeface="Arial"/>
                        </a:rPr>
                        <a:t>Attempt</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Outcome / reward</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Replies</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Harness seconds</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647700">
                <a:tc>
                  <a:txBody>
                    <a:bodyPr/>
                    <a:lstStyle/>
                    <a:p>
                      <a:r>
                        <a:rPr sz="1650" b="0">
                          <a:solidFill>
                            <a:srgbClr val="193447"/>
                          </a:solidFill>
                          <a:latin typeface="Arial"/>
                          <a:ea typeface="Arial"/>
                          <a:cs typeface="Arial"/>
                        </a:rPr>
                        <a:t>EPS Run A, no append</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success / 1</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11</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49.44</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647700">
                <a:tc>
                  <a:txBody>
                    <a:bodyPr/>
                    <a:lstStyle/>
                    <a:p>
                      <a:r>
                        <a:rPr sz="1650" b="0">
                          <a:solidFill>
                            <a:srgbClr val="193447"/>
                          </a:solidFill>
                          <a:latin typeface="Arial"/>
                          <a:ea typeface="Arial"/>
                          <a:cs typeface="Arial"/>
                        </a:rPr>
                        <a:t>Radio energy, seed 101</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success / 1</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11</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58.97</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647700">
                <a:tc>
                  <a:txBody>
                    <a:bodyPr/>
                    <a:lstStyle/>
                    <a:p>
                      <a:r>
                        <a:rPr sz="1650" b="0">
                          <a:solidFill>
                            <a:srgbClr val="193447"/>
                          </a:solidFill>
                          <a:latin typeface="Arial"/>
                          <a:ea typeface="Arial"/>
                          <a:cs typeface="Arial"/>
                        </a:rPr>
                        <a:t>Science, seed 101</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success / 1</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28</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193.68</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647700">
                <a:tc>
                  <a:txBody>
                    <a:bodyPr/>
                    <a:lstStyle/>
                    <a:p>
                      <a:r>
                        <a:rPr sz="1650" b="0">
                          <a:solidFill>
                            <a:srgbClr val="193447"/>
                          </a:solidFill>
                          <a:latin typeface="Arial"/>
                          <a:ea typeface="Arial"/>
                          <a:cs typeface="Arial"/>
                        </a:rPr>
                        <a:t>Observation, seed 101</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failure / 0.8</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12</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94.39</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FD61B803-315B-4A3F-8F33-B84F10C073E4}"/>
              </a:ext>
            </a:extLst>
          </p:cNvPr>
          <p:cNvSpPr>
            <a:spLocks xmlns:a="http://schemas.openxmlformats.org/drawingml/2006/main" noGrp="1"/>
          </p:cNvSpPr>
          <p:nvPr/>
        </p:nvSpPr>
        <p:spPr>
          <a:xfrm xmlns:a="http://schemas.openxmlformats.org/drawingml/2006/main">
            <a:off x="609600" y="56483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07E83"/>
                </a:solidFill>
                <a:latin typeface="Arial"/>
                <a:ea typeface="Arial"/>
                <a:cs typeface="Arial"/>
              </a:defRPr>
            </a:defPPr>
            <a:lvl1pPr>
              <a:defRPr sz="1800" b="1">
                <a:solidFill>
                  <a:srgbClr val="007E83"/>
                </a:solidFill>
                <a:latin typeface="Arial"/>
                <a:ea typeface="Arial"/>
                <a:cs typeface="Arial"/>
              </a:defRPr>
            </a:lvl1pPr>
            <a:lvl2pPr>
              <a:defRPr sz="1800" b="1">
                <a:solidFill>
                  <a:srgbClr val="007E83"/>
                </a:solidFill>
                <a:latin typeface="Arial"/>
                <a:ea typeface="Arial"/>
                <a:cs typeface="Arial"/>
              </a:defRPr>
            </a:lvl2pPr>
            <a:lvl3pPr>
              <a:defRPr sz="1800" b="1">
                <a:solidFill>
                  <a:srgbClr val="007E83"/>
                </a:solidFill>
                <a:latin typeface="Arial"/>
                <a:ea typeface="Arial"/>
                <a:cs typeface="Arial"/>
              </a:defRPr>
            </a:lvl3pPr>
            <a:lvl4pPr>
              <a:defRPr sz="1800" b="1">
                <a:solidFill>
                  <a:srgbClr val="007E83"/>
                </a:solidFill>
                <a:latin typeface="Arial"/>
                <a:ea typeface="Arial"/>
                <a:cs typeface="Arial"/>
              </a:defRPr>
            </a:lvl4pPr>
            <a:lvl5pPr>
              <a:defRPr sz="1800" b="1">
                <a:solidFill>
                  <a:srgbClr val="007E83"/>
                </a:solidFill>
                <a:latin typeface="Arial"/>
                <a:ea typeface="Arial"/>
                <a:cs typeface="Arial"/>
              </a:defRPr>
            </a:lvl5pPr>
            <a:lvl6pPr>
              <a:defRPr sz="1800" b="1">
                <a:solidFill>
                  <a:srgbClr val="007E83"/>
                </a:solidFill>
                <a:latin typeface="Arial"/>
                <a:ea typeface="Arial"/>
                <a:cs typeface="Arial"/>
              </a:defRPr>
            </a:lvl6pPr>
            <a:lvl7pPr>
              <a:defRPr sz="1800" b="1">
                <a:solidFill>
                  <a:srgbClr val="007E83"/>
                </a:solidFill>
                <a:latin typeface="Arial"/>
                <a:ea typeface="Arial"/>
                <a:cs typeface="Arial"/>
              </a:defRPr>
            </a:lvl7pPr>
            <a:lvl8pPr>
              <a:defRPr sz="1800" b="1">
                <a:solidFill>
                  <a:srgbClr val="007E83"/>
                </a:solidFill>
                <a:latin typeface="Arial"/>
                <a:ea typeface="Arial"/>
                <a:cs typeface="Arial"/>
              </a:defRPr>
            </a:lvl8pPr>
            <a:lvl9pPr>
              <a:defRPr sz="1800" b="1">
                <a:solidFill>
                  <a:srgbClr val="007E83"/>
                </a:solidFill>
                <a:latin typeface="Arial"/>
                <a:ea typeface="Arial"/>
                <a:cs typeface="Arial"/>
              </a:defRPr>
            </a:lvl9pPr>
          </a:lstStyle>
          <a:p xmlns:a="http://schemas.openxmlformats.org/drawingml/2006/main">
            <a:pPr>
              <a:defRPr sz="1800" b="1">
                <a:solidFill>
                  <a:srgbClr val="007E83"/>
                </a:solidFill>
                <a:latin typeface="Arial"/>
                <a:ea typeface="Arial"/>
                <a:cs typeface="Arial"/>
              </a:defRPr>
            </a:pPr>
            <a:r>
              <a:rPr sz="1800" b="1">
                <a:solidFill>
                  <a:srgbClr val="007E83"/>
                </a:solidFill>
                <a:latin typeface="Arial"/>
                <a:ea typeface="Arial"/>
                <a:cs typeface="Arial"/>
              </a:rPr>
              <a:t>3 / 4 successful attempts. Full replies, actions and failure reasons are preserved.</a:t>
            </a:r>
          </a:p>
        </p:txBody>
      </p:sp>
    </p:spTree>
    <p:extLst>
      <p:ext uri="{BB962C8B-B14F-4D97-AF65-F5344CB8AC3E}">
        <p14:creationId xmlns:p14="http://schemas.microsoft.com/office/powerpoint/2010/main" val="60048457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4BD8116-7EEE-40C7-B034-468A46D42385}"/>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RUN A AND KNOWN LIMITS</a:t>
            </a:r>
          </a:p>
        </p:txBody>
      </p:sp>
      <p:sp>
        <p:nvSpPr>
          <p:cNvPr id="2" name="">
            <a:extLst xmlns:a="http://schemas.openxmlformats.org/drawingml/2006/main">
              <a:ext uri="{FF2B5EF4-FFF2-40B4-BE49-F238E27FC236}">
                <a16:creationId xmlns:a16="http://schemas.microsoft.com/office/drawing/2014/main" id="{43F8963F-2694-41FD-9220-C0EF2465A96D}"/>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Demo and presentation defense</a:t>
            </a:r>
          </a:p>
        </p:txBody>
      </p:sp>
      <p:sp>
        <p:nvSpPr>
          <p:cNvPr id="3" name="">
            <a:extLst xmlns:a="http://schemas.openxmlformats.org/drawingml/2006/main">
              <a:ext uri="{FF2B5EF4-FFF2-40B4-BE49-F238E27FC236}">
                <a16:creationId xmlns:a16="http://schemas.microsoft.com/office/drawing/2014/main" id="{9FF31412-FA51-415C-A6A6-C843D063D448}"/>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278DFF16-661B-4630-A293-0F2841717AEF}"/>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F8EACF99-8AE6-4620-AD2D-24058E0D224D}"/>
              </a:ext>
            </a:extLst>
          </p:cNvPr>
          <p:cNvSpPr>
            <a:spLocks xmlns:a="http://schemas.openxmlformats.org/drawingml/2006/main" noGrp="1"/>
          </p:cNvSpPr>
          <p:nvPr/>
        </p:nvSpPr>
        <p:spPr>
          <a:xfrm xmlns:a="http://schemas.openxmlformats.org/drawingml/2006/main">
            <a:off x="609600" y="197167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1">
                <a:solidFill>
                  <a:srgbClr val="102539"/>
                </a:solidFill>
                <a:latin typeface="Arial"/>
                <a:ea typeface="Arial"/>
                <a:cs typeface="Arial"/>
              </a:defRPr>
            </a:defPPr>
            <a:lvl1pPr>
              <a:defRPr sz="2700" b="1">
                <a:solidFill>
                  <a:srgbClr val="102539"/>
                </a:solidFill>
                <a:latin typeface="Arial"/>
                <a:ea typeface="Arial"/>
                <a:cs typeface="Arial"/>
              </a:defRPr>
            </a:lvl1pPr>
            <a:lvl2pPr>
              <a:defRPr sz="2700" b="1">
                <a:solidFill>
                  <a:srgbClr val="102539"/>
                </a:solidFill>
                <a:latin typeface="Arial"/>
                <a:ea typeface="Arial"/>
                <a:cs typeface="Arial"/>
              </a:defRPr>
            </a:lvl2pPr>
            <a:lvl3pPr>
              <a:defRPr sz="2700" b="1">
                <a:solidFill>
                  <a:srgbClr val="102539"/>
                </a:solidFill>
                <a:latin typeface="Arial"/>
                <a:ea typeface="Arial"/>
                <a:cs typeface="Arial"/>
              </a:defRPr>
            </a:lvl3pPr>
            <a:lvl4pPr>
              <a:defRPr sz="2700" b="1">
                <a:solidFill>
                  <a:srgbClr val="102539"/>
                </a:solidFill>
                <a:latin typeface="Arial"/>
                <a:ea typeface="Arial"/>
                <a:cs typeface="Arial"/>
              </a:defRPr>
            </a:lvl4pPr>
            <a:lvl5pPr>
              <a:defRPr sz="2700" b="1">
                <a:solidFill>
                  <a:srgbClr val="102539"/>
                </a:solidFill>
                <a:latin typeface="Arial"/>
                <a:ea typeface="Arial"/>
                <a:cs typeface="Arial"/>
              </a:defRPr>
            </a:lvl5pPr>
            <a:lvl6pPr>
              <a:defRPr sz="2700" b="1">
                <a:solidFill>
                  <a:srgbClr val="102539"/>
                </a:solidFill>
                <a:latin typeface="Arial"/>
                <a:ea typeface="Arial"/>
                <a:cs typeface="Arial"/>
              </a:defRPr>
            </a:lvl6pPr>
            <a:lvl7pPr>
              <a:defRPr sz="2700" b="1">
                <a:solidFill>
                  <a:srgbClr val="102539"/>
                </a:solidFill>
                <a:latin typeface="Arial"/>
                <a:ea typeface="Arial"/>
                <a:cs typeface="Arial"/>
              </a:defRPr>
            </a:lvl7pPr>
            <a:lvl8pPr>
              <a:defRPr sz="2700" b="1">
                <a:solidFill>
                  <a:srgbClr val="102539"/>
                </a:solidFill>
                <a:latin typeface="Arial"/>
                <a:ea typeface="Arial"/>
                <a:cs typeface="Arial"/>
              </a:defRPr>
            </a:lvl8pPr>
            <a:lvl9pPr>
              <a:defRPr sz="2700" b="1">
                <a:solidFill>
                  <a:srgbClr val="102539"/>
                </a:solidFill>
                <a:latin typeface="Arial"/>
                <a:ea typeface="Arial"/>
                <a:cs typeface="Arial"/>
              </a:defRPr>
            </a:lvl9pPr>
          </a:lstStyle>
          <a:p xmlns:a="http://schemas.openxmlformats.org/drawingml/2006/main">
            <a:pPr>
              <a:defRPr sz="2700" b="1">
                <a:solidFill>
                  <a:srgbClr val="102539"/>
                </a:solidFill>
                <a:latin typeface="Arial"/>
                <a:ea typeface="Arial"/>
                <a:cs typeface="Arial"/>
              </a:defRPr>
            </a:pPr>
            <a:r>
              <a:rPr sz="2700" b="1">
                <a:solidFill>
                  <a:srgbClr val="102539"/>
                </a:solidFill>
                <a:latin typeface="Arial"/>
                <a:ea typeface="Arial"/>
                <a:cs typeface="Arial"/>
              </a:rPr>
              <a:t>Run A: EPS recovery, seed 0</a:t>
            </a:r>
          </a:p>
        </p:txBody>
      </p:sp>
      <p:sp>
        <p:nvSpPr>
          <p:cNvPr id="6" name="">
            <a:extLst xmlns:a="http://schemas.openxmlformats.org/drawingml/2006/main">
              <a:ext uri="{FF2B5EF4-FFF2-40B4-BE49-F238E27FC236}">
                <a16:creationId xmlns:a16="http://schemas.microsoft.com/office/drawing/2014/main" id="{F2E98F8D-2321-4F6D-B75D-2204443BA08D}"/>
              </a:ext>
            </a:extLst>
          </p:cNvPr>
          <p:cNvSpPr>
            <a:spLocks xmlns:a="http://schemas.openxmlformats.org/drawingml/2006/main" noGrp="1"/>
          </p:cNvSpPr>
          <p:nvPr/>
        </p:nvSpPr>
        <p:spPr>
          <a:xfrm xmlns:a="http://schemas.openxmlformats.org/drawingml/2006/main">
            <a:off x="609600" y="27717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07E83"/>
                </a:solidFill>
                <a:latin typeface="Arial"/>
                <a:ea typeface="Arial"/>
                <a:cs typeface="Arial"/>
              </a:defRPr>
            </a:defPPr>
            <a:lvl1pPr>
              <a:defRPr sz="2025" b="1">
                <a:solidFill>
                  <a:srgbClr val="007E83"/>
                </a:solidFill>
                <a:latin typeface="Arial"/>
                <a:ea typeface="Arial"/>
                <a:cs typeface="Arial"/>
              </a:defRPr>
            </a:lvl1pPr>
            <a:lvl2pPr>
              <a:defRPr sz="2025" b="1">
                <a:solidFill>
                  <a:srgbClr val="007E83"/>
                </a:solidFill>
                <a:latin typeface="Arial"/>
                <a:ea typeface="Arial"/>
                <a:cs typeface="Arial"/>
              </a:defRPr>
            </a:lvl2pPr>
            <a:lvl3pPr>
              <a:defRPr sz="2025" b="1">
                <a:solidFill>
                  <a:srgbClr val="007E83"/>
                </a:solidFill>
                <a:latin typeface="Arial"/>
                <a:ea typeface="Arial"/>
                <a:cs typeface="Arial"/>
              </a:defRPr>
            </a:lvl3pPr>
            <a:lvl4pPr>
              <a:defRPr sz="2025" b="1">
                <a:solidFill>
                  <a:srgbClr val="007E83"/>
                </a:solidFill>
                <a:latin typeface="Arial"/>
                <a:ea typeface="Arial"/>
                <a:cs typeface="Arial"/>
              </a:defRPr>
            </a:lvl4pPr>
            <a:lvl5pPr>
              <a:defRPr sz="2025" b="1">
                <a:solidFill>
                  <a:srgbClr val="007E83"/>
                </a:solidFill>
                <a:latin typeface="Arial"/>
                <a:ea typeface="Arial"/>
                <a:cs typeface="Arial"/>
              </a:defRPr>
            </a:lvl5pPr>
            <a:lvl6pPr>
              <a:defRPr sz="2025" b="1">
                <a:solidFill>
                  <a:srgbClr val="007E83"/>
                </a:solidFill>
                <a:latin typeface="Arial"/>
                <a:ea typeface="Arial"/>
                <a:cs typeface="Arial"/>
              </a:defRPr>
            </a:lvl6pPr>
            <a:lvl7pPr>
              <a:defRPr sz="2025" b="1">
                <a:solidFill>
                  <a:srgbClr val="007E83"/>
                </a:solidFill>
                <a:latin typeface="Arial"/>
                <a:ea typeface="Arial"/>
                <a:cs typeface="Arial"/>
              </a:defRPr>
            </a:lvl7pPr>
            <a:lvl8pPr>
              <a:defRPr sz="2025" b="1">
                <a:solidFill>
                  <a:srgbClr val="007E83"/>
                </a:solidFill>
                <a:latin typeface="Arial"/>
                <a:ea typeface="Arial"/>
                <a:cs typeface="Arial"/>
              </a:defRPr>
            </a:lvl8pPr>
            <a:lvl9pPr>
              <a:defRPr sz="2025" b="1">
                <a:solidFill>
                  <a:srgbClr val="007E83"/>
                </a:solidFill>
                <a:latin typeface="Arial"/>
                <a:ea typeface="Arial"/>
                <a:cs typeface="Arial"/>
              </a:defRPr>
            </a:lvl9pPr>
          </a:lstStyle>
          <a:p xmlns:a="http://schemas.openxmlformats.org/drawingml/2006/main">
            <a:pPr>
              <a:defRPr sz="2025" b="1">
                <a:solidFill>
                  <a:srgbClr val="007E83"/>
                </a:solidFill>
                <a:latin typeface="Arial"/>
                <a:ea typeface="Arial"/>
                <a:cs typeface="Arial"/>
              </a:defRPr>
            </a:pPr>
            <a:r>
              <a:rPr sz="2025" b="1">
                <a:solidFill>
                  <a:srgbClr val="007E83"/>
                </a:solidFill>
                <a:latin typeface="Arial"/>
                <a:ea typeface="Arial"/>
                <a:cs typeface="Arial"/>
              </a:rPr>
              <a:t>success     reward 1     11 replies     49.44 harness seconds</a:t>
            </a:r>
          </a:p>
        </p:txBody>
      </p:sp>
      <p:sp>
        <p:nvSpPr>
          <p:cNvPr id="7" name="">
            <a:extLst xmlns:a="http://schemas.openxmlformats.org/drawingml/2006/main">
              <a:ext uri="{FF2B5EF4-FFF2-40B4-BE49-F238E27FC236}">
                <a16:creationId xmlns:a16="http://schemas.microsoft.com/office/drawing/2014/main" id="{5908DC0F-D616-4BAC-90DE-0741F816D16A}"/>
              </a:ext>
            </a:extLst>
          </p:cNvPr>
          <p:cNvSpPr>
            <a:spLocks xmlns:a="http://schemas.openxmlformats.org/drawingml/2006/main" noGrp="1"/>
          </p:cNvSpPr>
          <p:nvPr/>
        </p:nvSpPr>
        <p:spPr>
          <a:xfrm xmlns:a="http://schemas.openxmlformats.org/drawingml/2006/main">
            <a:off x="609600" y="3781425"/>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02539"/>
                </a:solidFill>
                <a:latin typeface="Arial"/>
                <a:ea typeface="Arial"/>
                <a:cs typeface="Arial"/>
              </a:defRPr>
            </a:defPPr>
            <a:lvl1pPr>
              <a:defRPr sz="2250" b="1">
                <a:solidFill>
                  <a:srgbClr val="102539"/>
                </a:solidFill>
                <a:latin typeface="Arial"/>
                <a:ea typeface="Arial"/>
                <a:cs typeface="Arial"/>
              </a:defRPr>
            </a:lvl1pPr>
            <a:lvl2pPr>
              <a:defRPr sz="2250" b="1">
                <a:solidFill>
                  <a:srgbClr val="102539"/>
                </a:solidFill>
                <a:latin typeface="Arial"/>
                <a:ea typeface="Arial"/>
                <a:cs typeface="Arial"/>
              </a:defRPr>
            </a:lvl2pPr>
            <a:lvl3pPr>
              <a:defRPr sz="2250" b="1">
                <a:solidFill>
                  <a:srgbClr val="102539"/>
                </a:solidFill>
                <a:latin typeface="Arial"/>
                <a:ea typeface="Arial"/>
                <a:cs typeface="Arial"/>
              </a:defRPr>
            </a:lvl3pPr>
            <a:lvl4pPr>
              <a:defRPr sz="2250" b="1">
                <a:solidFill>
                  <a:srgbClr val="102539"/>
                </a:solidFill>
                <a:latin typeface="Arial"/>
                <a:ea typeface="Arial"/>
                <a:cs typeface="Arial"/>
              </a:defRPr>
            </a:lvl4pPr>
            <a:lvl5pPr>
              <a:defRPr sz="2250" b="1">
                <a:solidFill>
                  <a:srgbClr val="102539"/>
                </a:solidFill>
                <a:latin typeface="Arial"/>
                <a:ea typeface="Arial"/>
                <a:cs typeface="Arial"/>
              </a:defRPr>
            </a:lvl5pPr>
            <a:lvl6pPr>
              <a:defRPr sz="2250" b="1">
                <a:solidFill>
                  <a:srgbClr val="102539"/>
                </a:solidFill>
                <a:latin typeface="Arial"/>
                <a:ea typeface="Arial"/>
                <a:cs typeface="Arial"/>
              </a:defRPr>
            </a:lvl6pPr>
            <a:lvl7pPr>
              <a:defRPr sz="2250" b="1">
                <a:solidFill>
                  <a:srgbClr val="102539"/>
                </a:solidFill>
                <a:latin typeface="Arial"/>
                <a:ea typeface="Arial"/>
                <a:cs typeface="Arial"/>
              </a:defRPr>
            </a:lvl7pPr>
            <a:lvl8pPr>
              <a:defRPr sz="2250" b="1">
                <a:solidFill>
                  <a:srgbClr val="102539"/>
                </a:solidFill>
                <a:latin typeface="Arial"/>
                <a:ea typeface="Arial"/>
                <a:cs typeface="Arial"/>
              </a:defRPr>
            </a:lvl8pPr>
            <a:lvl9pPr>
              <a:defRPr sz="2250" b="1">
                <a:solidFill>
                  <a:srgbClr val="102539"/>
                </a:solidFill>
                <a:latin typeface="Arial"/>
                <a:ea typeface="Arial"/>
                <a:cs typeface="Arial"/>
              </a:defRPr>
            </a:lvl9pPr>
          </a:lstStyle>
          <a:p xmlns:a="http://schemas.openxmlformats.org/drawingml/2006/main">
            <a:pPr>
              <a:defRPr sz="2250" b="1">
                <a:solidFill>
                  <a:srgbClr val="102539"/>
                </a:solidFill>
                <a:latin typeface="Arial"/>
                <a:ea typeface="Arial"/>
                <a:cs typeface="Arial"/>
              </a:defRPr>
            </a:pPr>
            <a:r>
              <a:rPr sz="2250" b="1">
                <a:solidFill>
                  <a:srgbClr val="102539"/>
                </a:solidFill>
                <a:latin typeface="Arial"/>
                <a:ea typeface="Arial"/>
                <a:cs typeface="Arial"/>
              </a:rPr>
              <a:t>Defensible claims and limits</a:t>
            </a:r>
          </a:p>
        </p:txBody>
      </p:sp>
      <p:sp>
        <p:nvSpPr>
          <p:cNvPr id="8" name="">
            <a:extLst xmlns:a="http://schemas.openxmlformats.org/drawingml/2006/main">
              <a:ext uri="{FF2B5EF4-FFF2-40B4-BE49-F238E27FC236}">
                <a16:creationId xmlns:a16="http://schemas.microsoft.com/office/drawing/2014/main" id="{E491A1C3-C36D-4050-B88B-26066541D2E6}"/>
              </a:ext>
            </a:extLst>
          </p:cNvPr>
          <p:cNvSpPr>
            <a:spLocks xmlns:a="http://schemas.openxmlformats.org/drawingml/2006/main" noGrp="1"/>
          </p:cNvSpPr>
          <p:nvPr/>
        </p:nvSpPr>
        <p:spPr>
          <a:xfrm xmlns:a="http://schemas.openxmlformats.org/drawingml/2006/main">
            <a:off x="609600" y="4400550"/>
            <a:ext cx="109728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93447"/>
                </a:solidFill>
                <a:latin typeface="Arial"/>
                <a:ea typeface="Arial"/>
                <a:cs typeface="Arial"/>
              </a:defRPr>
            </a:defPPr>
            <a:lvl1pPr>
              <a:defRPr sz="1950" b="0">
                <a:solidFill>
                  <a:srgbClr val="193447"/>
                </a:solidFill>
                <a:latin typeface="Arial"/>
                <a:ea typeface="Arial"/>
                <a:cs typeface="Arial"/>
              </a:defRPr>
            </a:lvl1pPr>
            <a:lvl2pPr>
              <a:defRPr sz="1950" b="0">
                <a:solidFill>
                  <a:srgbClr val="193447"/>
                </a:solidFill>
                <a:latin typeface="Arial"/>
                <a:ea typeface="Arial"/>
                <a:cs typeface="Arial"/>
              </a:defRPr>
            </a:lvl2pPr>
            <a:lvl3pPr>
              <a:defRPr sz="1950" b="0">
                <a:solidFill>
                  <a:srgbClr val="193447"/>
                </a:solidFill>
                <a:latin typeface="Arial"/>
                <a:ea typeface="Arial"/>
                <a:cs typeface="Arial"/>
              </a:defRPr>
            </a:lvl3pPr>
            <a:lvl4pPr>
              <a:defRPr sz="1950" b="0">
                <a:solidFill>
                  <a:srgbClr val="193447"/>
                </a:solidFill>
                <a:latin typeface="Arial"/>
                <a:ea typeface="Arial"/>
                <a:cs typeface="Arial"/>
              </a:defRPr>
            </a:lvl4pPr>
            <a:lvl5pPr>
              <a:defRPr sz="1950" b="0">
                <a:solidFill>
                  <a:srgbClr val="193447"/>
                </a:solidFill>
                <a:latin typeface="Arial"/>
                <a:ea typeface="Arial"/>
                <a:cs typeface="Arial"/>
              </a:defRPr>
            </a:lvl5pPr>
            <a:lvl6pPr>
              <a:defRPr sz="1950" b="0">
                <a:solidFill>
                  <a:srgbClr val="193447"/>
                </a:solidFill>
                <a:latin typeface="Arial"/>
                <a:ea typeface="Arial"/>
                <a:cs typeface="Arial"/>
              </a:defRPr>
            </a:lvl6pPr>
            <a:lvl7pPr>
              <a:defRPr sz="1950" b="0">
                <a:solidFill>
                  <a:srgbClr val="193447"/>
                </a:solidFill>
                <a:latin typeface="Arial"/>
                <a:ea typeface="Arial"/>
                <a:cs typeface="Arial"/>
              </a:defRPr>
            </a:lvl7pPr>
            <a:lvl8pPr>
              <a:defRPr sz="1950" b="0">
                <a:solidFill>
                  <a:srgbClr val="193447"/>
                </a:solidFill>
                <a:latin typeface="Arial"/>
                <a:ea typeface="Arial"/>
                <a:cs typeface="Arial"/>
              </a:defRPr>
            </a:lvl8pPr>
            <a:lvl9pPr>
              <a:defRPr sz="1950" b="0">
                <a:solidFill>
                  <a:srgbClr val="193447"/>
                </a:solidFill>
                <a:latin typeface="Arial"/>
                <a:ea typeface="Arial"/>
                <a:cs typeface="Arial"/>
              </a:defRPr>
            </a:lvl9pPr>
          </a:lstStyle>
          <a:p xmlns:a="http://schemas.openxmlformats.org/drawingml/2006/main">
            <a:pPr>
              <a:defRPr sz="1950" b="0">
                <a:solidFill>
                  <a:srgbClr val="193447"/>
                </a:solidFill>
                <a:latin typeface="Arial"/>
                <a:ea typeface="Arial"/>
                <a:cs typeface="Arial"/>
              </a:defRPr>
            </a:pPr>
            <a:r>
              <a:rPr sz="1950" b="0">
                <a:solidFill>
                  <a:srgbClr val="193447"/>
                </a:solidFill>
                <a:latin typeface="Arial"/>
                <a:ea typeface="Arial"/>
                <a:cs typeface="Arial"/>
              </a:rPr>
              <a:t>Coupled planning, deterministic resets, protected causal scoring.</a:t>
            </a:r>
          </a:p>
          <a:p xmlns:a="http://schemas.openxmlformats.org/drawingml/2006/main">
            <a:pPr>
              <a:defRPr sz="1950" b="0">
                <a:solidFill>
                  <a:srgbClr val="193447"/>
                </a:solidFill>
                <a:latin typeface="Arial"/>
                <a:ea typeface="Arial"/>
                <a:cs typeface="Arial"/>
              </a:defRPr>
            </a:pPr>
            <a:r>
              <a:rPr sz="1950" b="0">
                <a:solidFill>
                  <a:srgbClr val="193447"/>
                </a:solidFill>
                <a:latin typeface="Arial"/>
                <a:ea typeface="Arial"/>
                <a:cs typeface="Arial"/>
              </a:rPr>
              <a:t>Simplified physics, finite exploit coverage, one live deployment tested.</a:t>
            </a:r>
          </a:p>
        </p:txBody>
      </p:sp>
      <p:sp>
        <p:nvSpPr>
          <p:cNvPr id="9" name="">
            <a:extLst xmlns:a="http://schemas.openxmlformats.org/drawingml/2006/main">
              <a:ext uri="{FF2B5EF4-FFF2-40B4-BE49-F238E27FC236}">
                <a16:creationId xmlns:a16="http://schemas.microsoft.com/office/drawing/2014/main" id="{CD9A4BC0-565F-4448-94F2-93B1951DE093}"/>
              </a:ext>
            </a:extLst>
          </p:cNvPr>
          <p:cNvSpPr>
            <a:spLocks xmlns:a="http://schemas.openxmlformats.org/drawingml/2006/main" noGrp="1"/>
          </p:cNvSpPr>
          <p:nvPr/>
        </p:nvSpPr>
        <p:spPr>
          <a:xfrm xmlns:a="http://schemas.openxmlformats.org/drawingml/2006/main">
            <a:off x="609600" y="56007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536777"/>
                </a:solidFill>
                <a:latin typeface="Arial"/>
                <a:ea typeface="Arial"/>
                <a:cs typeface="Arial"/>
              </a:defRPr>
            </a:defPPr>
            <a:lvl1pPr>
              <a:defRPr sz="1650" b="0">
                <a:solidFill>
                  <a:srgbClr val="536777"/>
                </a:solidFill>
                <a:latin typeface="Arial"/>
                <a:ea typeface="Arial"/>
                <a:cs typeface="Arial"/>
              </a:defRPr>
            </a:lvl1pPr>
            <a:lvl2pPr>
              <a:defRPr sz="1650" b="0">
                <a:solidFill>
                  <a:srgbClr val="536777"/>
                </a:solidFill>
                <a:latin typeface="Arial"/>
                <a:ea typeface="Arial"/>
                <a:cs typeface="Arial"/>
              </a:defRPr>
            </a:lvl2pPr>
            <a:lvl3pPr>
              <a:defRPr sz="1650" b="0">
                <a:solidFill>
                  <a:srgbClr val="536777"/>
                </a:solidFill>
                <a:latin typeface="Arial"/>
                <a:ea typeface="Arial"/>
                <a:cs typeface="Arial"/>
              </a:defRPr>
            </a:lvl3pPr>
            <a:lvl4pPr>
              <a:defRPr sz="1650" b="0">
                <a:solidFill>
                  <a:srgbClr val="536777"/>
                </a:solidFill>
                <a:latin typeface="Arial"/>
                <a:ea typeface="Arial"/>
                <a:cs typeface="Arial"/>
              </a:defRPr>
            </a:lvl4pPr>
            <a:lvl5pPr>
              <a:defRPr sz="1650" b="0">
                <a:solidFill>
                  <a:srgbClr val="536777"/>
                </a:solidFill>
                <a:latin typeface="Arial"/>
                <a:ea typeface="Arial"/>
                <a:cs typeface="Arial"/>
              </a:defRPr>
            </a:lvl5pPr>
            <a:lvl6pPr>
              <a:defRPr sz="1650" b="0">
                <a:solidFill>
                  <a:srgbClr val="536777"/>
                </a:solidFill>
                <a:latin typeface="Arial"/>
                <a:ea typeface="Arial"/>
                <a:cs typeface="Arial"/>
              </a:defRPr>
            </a:lvl6pPr>
            <a:lvl7pPr>
              <a:defRPr sz="1650" b="0">
                <a:solidFill>
                  <a:srgbClr val="536777"/>
                </a:solidFill>
                <a:latin typeface="Arial"/>
                <a:ea typeface="Arial"/>
                <a:cs typeface="Arial"/>
              </a:defRPr>
            </a:lvl7pPr>
            <a:lvl8pPr>
              <a:defRPr sz="1650" b="0">
                <a:solidFill>
                  <a:srgbClr val="536777"/>
                </a:solidFill>
                <a:latin typeface="Arial"/>
                <a:ea typeface="Arial"/>
                <a:cs typeface="Arial"/>
              </a:defRPr>
            </a:lvl8pPr>
            <a:lvl9pPr>
              <a:defRPr sz="1650" b="0">
                <a:solidFill>
                  <a:srgbClr val="536777"/>
                </a:solidFill>
                <a:latin typeface="Arial"/>
                <a:ea typeface="Arial"/>
                <a:cs typeface="Arial"/>
              </a:defRPr>
            </a:lvl9pPr>
          </a:lstStyle>
          <a:p xmlns:a="http://schemas.openxmlformats.org/drawingml/2006/main">
            <a:pPr>
              <a:defRPr sz="1650" b="0">
                <a:solidFill>
                  <a:srgbClr val="536777"/>
                </a:solidFill>
                <a:latin typeface="Arial"/>
                <a:ea typeface="Arial"/>
                <a:cs typeface="Arial"/>
              </a:defRPr>
            </a:pPr>
            <a:r>
              <a:rPr sz="1650" b="0">
                <a:solidFill>
                  <a:srgbClr val="536777"/>
                </a:solidFill>
                <a:latin typeface="Arial"/>
                <a:ea typeface="Arial"/>
                <a:cs typeface="Arial"/>
              </a:rPr>
              <a:t>Public visibility conflicts with the PS. Access, name case and submission need confirmation.</a:t>
            </a:r>
          </a:p>
        </p:txBody>
      </p:sp>
    </p:spTree>
    <p:extLst>
      <p:ext uri="{BB962C8B-B14F-4D97-AF65-F5344CB8AC3E}">
        <p14:creationId xmlns:p14="http://schemas.microsoft.com/office/powerpoint/2010/main" val="4187039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2026-10-24T21:12:51.5300000Z</dcterms:created>
  <dcterms:modified xsi:type="dcterms:W3CDTF">2026-10-24T21:12:51.5300000Z</dcterms:modified>
</coreProperties>
</file>