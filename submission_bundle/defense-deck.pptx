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c4f80e64be4334" /><Relationship Type="http://schemas.openxmlformats.org/officeDocument/2006/relationships/extended-properties" Target="/docProps/app.xml" Id="R32c1edbdd8ff4334" /><Relationship Type="http://schemas.openxmlformats.org/officeDocument/2006/relationships/officeDocument" Target="/ppt/presentation.xml" Id="Rb19c6a98fab34fca" /></Relationships>
</file>

<file path=ppt/presentation.xml><?xml version="1.0" encoding="utf-8"?>
<p:presentation xmlns:p="http://schemas.openxmlformats.org/presentationml/2006/main">
  <p:sldMasterIdLst>
    <p:sldMasterId xmlns:r="http://schemas.openxmlformats.org/officeDocument/2006/relationships" id="2147483648" r:id="Rd38f03cf38bb4668"/>
  </p:sldMasterIdLst>
  <p:notesMasterIdLst>
    <p:notesMasterId xmlns:r="http://schemas.openxmlformats.org/officeDocument/2006/relationships" r:id="Rf641673ac8884ac7"/>
  </p:notesMasterIdLst>
  <p:sldIdLst>
    <p:sldId xmlns:r="http://schemas.openxmlformats.org/officeDocument/2006/relationships" id="256" r:id="R5f48b557774d46f9"/>
    <p:sldId xmlns:r="http://schemas.openxmlformats.org/officeDocument/2006/relationships" id="257" r:id="R7b2c4efbe1a54994"/>
    <p:sldId xmlns:r="http://schemas.openxmlformats.org/officeDocument/2006/relationships" id="258" r:id="R2bbfbd6f7bd14823"/>
    <p:sldId xmlns:r="http://schemas.openxmlformats.org/officeDocument/2006/relationships" id="259" r:id="R9e8a1dc8bcf349d1"/>
    <p:sldId xmlns:r="http://schemas.openxmlformats.org/officeDocument/2006/relationships" id="260" r:id="Re1821ed1f7034f02"/>
    <p:sldId xmlns:r="http://schemas.openxmlformats.org/officeDocument/2006/relationships" id="261" r:id="R36c322c59501453e"/>
    <p:sldId xmlns:r="http://schemas.openxmlformats.org/officeDocument/2006/relationships" id="262" r:id="R24fa4ebc40d74623"/>
    <p:sldId xmlns:r="http://schemas.openxmlformats.org/officeDocument/2006/relationships" id="263" r:id="R868920d4969840f5"/>
    <p:sldId xmlns:r="http://schemas.openxmlformats.org/officeDocument/2006/relationships" id="264" r:id="Rac5ed012b6234d6e"/>
    <p:sldId xmlns:r="http://schemas.openxmlformats.org/officeDocument/2006/relationships" id="265" r:id="R6797d908f2dd41e1"/>
    <p:sldId xmlns:r="http://schemas.openxmlformats.org/officeDocument/2006/relationships" id="266" r:id="R0e66c25b78d24e82"/>
    <p:sldId xmlns:r="http://schemas.openxmlformats.org/officeDocument/2006/relationships" id="267" r:id="R7ec1a327c1394b65"/>
    <p:sldId xmlns:r="http://schemas.openxmlformats.org/officeDocument/2006/relationships" id="268" r:id="R189702346e2341e8"/>
    <p:sldId xmlns:r="http://schemas.openxmlformats.org/officeDocument/2006/relationships" id="269" r:id="R86c0bfb56b4343ed"/>
    <p:sldId xmlns:r="http://schemas.openxmlformats.org/officeDocument/2006/relationships" id="270" r:id="R98234efc0e2748f9"/>
    <p:sldId xmlns:r="http://schemas.openxmlformats.org/officeDocument/2006/relationships" id="271" r:id="R5f777ed0f79d4631"/>
    <p:sldId xmlns:r="http://schemas.openxmlformats.org/officeDocument/2006/relationships" id="272" r:id="Rf6af93a2e94d421d"/>
    <p:sldId xmlns:r="http://schemas.openxmlformats.org/officeDocument/2006/relationships" id="273" r:id="R82e5a93bd22345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c0ea7ffbaa4d5d" /><Relationship Type="http://schemas.openxmlformats.org/officeDocument/2006/relationships/slideMaster" Target="/ppt/slideMasters/slideMaster1.xml" Id="Rd38f03cf38bb4668" /><Relationship Type="http://schemas.openxmlformats.org/officeDocument/2006/relationships/notesMaster" Target="/ppt/notesMasters/notesMaster1.xml" Id="Rf641673ac8884ac7" /><Relationship Type="http://schemas.openxmlformats.org/officeDocument/2006/relationships/presProps" Target="/ppt/presProps.xml" Id="R9575b3612acc4221" /><Relationship Type="http://schemas.openxmlformats.org/officeDocument/2006/relationships/tableStyles" Target="/ppt/tableStyles.xml" Id="R66b31104309c41e3" /><Relationship Type="http://schemas.openxmlformats.org/officeDocument/2006/relationships/slide" Target="/ppt/slides/slide1.xml" Id="R5f48b557774d46f9" /><Relationship Type="http://schemas.openxmlformats.org/officeDocument/2006/relationships/slide" Target="/ppt/slides/slide2.xml" Id="R7b2c4efbe1a54994" /><Relationship Type="http://schemas.openxmlformats.org/officeDocument/2006/relationships/slide" Target="/ppt/slides/slide3.xml" Id="R2bbfbd6f7bd14823" /><Relationship Type="http://schemas.openxmlformats.org/officeDocument/2006/relationships/slide" Target="/ppt/slides/slide4.xml" Id="R9e8a1dc8bcf349d1" /><Relationship Type="http://schemas.openxmlformats.org/officeDocument/2006/relationships/slide" Target="/ppt/slides/slide5.xml" Id="Re1821ed1f7034f02" /><Relationship Type="http://schemas.openxmlformats.org/officeDocument/2006/relationships/slide" Target="/ppt/slides/slide6.xml" Id="R36c322c59501453e" /><Relationship Type="http://schemas.openxmlformats.org/officeDocument/2006/relationships/slide" Target="/ppt/slides/slide7.xml" Id="R24fa4ebc40d74623" /><Relationship Type="http://schemas.openxmlformats.org/officeDocument/2006/relationships/slide" Target="/ppt/slides/slide8.xml" Id="R868920d4969840f5" /><Relationship Type="http://schemas.openxmlformats.org/officeDocument/2006/relationships/slide" Target="/ppt/slides/slide9.xml" Id="Rac5ed012b6234d6e" /><Relationship Type="http://schemas.openxmlformats.org/officeDocument/2006/relationships/slide" Target="/ppt/slides/slide10.xml" Id="R6797d908f2dd41e1" /><Relationship Type="http://schemas.openxmlformats.org/officeDocument/2006/relationships/slide" Target="/ppt/slides/slide11.xml" Id="R0e66c25b78d24e82" /><Relationship Type="http://schemas.openxmlformats.org/officeDocument/2006/relationships/slide" Target="/ppt/slides/slide12.xml" Id="R7ec1a327c1394b65" /><Relationship Type="http://schemas.openxmlformats.org/officeDocument/2006/relationships/slide" Target="/ppt/slides/slide13.xml" Id="R189702346e2341e8" /><Relationship Type="http://schemas.openxmlformats.org/officeDocument/2006/relationships/slide" Target="/ppt/slides/slide14.xml" Id="R86c0bfb56b4343ed" /><Relationship Type="http://schemas.openxmlformats.org/officeDocument/2006/relationships/slide" Target="/ppt/slides/slide15.xml" Id="R98234efc0e2748f9" /><Relationship Type="http://schemas.openxmlformats.org/officeDocument/2006/relationships/slide" Target="/ppt/slides/slide16.xml" Id="R5f777ed0f79d4631" /><Relationship Type="http://schemas.openxmlformats.org/officeDocument/2006/relationships/slide" Target="/ppt/slides/slide17.xml" Id="Rf6af93a2e94d421d" /><Relationship Type="http://schemas.openxmlformats.org/officeDocument/2006/relationships/slide" Target="/ppt/slides/slide18.xml" Id="R82e5a93bd22345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915317e8b843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45152b69754ca6" /><Relationship Type="http://schemas.openxmlformats.org/officeDocument/2006/relationships/notesMaster" Target="/ppt/notesMasters/notesMaster1.xml" Id="Rafb8800af78947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ae7fd829f46c1" /><Relationship Type="http://schemas.openxmlformats.org/officeDocument/2006/relationships/notesMaster" Target="/ppt/notesMasters/notesMaster1.xml" Id="R2408a203818d41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b4ef3fa7304684" /><Relationship Type="http://schemas.openxmlformats.org/officeDocument/2006/relationships/notesMaster" Target="/ppt/notesMasters/notesMaster1.xml" Id="R5fd7fdd9164846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9cf59df9544764" /><Relationship Type="http://schemas.openxmlformats.org/officeDocument/2006/relationships/notesMaster" Target="/ppt/notesMasters/notesMaster1.xml" Id="Raced7e5cb6ec4f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8a36291ace4b01" /><Relationship Type="http://schemas.openxmlformats.org/officeDocument/2006/relationships/notesMaster" Target="/ppt/notesMasters/notesMaster1.xml" Id="R2375769d6c45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e9b4c2966d44cc" /><Relationship Type="http://schemas.openxmlformats.org/officeDocument/2006/relationships/notesMaster" Target="/ppt/notesMasters/notesMaster1.xml" Id="R0395f465ffd542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f4cf71cfc94808" /><Relationship Type="http://schemas.openxmlformats.org/officeDocument/2006/relationships/notesMaster" Target="/ppt/notesMasters/notesMaster1.xml" Id="Rc5a234f6d55e43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437e3bdbfa4a93" /><Relationship Type="http://schemas.openxmlformats.org/officeDocument/2006/relationships/notesMaster" Target="/ppt/notesMasters/notesMaster1.xml" Id="Rf1aca9821623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802dacee984255" /><Relationship Type="http://schemas.openxmlformats.org/officeDocument/2006/relationships/notesMaster" Target="/ppt/notesMasters/notesMaster1.xml" Id="Rae1a24351e1f47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d8ef23e6794d9b" /><Relationship Type="http://schemas.openxmlformats.org/officeDocument/2006/relationships/notesMaster" Target="/ppt/notesMasters/notesMaster1.xml" Id="Ra64c9db9405540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9da8334be24288" /><Relationship Type="http://schemas.openxmlformats.org/officeDocument/2006/relationships/notesMaster" Target="/ppt/notesMasters/notesMaster1.xml" Id="R3c64fce64ecf40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be0a29a0b04b1e" /><Relationship Type="http://schemas.openxmlformats.org/officeDocument/2006/relationships/notesMaster" Target="/ppt/notesMasters/notesMaster1.xml" Id="R989eb5a021a446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9e34ae5894437b" /><Relationship Type="http://schemas.openxmlformats.org/officeDocument/2006/relationships/notesMaster" Target="/ppt/notesMasters/notesMaster1.xml" Id="R26b35e0c7aad4a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3ce806e7734230" /><Relationship Type="http://schemas.openxmlformats.org/officeDocument/2006/relationships/notesMaster" Target="/ppt/notesMasters/notesMaster1.xml" Id="Rece9ba07e3ef4d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e88a6bf4d6444f" /><Relationship Type="http://schemas.openxmlformats.org/officeDocument/2006/relationships/notesMaster" Target="/ppt/notesMasters/notesMaster1.xml" Id="Redc3c8820f834e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6e6338f1184007" /><Relationship Type="http://schemas.openxmlformats.org/officeDocument/2006/relationships/notesMaster" Target="/ppt/notesMasters/notesMaster1.xml" Id="Rcbb2717561cc41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a05b8c4d1144a5" /><Relationship Type="http://schemas.openxmlformats.org/officeDocument/2006/relationships/notesMaster" Target="/ppt/notesMasters/notesMaster1.xml" Id="Rf90d788f5e9342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3bd8b4a766434a" /><Relationship Type="http://schemas.openxmlformats.org/officeDocument/2006/relationships/notesMaster" Target="/ppt/notesMasters/notesMaster1.xml" Id="R3181348f021440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We are Team ASTRO. AeroSentinel is a reproducible environment for evaluating tool-using agents on simplified satellite recovery and mission planning. We provide the world, tools, verifier and logs. Judges provide the model. Our submission has nine task families across three difficulty levels. We will explain one complete recovery, a harder planning mission, and the exact steps to reproduce both. We do not train a policy or claim flight certification.</a:t>
            </a:r>
          </a:p>
          <a:p xmlns:a="http://schemas.openxmlformats.org/drawingml/2006/main">
            <a:r>
              <a:t/>
            </a:r>
          </a:p>
          <a:p xmlns:a="http://schemas.openxmlformats.org/drawingml/2006/main">
            <a:r>
              <a:t>Photo credit: NASA HaloSat, ISS056-E-095243. https://science.nasa.gov/mission/halosat/ . This photograph is contextual, not our simulator. PS score breakdown: presentation 30, Run A 30, Run B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These are all nine tasks. The first five cover power recovery, detumbling and pointing, battery temperature, radio closure, and a two-fault cascade. The four hard tasks are radio-energy tradeoff, early-pass recovery, observation-window scheduling, and science store-and-forward. The table states exactly what the agent must accomplish in each. Every task uses the same six tools and a seeded reset. The verifier checks the mission outcome, not whether the final file matches one preferred answer. Next we explain the four harder workflows.</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1:05-1:40</a:t>
            </a:r>
          </a:p>
          <a:p xmlns:a="http://schemas.openxmlformats.org/drawingml/2006/main">
            <a:r>
              <a:t>For the first five tasks, the challenge is diagnosing and repairing a configuration while meeting every protected condition. Power has a fixed battery capacity and a seeded reserve target. Pointing has a protected target, so increasing the agent deadband cannot relax grading. Thermal checks the trajectory as well as the final temperature. Radio scripts must calculate correctly for the live configuration and varied schemas. The cascade requires two faults to be repaired without creating a safety failure. These are guided repairs, and we do not present them as equally deep as the planning tasks.</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1:40-2:20</a:t>
            </a:r>
          </a:p>
          <a:p xmlns:a="http://schemas.openxmlformats.org/drawingml/2006/main">
            <a:r>
              <a:t>The harder tasks introduce consequences that a final configuration cannot undo. Radio energy trades rate and power against an energy budget. Early recovery requires repair before a short contact closes. Observation scheduling requires useful exposure during a window while limiting payload energy. Science store-and-forward adds two acquisition windows, two contacts and finite storage. Seeds vary faults, hardware and timing. In our separate scripted comparison, nominal and maximum-radio shortcuts each fail all twenty hard cases. The privileged reference demonstrates that valid plans exist.</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a:t>
            </a:r>
          </a:p>
          <a:p xmlns:a="http://schemas.openxmlformats.org/drawingml/2006/main">
            <a:r>
              <a:t>One Compose command starts a harness and an isolated sandbox. The harness owns the verifier, protected mission state and model client. The sandbox executes the agent tools and has no outbound route. For the selected task and seed, the reference and no-op each receive a fresh reset. The reference must score at least point nine five and the no-op at most point zero five. If either fails, no model is called. Otherwise the model gets another fresh reset, receives observations, calls tools, sees results, and repeats until termination.</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3:10-3:50</a:t>
            </a:r>
          </a:p>
          <a:p xmlns:a="http://schemas.openxmlformats.org/drawingml/2006/main">
            <a:r>
              <a:t>The observation includes a flight manual, instance-specific mission targets, subsystem configuration and current telemetry. There are six schema-defined tools. The model can list files, read file ranges, replace a file, execute Python, advance the orbit and finish. Completed ordinary tool attempts consume thirty simulated seconds, including execution errors. Invalid schemas do not execute or advance time. Orbit steps advance one to thirty minutes. The world retains energy, temperature, pointing and data history. Editing telemetry cannot rewrite that protected history.</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a:t>
            </a:r>
          </a:p>
          <a:p xmlns:a="http://schemas.openxmlformats.org/drawingml/2006/main">
            <a:r>
              <a:t>Here is the actual unappended demo run. The initial power configuration had solar calibration point four one and an unsafe undervoltage threshold of two point eight volts. The model inspected the manual, mission and telemetry, then repaired those settings to point seven two and three point two volts. It checked the changing world and called finish. The final verifier reported a battery reserve of eighty-seven point seven seven eight percent and all required checks passed. The complete genuine model episode took eleven replies and scored one point zero.</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4:30-5:20</a:t>
            </a:r>
          </a:p>
          <a:p xmlns:a="http://schemas.openxmlformats.org/drawingml/2006/main">
            <a:r>
              <a:t>This is the actual successful science seed one hundred and one run. The model collected two hundred and seventy useful seconds in the first window, then the first contact delivered five hundred and thirteen kilobytes. That drain freed space for the second acquisition. The second window added two hundred and forty seconds and four hundred and fifty-six kilobytes, which the second contact delivered. Total delivery was nine hundred and sixty-nine kilobytes with zero loss. Every exposure quota and both energy budgets must pass. Missing the first drain can cause irreversible buffer overflow.</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5:20-6:10</a:t>
            </a:r>
          </a:p>
          <a:p xmlns:a="http://schemas.openxmlformats.org/drawingml/2006/main">
            <a:r>
              <a:t>The verifier uses programmatic checks only. The standard raw score weights power, temperature, pointing and communications. Observation and science add their respective exposure and delivery terms. We normalize progress against the seeded no-op outcome and clamp it between zero and one. Partial credit is allowed, but every mandatory condition must pass to reach the success threshold. An observation run can therefore earn point eight and still correctly fail. Invalid configurations score zero, catastrophic events latch, and final scoring cannot restore data or exposure that the mission already lost.</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6:10-6:50</a:t>
            </a:r>
          </a:p>
          <a:p xmlns:a="http://schemas.openxmlformats.org/drawingml/2006/main">
            <a:r>
              <a:t>The verifier runs outside the agent workspace. Tool controls require authentication, workers use a non-root identity, the root filesystem is read-only, and the agent sandbox cannot reach the internet. Execution has process, time, storage and output limits, with descendant cleanup. Malformed replies receive feedback and consume a step. Invalid tool schemas do not execute. Provider failures have bounded, logged retries inside the same deadline. Six deliberate scripted attacks stay below success, including forged telemetry and forged science inventory. Docker and the host kernel remain trusted, so this is finite evidence rather than a universal security proof.</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6:50-7:45</a:t>
            </a:r>
          </a:p>
          <a:p xmlns:a="http://schemas.openxmlformats.org/drawingml/2006/main">
            <a:r>
              <a:t>A judge can clone main, copy the environment example, select the task and seed, and run this one Compose command. The default mock solver needs no API key and checks the offline pipeline. For the genuine demo, use the organizer model, endpoint and privately supplied key. Keep append empty and keep the compatibility append dot text file absent for Run A. The automatic gates run first, then the model, and a new log directory records the outcome. Use baselines mode to check every task without a model request.</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7:45-8:40</a:t>
            </a:r>
          </a:p>
          <a:p xmlns:a="http://schemas.openxmlformats.org/drawingml/2006/main">
            <a:r>
              <a:t>The current runtime has one hundred and fifty Linux regression tests, twelve real-container isolation checks and all nine reference/no-op gates passing. The separate mission stress report meets four hundred and seventy-four expectations: eighty feasible plans succeed and three hundred and ninety-four invalid choices are correctly rejected. These are not extra real model runs. We have four genuine organizer-model episodes: EPS, radio energy and science succeed, while observation correctly fails at point eight. Four attempts are a small sample, not a general success-rate estimate. Full raw replies, tool actions, errors, state hashes and final checks are preserved.</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8:40-10:00</a:t>
            </a:r>
          </a:p>
          <a:p xmlns:a="http://schemas.openxmlformats.org/drawingml/2006/main">
            <a:r>
              <a:t>Run A uses our named EPS demo with seed zero and no append. Run B uses the judge-selected task, undisclosed capable model and exact append file through the same interface. Both runs start in parallel with the talk. Once a run starts we do not intervene. The terminal shows each reply, tools, reward, state hash and errors. The recorded termination says success, failure, step cap, time cap or crash. Our key claim is reproducible, correctly scored behavior, including honest failure. We can use the reference slides for task IDs, source files, log interpretation and known limitations.</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Use these exact values for TASK_ID. All nine tasks have reference and no-op gates. Difficulty is registered in harness/tasks.py.</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Source paths let a reviewer trace the implementation. Actual run logs are generated under logs/&lt;run_id&gt;. Historical model logs are included in the reference ZIP, not committed into source. Same task and seed reproduce the initial state; identical action sequences reproduce the deterministic simulator. An external model may choose different actions on another run. This is not a claim of deterministic model output.</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The PS minimums are at least five tasks over two levels, state, observations, schemas, seeded reset, termination, programmatic reward, a named demo, both baselines, isolation and one Compose command. Repo and ZIP use exact name ASTRO. The user explicitly requested public visibility despite the PS private-repository rule; this exception is unresolved unless accepted by organizers. Organizer invitations were sent. Form submission, eligibility and genuine human mastery remain human responsibilities. Do not claim a guaranteed judge score.</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solution, not model-performance evidence. These corrective settings are read from build_task(task_id, seed=0). Read the current manual and protected mission targets on other seeds. Accept any configuration that meets all protected checks. Apply changes through write_file, verify using run_python or step_orbit, then finish. Never alter fixed hardware or mission requirements.</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solution approach. RF rate must carry the target volume during available contact while meeting link margin and energy. Seed-0 reference RF is 38400 bps and 32 dBm. Seed-0 early recovery uses control_gain 5.5 and tx 31.4 dBm. Observation needs duty zero before the window, one during useful exposure, then zero, including tool-time costs. Science needs acquisition one, drain one, acquisition two, drain two, with rate/power chosen for that seed. Do not transplant exact timings between seeds. These are privileged/reference or analytical solution approaches, not new model runs.</a:t>
            </a:r>
          </a:p>
          <a:p xmlns:a="http://schemas.openxmlformats.org/drawingml/2006/main">
            <a:r>
              <a:t/>
            </a:r>
          </a:p>
          <a:p xmlns:a="http://schemas.openxmlformats.org/drawingml/2006/main">
            <a:r>
              <a:t>Sources: supplied RL_Hackathon_by_2une_PS.pdf (sections 03-09); README.md; harness/tasks.py; harness/tools.py; harness/runner.py; submission_bundle/validation-evidence.json. Current harness hash b75030d6ecd33e8f80f5cdda39f2690a2a31688faad3f17d928f27c108e5507b.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6e9502ea3745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69ad25d68542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61d234d2084f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64d24de43742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2204f7cb5d4e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83cb6499c443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D142C0-91E1-4FD2-B5BA-47C029DC87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2993E9-2A3D-4A4C-80FE-048152FF7EA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45294B-6064-4C29-AAA9-EA03B68CFC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3D4C2C-8DAF-4456-B0F0-F0DE1767BF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CEAF2-9BF7-4D35-AE96-95B236A835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788E29-D141-4563-A0B7-6695218A4A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FD6767-EC1E-445F-B62A-A0DB345A74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AC5666-AF86-42FD-9829-8DD855309B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7E7C2C-6BB6-4FC2-9449-36FAA69F83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D728E6-C061-4036-AAD6-C3F9C15C1B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b99a304e504c9e" /><Relationship Type="http://schemas.openxmlformats.org/officeDocument/2006/relationships/slideLayout" Target="/ppt/slideLayouts/slideLayout1.xml" Id="R6c5c4ada44334e07" /><Relationship Type="http://schemas.openxmlformats.org/officeDocument/2006/relationships/slideLayout" Target="/ppt/slideLayouts/slideLayout2.xml" Id="Rf9da2ca2274945b2" /><Relationship Type="http://schemas.openxmlformats.org/officeDocument/2006/relationships/slideLayout" Target="/ppt/slideLayouts/slideLayout3.xml" Id="R4bbfbb29b423421d" /><Relationship Type="http://schemas.openxmlformats.org/officeDocument/2006/relationships/slideLayout" Target="/ppt/slideLayouts/slideLayout4.xml" Id="R9b5d0a8f01b94c09" /><Relationship Type="http://schemas.openxmlformats.org/officeDocument/2006/relationships/slideLayout" Target="/ppt/slideLayouts/slideLayout5.xml" Id="Rbaf0a6e7a46d40c9" /><Relationship Type="http://schemas.openxmlformats.org/officeDocument/2006/relationships/slideLayout" Target="/ppt/slideLayouts/slideLayout6.xml" Id="R9f1f3c56869e4e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5c4ada44334e07"/>
    <p:sldLayoutId xmlns:r="http://schemas.openxmlformats.org/officeDocument/2006/relationships" id="2147483650" r:id="Rf9da2ca2274945b2"/>
    <p:sldLayoutId xmlns:r="http://schemas.openxmlformats.org/officeDocument/2006/relationships" id="2147483651" r:id="R4bbfbb29b423421d"/>
    <p:sldLayoutId xmlns:r="http://schemas.openxmlformats.org/officeDocument/2006/relationships" id="2147483652" r:id="R9b5d0a8f01b94c09"/>
    <p:sldLayoutId xmlns:r="http://schemas.openxmlformats.org/officeDocument/2006/relationships" id="2147483653" r:id="Rbaf0a6e7a46d40c9"/>
    <p:sldLayoutId xmlns:r="http://schemas.openxmlformats.org/officeDocument/2006/relationships" id="2147483654" r:id="R9f1f3c56869e4e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bc02319b674fba" /><Relationship Type="http://schemas.openxmlformats.org/officeDocument/2006/relationships/image" Target="/ppt/media/image.jpeg" Id="Rdef1e53e9b8e40f2" /><Relationship Type="http://schemas.openxmlformats.org/officeDocument/2006/relationships/notesSlide" Target="/ppt/notesSlides/notesSlide1.xml" Id="R0deac235f7b545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85b15681bf4c2c" /><Relationship Type="http://schemas.openxmlformats.org/officeDocument/2006/relationships/notesSlide" Target="/ppt/notesSlides/notesSlide2.xml" Id="Rea5e45a0098642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bcf432af1c4e4d" /><Relationship Type="http://schemas.openxmlformats.org/officeDocument/2006/relationships/notesSlide" Target="/ppt/notesSlides/notesSlide3.xml" Id="R104d5eef346342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3dd090a45e4b08" /><Relationship Type="http://schemas.openxmlformats.org/officeDocument/2006/relationships/notesSlide" Target="/ppt/notesSlides/notesSlide4.xml" Id="Raa59b0ab927e43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6de1cdcac6443d" /><Relationship Type="http://schemas.openxmlformats.org/officeDocument/2006/relationships/notesSlide" Target="/ppt/notesSlides/notesSlide5.xml" Id="Rf9ff078211e447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0d9aa9f6314eef" /><Relationship Type="http://schemas.openxmlformats.org/officeDocument/2006/relationships/notesSlide" Target="/ppt/notesSlides/notesSlide6.xml" Id="R0d4fd2d84dec49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ccd5dca35e4e65" /><Relationship Type="http://schemas.openxmlformats.org/officeDocument/2006/relationships/notesSlide" Target="/ppt/notesSlides/notesSlide7.xml" Id="R7a48b97cd89c47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5d3585ac804704" /><Relationship Type="http://schemas.openxmlformats.org/officeDocument/2006/relationships/notesSlide" Target="/ppt/notesSlides/notesSlide8.xml" Id="R4aaf84ea7a2047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b2556bf81f4a69" /><Relationship Type="http://schemas.openxmlformats.org/officeDocument/2006/relationships/notesSlide" Target="/ppt/notesSlides/notesSlide9.xml" Id="R1cccb24f394640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1d95de66a5407f" /><Relationship Type="http://schemas.openxmlformats.org/officeDocument/2006/relationships/notesSlide" Target="/ppt/notesSlides/notesSlide10.xml" Id="R5206d33a1c264c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a294dbbde24587" /><Relationship Type="http://schemas.openxmlformats.org/officeDocument/2006/relationships/notesSlide" Target="/ppt/notesSlides/notesSlide11.xml" Id="R56825a3049db4d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35a662d1dc4dbb" /><Relationship Type="http://schemas.openxmlformats.org/officeDocument/2006/relationships/notesSlide" Target="/ppt/notesSlides/notesSlide12.xml" Id="Rb8b1a1b137ef4b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a7d6d95dc84b93" /><Relationship Type="http://schemas.openxmlformats.org/officeDocument/2006/relationships/notesSlide" Target="/ppt/notesSlides/notesSlide13.xml" Id="Re5bea6a2c07d40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e7ba48f80164eae" /><Relationship Type="http://schemas.openxmlformats.org/officeDocument/2006/relationships/notesSlide" Target="/ppt/notesSlides/notesSlide14.xml" Id="Rbb3c29f12fa04b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dfb8aedb2342a5" /><Relationship Type="http://schemas.openxmlformats.org/officeDocument/2006/relationships/notesSlide" Target="/ppt/notesSlides/notesSlide15.xml" Id="R90ca5a43197d4f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40fc95feba64106" /><Relationship Type="http://schemas.openxmlformats.org/officeDocument/2006/relationships/notesSlide" Target="/ppt/notesSlides/notesSlide16.xml" Id="R333a4649073145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b1b48576cf84a8d" /><Relationship Type="http://schemas.openxmlformats.org/officeDocument/2006/relationships/notesSlide" Target="/ppt/notesSlides/notesSlide17.xml" Id="R402877c4e06c48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7bcd100bed7415c" /><Relationship Type="http://schemas.openxmlformats.org/officeDocument/2006/relationships/notesSlide" Target="/ppt/notesSlides/notesSlide18.xml" Id="R96549b8fb8b7445b" /></Relationships>
</file>

<file path=ppt/slides/slide1.xml><?xml version="1.0" encoding="utf-8"?>
<p:sld xmlns:p="http://schemas.openxmlformats.org/presentationml/2006/main">
  <p:cSld>
    <p:bg>
      <p:bgPr>
        <a:solidFill xmlns:a="http://schemas.openxmlformats.org/drawingml/2006/main">
          <a:srgbClr val="102531"/>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734EBE9-0271-4433-9E2C-B613A8E61284}"/>
              </a:ext>
            </a:extLst>
          </p:cNvPr>
          <p:cNvPicPr>
            <a:picLocks xmlns:a="http://schemas.openxmlformats.org/drawingml/2006/main" noChangeAspect="1"/>
          </p:cNvPicPr>
          <p:nvPr/>
        </p:nvPicPr>
        <p:blipFill>
          <a:blip xmlns:r="http://schemas.openxmlformats.org/officeDocument/2006/relationships" xmlns:a="http://schemas.openxmlformats.org/drawingml/2006/main" r:embed="Rdef1e53e9b8e40f2"/>
          <a:srcRect xmlns:a="http://schemas.openxmlformats.org/drawingml/2006/main" l="27037" t="0" r="27037" b="0"/>
          <a:stretch xmlns:a="http://schemas.openxmlformats.org/drawingml/2006/main">
            <a:fillRect l="0" t="0" r="0" b="0"/>
          </a:stretch>
        </p:blipFill>
        <p:spPr>
          <a:xfrm xmlns:a="http://schemas.openxmlformats.org/drawingml/2006/main">
            <a:off x="7467600" y="0"/>
            <a:ext cx="4724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6366EC-24F5-4A98-8DAC-126727165208}"/>
              </a:ext>
            </a:extLst>
          </p:cNvPr>
          <p:cNvSpPr>
            <a:spLocks xmlns:a="http://schemas.openxmlformats.org/drawingml/2006/main" noGrp="1"/>
          </p:cNvSpPr>
          <p:nvPr/>
        </p:nvSpPr>
        <p:spPr>
          <a:xfrm xmlns:a="http://schemas.openxmlformats.org/drawingml/2006/main">
            <a:off x="495300" y="45720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E6A082"/>
                </a:solidFill>
                <a:latin typeface="Arial"/>
                <a:ea typeface="Arial"/>
                <a:cs typeface="Arial"/>
              </a:defRPr>
            </a:defPPr>
            <a:lvl1pPr>
              <a:defRPr sz="1650" b="1">
                <a:solidFill>
                  <a:srgbClr val="E6A082"/>
                </a:solidFill>
                <a:latin typeface="Arial"/>
                <a:ea typeface="Arial"/>
                <a:cs typeface="Arial"/>
              </a:defRPr>
            </a:lvl1pPr>
            <a:lvl2pPr>
              <a:defRPr sz="1650" b="1">
                <a:solidFill>
                  <a:srgbClr val="E6A082"/>
                </a:solidFill>
                <a:latin typeface="Arial"/>
                <a:ea typeface="Arial"/>
                <a:cs typeface="Arial"/>
              </a:defRPr>
            </a:lvl2pPr>
            <a:lvl3pPr>
              <a:defRPr sz="1650" b="1">
                <a:solidFill>
                  <a:srgbClr val="E6A082"/>
                </a:solidFill>
                <a:latin typeface="Arial"/>
                <a:ea typeface="Arial"/>
                <a:cs typeface="Arial"/>
              </a:defRPr>
            </a:lvl3pPr>
            <a:lvl4pPr>
              <a:defRPr sz="1650" b="1">
                <a:solidFill>
                  <a:srgbClr val="E6A082"/>
                </a:solidFill>
                <a:latin typeface="Arial"/>
                <a:ea typeface="Arial"/>
                <a:cs typeface="Arial"/>
              </a:defRPr>
            </a:lvl4pPr>
            <a:lvl5pPr>
              <a:defRPr sz="1650" b="1">
                <a:solidFill>
                  <a:srgbClr val="E6A082"/>
                </a:solidFill>
                <a:latin typeface="Arial"/>
                <a:ea typeface="Arial"/>
                <a:cs typeface="Arial"/>
              </a:defRPr>
            </a:lvl5pPr>
            <a:lvl6pPr>
              <a:defRPr sz="1650" b="1">
                <a:solidFill>
                  <a:srgbClr val="E6A082"/>
                </a:solidFill>
                <a:latin typeface="Arial"/>
                <a:ea typeface="Arial"/>
                <a:cs typeface="Arial"/>
              </a:defRPr>
            </a:lvl6pPr>
            <a:lvl7pPr>
              <a:defRPr sz="1650" b="1">
                <a:solidFill>
                  <a:srgbClr val="E6A082"/>
                </a:solidFill>
                <a:latin typeface="Arial"/>
                <a:ea typeface="Arial"/>
                <a:cs typeface="Arial"/>
              </a:defRPr>
            </a:lvl7pPr>
            <a:lvl8pPr>
              <a:defRPr sz="1650" b="1">
                <a:solidFill>
                  <a:srgbClr val="E6A082"/>
                </a:solidFill>
                <a:latin typeface="Arial"/>
                <a:ea typeface="Arial"/>
                <a:cs typeface="Arial"/>
              </a:defRPr>
            </a:lvl8pPr>
            <a:lvl9pPr>
              <a:defRPr sz="1650" b="1">
                <a:solidFill>
                  <a:srgbClr val="E6A082"/>
                </a:solidFill>
                <a:latin typeface="Arial"/>
                <a:ea typeface="Arial"/>
                <a:cs typeface="Arial"/>
              </a:defRPr>
            </a:lvl9pPr>
          </a:lstStyle>
          <a:p xmlns:a="http://schemas.openxmlformats.org/drawingml/2006/main">
            <a:pPr>
              <a:defRPr sz="1650" b="1">
                <a:solidFill>
                  <a:srgbClr val="E6A082"/>
                </a:solidFill>
                <a:latin typeface="Arial"/>
                <a:ea typeface="Arial"/>
                <a:cs typeface="Arial"/>
              </a:defRPr>
            </a:pPr>
            <a:r>
              <a:rPr sz="1650" b="1">
                <a:solidFill>
                  <a:srgbClr val="E6A082"/>
                </a:solidFill>
                <a:latin typeface="Arial"/>
                <a:ea typeface="Arial"/>
                <a:cs typeface="Arial"/>
              </a:rPr>
              <a:t>TEAM ASTRO</a:t>
            </a:r>
          </a:p>
        </p:txBody>
      </p:sp>
      <p:sp>
        <p:nvSpPr>
          <p:cNvPr id="3" name="">
            <a:extLst xmlns:a="http://schemas.openxmlformats.org/drawingml/2006/main">
              <a:ext uri="{FF2B5EF4-FFF2-40B4-BE49-F238E27FC236}">
                <a16:creationId xmlns:a16="http://schemas.microsoft.com/office/drawing/2014/main" id="{2B3F5818-84C8-4E15-A7B0-B7632B329F39}"/>
              </a:ext>
            </a:extLst>
          </p:cNvPr>
          <p:cNvSpPr>
            <a:spLocks xmlns:a="http://schemas.openxmlformats.org/drawingml/2006/main" noGrp="1"/>
          </p:cNvSpPr>
          <p:nvPr/>
        </p:nvSpPr>
        <p:spPr>
          <a:xfrm xmlns:a="http://schemas.openxmlformats.org/drawingml/2006/main">
            <a:off x="457200" y="1543050"/>
            <a:ext cx="695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FFFFFF"/>
                </a:solidFill>
                <a:latin typeface="Arial"/>
                <a:ea typeface="Arial"/>
                <a:cs typeface="Arial"/>
              </a:defRPr>
            </a:defPPr>
            <a:lvl1pPr>
              <a:defRPr sz="5550" b="1">
                <a:solidFill>
                  <a:srgbClr val="FFFFFF"/>
                </a:solidFill>
                <a:latin typeface="Arial"/>
                <a:ea typeface="Arial"/>
                <a:cs typeface="Arial"/>
              </a:defRPr>
            </a:lvl1pPr>
            <a:lvl2pPr>
              <a:defRPr sz="5550" b="1">
                <a:solidFill>
                  <a:srgbClr val="FFFFFF"/>
                </a:solidFill>
                <a:latin typeface="Arial"/>
                <a:ea typeface="Arial"/>
                <a:cs typeface="Arial"/>
              </a:defRPr>
            </a:lvl2pPr>
            <a:lvl3pPr>
              <a:defRPr sz="5550" b="1">
                <a:solidFill>
                  <a:srgbClr val="FFFFFF"/>
                </a:solidFill>
                <a:latin typeface="Arial"/>
                <a:ea typeface="Arial"/>
                <a:cs typeface="Arial"/>
              </a:defRPr>
            </a:lvl3pPr>
            <a:lvl4pPr>
              <a:defRPr sz="5550" b="1">
                <a:solidFill>
                  <a:srgbClr val="FFFFFF"/>
                </a:solidFill>
                <a:latin typeface="Arial"/>
                <a:ea typeface="Arial"/>
                <a:cs typeface="Arial"/>
              </a:defRPr>
            </a:lvl4pPr>
            <a:lvl5pPr>
              <a:defRPr sz="5550" b="1">
                <a:solidFill>
                  <a:srgbClr val="FFFFFF"/>
                </a:solidFill>
                <a:latin typeface="Arial"/>
                <a:ea typeface="Arial"/>
                <a:cs typeface="Arial"/>
              </a:defRPr>
            </a:lvl5pPr>
            <a:lvl6pPr>
              <a:defRPr sz="5550" b="1">
                <a:solidFill>
                  <a:srgbClr val="FFFFFF"/>
                </a:solidFill>
                <a:latin typeface="Arial"/>
                <a:ea typeface="Arial"/>
                <a:cs typeface="Arial"/>
              </a:defRPr>
            </a:lvl6pPr>
            <a:lvl7pPr>
              <a:defRPr sz="5550" b="1">
                <a:solidFill>
                  <a:srgbClr val="FFFFFF"/>
                </a:solidFill>
                <a:latin typeface="Arial"/>
                <a:ea typeface="Arial"/>
                <a:cs typeface="Arial"/>
              </a:defRPr>
            </a:lvl7pPr>
            <a:lvl8pPr>
              <a:defRPr sz="5550" b="1">
                <a:solidFill>
                  <a:srgbClr val="FFFFFF"/>
                </a:solidFill>
                <a:latin typeface="Arial"/>
                <a:ea typeface="Arial"/>
                <a:cs typeface="Arial"/>
              </a:defRPr>
            </a:lvl8pPr>
            <a:lvl9pPr>
              <a:defRPr sz="5550" b="1">
                <a:solidFill>
                  <a:srgbClr val="FFFFFF"/>
                </a:solidFill>
                <a:latin typeface="Arial"/>
                <a:ea typeface="Arial"/>
                <a:cs typeface="Arial"/>
              </a:defRPr>
            </a:lvl9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AeroSentinel</a:t>
            </a:r>
          </a:p>
        </p:txBody>
      </p:sp>
      <p:sp>
        <p:nvSpPr>
          <p:cNvPr id="4" name="">
            <a:extLst xmlns:a="http://schemas.openxmlformats.org/drawingml/2006/main">
              <a:ext uri="{FF2B5EF4-FFF2-40B4-BE49-F238E27FC236}">
                <a16:creationId xmlns:a16="http://schemas.microsoft.com/office/drawing/2014/main" id="{A49B9C26-41C4-42DA-9019-0F6ED8B87969}"/>
              </a:ext>
            </a:extLst>
          </p:cNvPr>
          <p:cNvSpPr>
            <a:spLocks xmlns:a="http://schemas.openxmlformats.org/drawingml/2006/main" noGrp="1"/>
          </p:cNvSpPr>
          <p:nvPr/>
        </p:nvSpPr>
        <p:spPr>
          <a:xfrm xmlns:a="http://schemas.openxmlformats.org/drawingml/2006/main">
            <a:off x="495300" y="2724150"/>
            <a:ext cx="66770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0">
                <a:solidFill>
                  <a:srgbClr val="FFFFFF"/>
                </a:solidFill>
                <a:latin typeface="Arial"/>
                <a:ea typeface="Arial"/>
                <a:cs typeface="Arial"/>
              </a:defRPr>
            </a:defPPr>
            <a:lvl1pPr>
              <a:defRPr sz="2775" b="0">
                <a:solidFill>
                  <a:srgbClr val="FFFFFF"/>
                </a:solidFill>
                <a:latin typeface="Arial"/>
                <a:ea typeface="Arial"/>
                <a:cs typeface="Arial"/>
              </a:defRPr>
            </a:lvl1pPr>
            <a:lvl2pPr>
              <a:defRPr sz="2775" b="0">
                <a:solidFill>
                  <a:srgbClr val="FFFFFF"/>
                </a:solidFill>
                <a:latin typeface="Arial"/>
                <a:ea typeface="Arial"/>
                <a:cs typeface="Arial"/>
              </a:defRPr>
            </a:lvl2pPr>
            <a:lvl3pPr>
              <a:defRPr sz="2775" b="0">
                <a:solidFill>
                  <a:srgbClr val="FFFFFF"/>
                </a:solidFill>
                <a:latin typeface="Arial"/>
                <a:ea typeface="Arial"/>
                <a:cs typeface="Arial"/>
              </a:defRPr>
            </a:lvl3pPr>
            <a:lvl4pPr>
              <a:defRPr sz="2775" b="0">
                <a:solidFill>
                  <a:srgbClr val="FFFFFF"/>
                </a:solidFill>
                <a:latin typeface="Arial"/>
                <a:ea typeface="Arial"/>
                <a:cs typeface="Arial"/>
              </a:defRPr>
            </a:lvl4pPr>
            <a:lvl5pPr>
              <a:defRPr sz="2775" b="0">
                <a:solidFill>
                  <a:srgbClr val="FFFFFF"/>
                </a:solidFill>
                <a:latin typeface="Arial"/>
                <a:ea typeface="Arial"/>
                <a:cs typeface="Arial"/>
              </a:defRPr>
            </a:lvl5pPr>
            <a:lvl6pPr>
              <a:defRPr sz="2775" b="0">
                <a:solidFill>
                  <a:srgbClr val="FFFFFF"/>
                </a:solidFill>
                <a:latin typeface="Arial"/>
                <a:ea typeface="Arial"/>
                <a:cs typeface="Arial"/>
              </a:defRPr>
            </a:lvl6pPr>
            <a:lvl7pPr>
              <a:defRPr sz="2775" b="0">
                <a:solidFill>
                  <a:srgbClr val="FFFFFF"/>
                </a:solidFill>
                <a:latin typeface="Arial"/>
                <a:ea typeface="Arial"/>
                <a:cs typeface="Arial"/>
              </a:defRPr>
            </a:lvl7pPr>
            <a:lvl8pPr>
              <a:defRPr sz="2775" b="0">
                <a:solidFill>
                  <a:srgbClr val="FFFFFF"/>
                </a:solidFill>
                <a:latin typeface="Arial"/>
                <a:ea typeface="Arial"/>
                <a:cs typeface="Arial"/>
              </a:defRPr>
            </a:lvl8pPr>
            <a:lvl9pPr>
              <a:defRPr sz="2775" b="0">
                <a:solidFill>
                  <a:srgbClr val="FFFFFF"/>
                </a:solidFill>
                <a:latin typeface="Arial"/>
                <a:ea typeface="Arial"/>
                <a:cs typeface="Arial"/>
              </a:defRPr>
            </a:lvl9pPr>
          </a:lstStyle>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Satellite recovery and</a:t>
            </a:r>
          </a:p>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mission planning</a:t>
            </a:r>
          </a:p>
        </p:txBody>
      </p:sp>
      <p:sp>
        <p:nvSpPr>
          <p:cNvPr id="5" name="">
            <a:extLst xmlns:a="http://schemas.openxmlformats.org/drawingml/2006/main">
              <a:ext uri="{FF2B5EF4-FFF2-40B4-BE49-F238E27FC236}">
                <a16:creationId xmlns:a16="http://schemas.microsoft.com/office/drawing/2014/main" id="{3C18653C-1FB2-421A-B445-41EDA6594163}"/>
              </a:ext>
            </a:extLst>
          </p:cNvPr>
          <p:cNvSpPr>
            <a:spLocks xmlns:a="http://schemas.openxmlformats.org/drawingml/2006/main" noGrp="1"/>
          </p:cNvSpPr>
          <p:nvPr/>
        </p:nvSpPr>
        <p:spPr>
          <a:xfrm xmlns:a="http://schemas.openxmlformats.org/drawingml/2006/main">
            <a:off x="495300" y="4181475"/>
            <a:ext cx="666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C9D5D8"/>
                </a:solidFill>
                <a:latin typeface="Arial"/>
                <a:ea typeface="Arial"/>
                <a:cs typeface="Arial"/>
              </a:defRPr>
            </a:defPPr>
            <a:lvl1pPr>
              <a:defRPr sz="1875" b="0">
                <a:solidFill>
                  <a:srgbClr val="C9D5D8"/>
                </a:solidFill>
                <a:latin typeface="Arial"/>
                <a:ea typeface="Arial"/>
                <a:cs typeface="Arial"/>
              </a:defRPr>
            </a:lvl1pPr>
            <a:lvl2pPr>
              <a:defRPr sz="1875" b="0">
                <a:solidFill>
                  <a:srgbClr val="C9D5D8"/>
                </a:solidFill>
                <a:latin typeface="Arial"/>
                <a:ea typeface="Arial"/>
                <a:cs typeface="Arial"/>
              </a:defRPr>
            </a:lvl2pPr>
            <a:lvl3pPr>
              <a:defRPr sz="1875" b="0">
                <a:solidFill>
                  <a:srgbClr val="C9D5D8"/>
                </a:solidFill>
                <a:latin typeface="Arial"/>
                <a:ea typeface="Arial"/>
                <a:cs typeface="Arial"/>
              </a:defRPr>
            </a:lvl3pPr>
            <a:lvl4pPr>
              <a:defRPr sz="1875" b="0">
                <a:solidFill>
                  <a:srgbClr val="C9D5D8"/>
                </a:solidFill>
                <a:latin typeface="Arial"/>
                <a:ea typeface="Arial"/>
                <a:cs typeface="Arial"/>
              </a:defRPr>
            </a:lvl4pPr>
            <a:lvl5pPr>
              <a:defRPr sz="1875" b="0">
                <a:solidFill>
                  <a:srgbClr val="C9D5D8"/>
                </a:solidFill>
                <a:latin typeface="Arial"/>
                <a:ea typeface="Arial"/>
                <a:cs typeface="Arial"/>
              </a:defRPr>
            </a:lvl5pPr>
            <a:lvl6pPr>
              <a:defRPr sz="1875" b="0">
                <a:solidFill>
                  <a:srgbClr val="C9D5D8"/>
                </a:solidFill>
                <a:latin typeface="Arial"/>
                <a:ea typeface="Arial"/>
                <a:cs typeface="Arial"/>
              </a:defRPr>
            </a:lvl6pPr>
            <a:lvl7pPr>
              <a:defRPr sz="1875" b="0">
                <a:solidFill>
                  <a:srgbClr val="C9D5D8"/>
                </a:solidFill>
                <a:latin typeface="Arial"/>
                <a:ea typeface="Arial"/>
                <a:cs typeface="Arial"/>
              </a:defRPr>
            </a:lvl7pPr>
            <a:lvl8pPr>
              <a:defRPr sz="1875" b="0">
                <a:solidFill>
                  <a:srgbClr val="C9D5D8"/>
                </a:solidFill>
                <a:latin typeface="Arial"/>
                <a:ea typeface="Arial"/>
                <a:cs typeface="Arial"/>
              </a:defRPr>
            </a:lvl8pPr>
            <a:lvl9pPr>
              <a:defRPr sz="1875" b="0">
                <a:solidFill>
                  <a:srgbClr val="C9D5D8"/>
                </a:solidFill>
                <a:latin typeface="Arial"/>
                <a:ea typeface="Arial"/>
                <a:cs typeface="Arial"/>
              </a:defRPr>
            </a:lvl9pPr>
          </a:lstStyle>
          <a:p xmlns:a="http://schemas.openxmlformats.org/drawingml/2006/main">
            <a:pPr>
              <a:defRPr sz="1875" b="0">
                <a:solidFill>
                  <a:srgbClr val="C9D5D8"/>
                </a:solidFill>
                <a:latin typeface="Arial"/>
                <a:ea typeface="Arial"/>
                <a:cs typeface="Arial"/>
              </a:defRPr>
            </a:pPr>
            <a:r>
              <a:rPr sz="1875" b="0">
                <a:solidFill>
                  <a:srgbClr val="C9D5D8"/>
                </a:solidFill>
                <a:latin typeface="Arial"/>
                <a:ea typeface="Arial"/>
                <a:cs typeface="Arial"/>
              </a:rPr>
              <a:t>We build the environment, tools and verifier.</a:t>
            </a:r>
          </a:p>
          <a:p xmlns:a="http://schemas.openxmlformats.org/drawingml/2006/main">
            <a:pPr>
              <a:defRPr sz="1875" b="0">
                <a:solidFill>
                  <a:srgbClr val="C9D5D8"/>
                </a:solidFill>
                <a:latin typeface="Arial"/>
                <a:ea typeface="Arial"/>
                <a:cs typeface="Arial"/>
              </a:defRPr>
            </a:pPr>
            <a:r>
              <a:rPr sz="1875" b="0">
                <a:solidFill>
                  <a:srgbClr val="C9D5D8"/>
                </a:solidFill>
                <a:latin typeface="Arial"/>
                <a:ea typeface="Arial"/>
                <a:cs typeface="Arial"/>
              </a:rPr>
              <a:t>Judges bring the agent.</a:t>
            </a:r>
          </a:p>
        </p:txBody>
      </p:sp>
      <p:sp>
        <p:nvSpPr>
          <p:cNvPr id="6" name="">
            <a:extLst xmlns:a="http://schemas.openxmlformats.org/drawingml/2006/main">
              <a:ext uri="{FF2B5EF4-FFF2-40B4-BE49-F238E27FC236}">
                <a16:creationId xmlns:a16="http://schemas.microsoft.com/office/drawing/2014/main" id="{E1C624BC-B731-4B03-8EEB-26FAA329EF8B}"/>
              </a:ext>
            </a:extLst>
          </p:cNvPr>
          <p:cNvSpPr>
            <a:spLocks xmlns:a="http://schemas.openxmlformats.org/drawingml/2006/main" noGrp="1"/>
          </p:cNvSpPr>
          <p:nvPr/>
        </p:nvSpPr>
        <p:spPr>
          <a:xfrm xmlns:a="http://schemas.openxmlformats.org/drawingml/2006/main">
            <a:off x="495300" y="542925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E6A082"/>
                </a:solidFill>
                <a:latin typeface="Arial"/>
                <a:ea typeface="Arial"/>
                <a:cs typeface="Arial"/>
              </a:defRPr>
            </a:defPPr>
            <a:lvl1pPr>
              <a:defRPr sz="1875" b="1">
                <a:solidFill>
                  <a:srgbClr val="E6A082"/>
                </a:solidFill>
                <a:latin typeface="Arial"/>
                <a:ea typeface="Arial"/>
                <a:cs typeface="Arial"/>
              </a:defRPr>
            </a:lvl1pPr>
            <a:lvl2pPr>
              <a:defRPr sz="1875" b="1">
                <a:solidFill>
                  <a:srgbClr val="E6A082"/>
                </a:solidFill>
                <a:latin typeface="Arial"/>
                <a:ea typeface="Arial"/>
                <a:cs typeface="Arial"/>
              </a:defRPr>
            </a:lvl2pPr>
            <a:lvl3pPr>
              <a:defRPr sz="1875" b="1">
                <a:solidFill>
                  <a:srgbClr val="E6A082"/>
                </a:solidFill>
                <a:latin typeface="Arial"/>
                <a:ea typeface="Arial"/>
                <a:cs typeface="Arial"/>
              </a:defRPr>
            </a:lvl3pPr>
            <a:lvl4pPr>
              <a:defRPr sz="1875" b="1">
                <a:solidFill>
                  <a:srgbClr val="E6A082"/>
                </a:solidFill>
                <a:latin typeface="Arial"/>
                <a:ea typeface="Arial"/>
                <a:cs typeface="Arial"/>
              </a:defRPr>
            </a:lvl4pPr>
            <a:lvl5pPr>
              <a:defRPr sz="1875" b="1">
                <a:solidFill>
                  <a:srgbClr val="E6A082"/>
                </a:solidFill>
                <a:latin typeface="Arial"/>
                <a:ea typeface="Arial"/>
                <a:cs typeface="Arial"/>
              </a:defRPr>
            </a:lvl5pPr>
            <a:lvl6pPr>
              <a:defRPr sz="1875" b="1">
                <a:solidFill>
                  <a:srgbClr val="E6A082"/>
                </a:solidFill>
                <a:latin typeface="Arial"/>
                <a:ea typeface="Arial"/>
                <a:cs typeface="Arial"/>
              </a:defRPr>
            </a:lvl6pPr>
            <a:lvl7pPr>
              <a:defRPr sz="1875" b="1">
                <a:solidFill>
                  <a:srgbClr val="E6A082"/>
                </a:solidFill>
                <a:latin typeface="Arial"/>
                <a:ea typeface="Arial"/>
                <a:cs typeface="Arial"/>
              </a:defRPr>
            </a:lvl7pPr>
            <a:lvl8pPr>
              <a:defRPr sz="1875" b="1">
                <a:solidFill>
                  <a:srgbClr val="E6A082"/>
                </a:solidFill>
                <a:latin typeface="Arial"/>
                <a:ea typeface="Arial"/>
                <a:cs typeface="Arial"/>
              </a:defRPr>
            </a:lvl8pPr>
            <a:lvl9pPr>
              <a:defRPr sz="1875" b="1">
                <a:solidFill>
                  <a:srgbClr val="E6A082"/>
                </a:solidFill>
                <a:latin typeface="Arial"/>
                <a:ea typeface="Arial"/>
                <a:cs typeface="Arial"/>
              </a:defRPr>
            </a:lvl9pPr>
          </a:lstStyle>
          <a:p xmlns:a="http://schemas.openxmlformats.org/drawingml/2006/main">
            <a:pPr>
              <a:defRPr sz="1875" b="1">
                <a:solidFill>
                  <a:srgbClr val="E6A082"/>
                </a:solidFill>
                <a:latin typeface="Arial"/>
                <a:ea typeface="Arial"/>
                <a:cs typeface="Arial"/>
              </a:defRPr>
            </a:pPr>
            <a:r>
              <a:rPr sz="1875" b="1">
                <a:solidFill>
                  <a:srgbClr val="E6A082"/>
                </a:solidFill>
                <a:latin typeface="Arial"/>
                <a:ea typeface="Arial"/>
                <a:cs typeface="Arial"/>
              </a:rPr>
              <a:t>9 task families   /   3 levels   /   6 tools</a:t>
            </a:r>
          </a:p>
        </p:txBody>
      </p:sp>
      <p:sp>
        <p:nvSpPr>
          <p:cNvPr id="7" name="">
            <a:extLst xmlns:a="http://schemas.openxmlformats.org/drawingml/2006/main">
              <a:ext uri="{FF2B5EF4-FFF2-40B4-BE49-F238E27FC236}">
                <a16:creationId xmlns:a16="http://schemas.microsoft.com/office/drawing/2014/main" id="{9212FEF3-9883-4372-9330-71D1C5FBAA07}"/>
              </a:ext>
            </a:extLst>
          </p:cNvPr>
          <p:cNvSpPr>
            <a:spLocks xmlns:a="http://schemas.openxmlformats.org/drawingml/2006/main" noGrp="1"/>
          </p:cNvSpPr>
          <p:nvPr/>
        </p:nvSpPr>
        <p:spPr>
          <a:xfrm xmlns:a="http://schemas.openxmlformats.org/drawingml/2006/main">
            <a:off x="495300" y="6219825"/>
            <a:ext cx="666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C9D5D8"/>
                </a:solidFill>
                <a:latin typeface="Arial"/>
                <a:ea typeface="Arial"/>
                <a:cs typeface="Arial"/>
              </a:defRPr>
            </a:defPPr>
            <a:lvl1pPr>
              <a:defRPr sz="1350" b="0">
                <a:solidFill>
                  <a:srgbClr val="C9D5D8"/>
                </a:solidFill>
                <a:latin typeface="Arial"/>
                <a:ea typeface="Arial"/>
                <a:cs typeface="Arial"/>
              </a:defRPr>
            </a:lvl1pPr>
            <a:lvl2pPr>
              <a:defRPr sz="1350" b="0">
                <a:solidFill>
                  <a:srgbClr val="C9D5D8"/>
                </a:solidFill>
                <a:latin typeface="Arial"/>
                <a:ea typeface="Arial"/>
                <a:cs typeface="Arial"/>
              </a:defRPr>
            </a:lvl2pPr>
            <a:lvl3pPr>
              <a:defRPr sz="1350" b="0">
                <a:solidFill>
                  <a:srgbClr val="C9D5D8"/>
                </a:solidFill>
                <a:latin typeface="Arial"/>
                <a:ea typeface="Arial"/>
                <a:cs typeface="Arial"/>
              </a:defRPr>
            </a:lvl3pPr>
            <a:lvl4pPr>
              <a:defRPr sz="1350" b="0">
                <a:solidFill>
                  <a:srgbClr val="C9D5D8"/>
                </a:solidFill>
                <a:latin typeface="Arial"/>
                <a:ea typeface="Arial"/>
                <a:cs typeface="Arial"/>
              </a:defRPr>
            </a:lvl4pPr>
            <a:lvl5pPr>
              <a:defRPr sz="1350" b="0">
                <a:solidFill>
                  <a:srgbClr val="C9D5D8"/>
                </a:solidFill>
                <a:latin typeface="Arial"/>
                <a:ea typeface="Arial"/>
                <a:cs typeface="Arial"/>
              </a:defRPr>
            </a:lvl5pPr>
            <a:lvl6pPr>
              <a:defRPr sz="1350" b="0">
                <a:solidFill>
                  <a:srgbClr val="C9D5D8"/>
                </a:solidFill>
                <a:latin typeface="Arial"/>
                <a:ea typeface="Arial"/>
                <a:cs typeface="Arial"/>
              </a:defRPr>
            </a:lvl6pPr>
            <a:lvl7pPr>
              <a:defRPr sz="1350" b="0">
                <a:solidFill>
                  <a:srgbClr val="C9D5D8"/>
                </a:solidFill>
                <a:latin typeface="Arial"/>
                <a:ea typeface="Arial"/>
                <a:cs typeface="Arial"/>
              </a:defRPr>
            </a:lvl7pPr>
            <a:lvl8pPr>
              <a:defRPr sz="1350" b="0">
                <a:solidFill>
                  <a:srgbClr val="C9D5D8"/>
                </a:solidFill>
                <a:latin typeface="Arial"/>
                <a:ea typeface="Arial"/>
                <a:cs typeface="Arial"/>
              </a:defRPr>
            </a:lvl8pPr>
            <a:lvl9pPr>
              <a:defRPr sz="1350" b="0">
                <a:solidFill>
                  <a:srgbClr val="C9D5D8"/>
                </a:solidFill>
                <a:latin typeface="Arial"/>
                <a:ea typeface="Arial"/>
                <a:cs typeface="Arial"/>
              </a:defRPr>
            </a:lvl9pPr>
          </a:lstStyle>
          <a:p xmlns:a="http://schemas.openxmlformats.org/drawingml/2006/main">
            <a:pPr>
              <a:defRPr sz="1350" b="0">
                <a:solidFill>
                  <a:srgbClr val="C9D5D8"/>
                </a:solidFill>
                <a:latin typeface="Arial"/>
                <a:ea typeface="Arial"/>
                <a:cs typeface="Arial"/>
              </a:defRPr>
            </a:pPr>
            <a:r>
              <a:rPr sz="1350" b="0">
                <a:solidFill>
                  <a:srgbClr val="C9D5D8"/>
                </a:solidFill>
                <a:latin typeface="Arial"/>
                <a:ea typeface="Arial"/>
                <a:cs typeface="Arial"/>
              </a:rPr>
              <a:t>10-minute talk + 5 reference slides</a:t>
            </a:r>
          </a:p>
        </p:txBody>
      </p:sp>
    </p:spTree>
    <p:extLst>
      <p:ext uri="{BB962C8B-B14F-4D97-AF65-F5344CB8AC3E}">
        <p14:creationId xmlns:p14="http://schemas.microsoft.com/office/powerpoint/2010/main" val="674237412"/>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4EBA59-E94C-4E79-A8F1-4E231A50210B}"/>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The nine tasks</a:t>
            </a:r>
          </a:p>
        </p:txBody>
      </p:sp>
      <p:sp>
        <p:nvSpPr>
          <p:cNvPr id="2" name="">
            <a:extLst xmlns:a="http://schemas.openxmlformats.org/drawingml/2006/main">
              <a:ext uri="{FF2B5EF4-FFF2-40B4-BE49-F238E27FC236}">
                <a16:creationId xmlns:a16="http://schemas.microsoft.com/office/drawing/2014/main" id="{EBFBBB9C-D4F5-4F8A-853F-B958D596317D}"/>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C20594A8-D529-4514-A80F-1E0EF13B4D6E}"/>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3D5BC69A-1FF1-46B0-A2E6-6382A5452BAF}"/>
              </a:ext>
            </a:extLst>
          </p:cNvPr>
          <p:cNvGraphicFramePr/>
          <p:nvPr/>
        </p:nvGraphicFramePr>
        <p:xfrm>
          <a:off xmlns:a="http://schemas.openxmlformats.org/drawingml/2006/main" x="495300" y="1352550"/>
          <a:ext xmlns:a="http://schemas.openxmlformats.org/drawingml/2006/main" cx="11201400" cy="4552950"/>
        </p:xfrm>
        <a:graphic xmlns:a="http://schemas.openxmlformats.org/drawingml/2006/main">
          <a:graphicData uri="http://schemas.openxmlformats.org/drawingml/2006/table">
            <a:tbl>
              <a:tblPr/>
              <a:tblGrid>
                <a:gridCol w="4438650"/>
                <a:gridCol w="1257300"/>
                <a:gridCol w="5505450"/>
              </a:tblGrid>
              <a:tr h="455295">
                <a:tc>
                  <a:txBody>
                    <a:bodyPr/>
                    <a:lstStyle/>
                    <a:p>
                      <a:r>
                        <a:rPr sz="1425" b="1">
                          <a:solidFill>
                            <a:srgbClr val="FFFFFF"/>
                          </a:solidFill>
                          <a:latin typeface="Arial"/>
                          <a:ea typeface="Arial"/>
                          <a:cs typeface="Arial"/>
                        </a:rPr>
                        <a:t>Task name</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Level</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the agent must accomplish</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455295">
                <a:tc>
                  <a:txBody>
                    <a:bodyPr/>
                    <a:lstStyle/>
                    <a:p>
                      <a:r>
                        <a:rPr sz="1575" b="0">
                          <a:solidFill>
                            <a:srgbClr val="172B3A"/>
                          </a:solidFill>
                          <a:latin typeface="Arial"/>
                          <a:ea typeface="Arial"/>
                          <a:cs typeface="Arial"/>
                        </a:rPr>
                        <a:t>1. EPS eclipse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Easy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Repair power settings and retain eclipse battery reserve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55295">
                <a:tc>
                  <a:txBody>
                    <a:bodyPr/>
                    <a:lstStyle/>
                    <a:p>
                      <a:r>
                        <a:rPr sz="1575" b="0">
                          <a:solidFill>
                            <a:srgbClr val="172B3A"/>
                          </a:solidFill>
                          <a:latin typeface="Arial"/>
                          <a:ea typeface="Arial"/>
                          <a:cs typeface="Arial"/>
                        </a:rPr>
                        <a:t>2. ADCS detumble and pointing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Easy</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Remove wheel bias and meet the pointing target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55295">
                <a:tc>
                  <a:txBody>
                    <a:bodyPr/>
                    <a:lstStyle/>
                    <a:p>
                      <a:r>
                        <a:rPr sz="1575" b="0">
                          <a:solidFill>
                            <a:srgbClr val="172B3A"/>
                          </a:solidFill>
                          <a:latin typeface="Arial"/>
                          <a:ea typeface="Arial"/>
                          <a:cs typeface="Arial"/>
                        </a:rPr>
                        <a:t>3. Thermal battery preservation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Repair heater control and keep battery temperature safe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55295">
                <a:tc>
                  <a:txBody>
                    <a:bodyPr/>
                    <a:lstStyle/>
                    <a:p>
                      <a:r>
                        <a:rPr sz="1575" b="0">
                          <a:solidFill>
                            <a:srgbClr val="172B3A"/>
                          </a:solidFill>
                          <a:latin typeface="Arial"/>
                          <a:ea typeface="Arial"/>
                          <a:cs typeface="Arial"/>
                        </a:rPr>
                        <a:t>4. RF downlink closure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Repair the radio configuration and link calculation</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55295">
                <a:tc>
                  <a:txBody>
                    <a:bodyPr/>
                    <a:lstStyle/>
                    <a:p>
                      <a:r>
                        <a:rPr sz="1575" b="0">
                          <a:solidFill>
                            <a:srgbClr val="172B3A"/>
                          </a:solidFill>
                          <a:latin typeface="Arial"/>
                          <a:ea typeface="Arial"/>
                          <a:cs typeface="Arial"/>
                        </a:rPr>
                        <a:t>5. Safe-mode cascade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Recover two simultaneous subsystem faults safely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55295">
                <a:tc>
                  <a:txBody>
                    <a:bodyPr/>
                    <a:lstStyle/>
                    <a:p>
                      <a:r>
                        <a:rPr sz="1575" b="0">
                          <a:solidFill>
                            <a:srgbClr val="172B3A"/>
                          </a:solidFill>
                          <a:latin typeface="Arial"/>
                          <a:ea typeface="Arial"/>
                          <a:cs typeface="Arial"/>
                        </a:rPr>
                        <a:t>6. RF energy tradeoff</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Deliver data within the contact and RF energy budget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55295">
                <a:tc>
                  <a:txBody>
                    <a:bodyPr/>
                    <a:lstStyle/>
                    <a:p>
                      <a:r>
                        <a:rPr sz="1575" b="0">
                          <a:solidFill>
                            <a:srgbClr val="172B3A"/>
                          </a:solidFill>
                          <a:latin typeface="Arial"/>
                          <a:ea typeface="Arial"/>
                          <a:cs typeface="Arial"/>
                        </a:rPr>
                        <a:t>7. Early pass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Repair pointing and radio before the early pass closes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55295">
                <a:tc>
                  <a:txBody>
                    <a:bodyPr/>
                    <a:lstStyle/>
                    <a:p>
                      <a:r>
                        <a:rPr sz="1575" b="0">
                          <a:solidFill>
                            <a:srgbClr val="172B3A"/>
                          </a:solidFill>
                          <a:latin typeface="Arial"/>
                          <a:ea typeface="Arial"/>
                          <a:cs typeface="Arial"/>
                        </a:rPr>
                        <a:t>8. Observation window scheduling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Collect enough exposure within payload energy limits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55295">
                <a:tc>
                  <a:txBody>
                    <a:bodyPr/>
                    <a:lstStyle/>
                    <a:p>
                      <a:r>
                        <a:rPr sz="1575" b="0">
                          <a:solidFill>
                            <a:srgbClr val="172B3A"/>
                          </a:solidFill>
                          <a:latin typeface="Arial"/>
                          <a:ea typeface="Arial"/>
                          <a:cs typeface="Arial"/>
                        </a:rPr>
                        <a:t>9. Science store and forward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Schedule two acquisitions, finite storage and two downlinks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A1857DCC-FA0E-49EC-96A6-E3EA1E65DCE2}"/>
              </a:ext>
            </a:extLst>
          </p:cNvPr>
          <p:cNvSpPr>
            <a:spLocks xmlns:a="http://schemas.openxmlformats.org/drawingml/2006/main" noGrp="1"/>
          </p:cNvSpPr>
          <p:nvPr/>
        </p:nvSpPr>
        <p:spPr>
          <a:xfrm xmlns:a="http://schemas.openxmlformats.org/drawingml/2006/main">
            <a:off x="495300" y="6115050"/>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All nine use the same tools, seeded reset, baseline gates and programmatic verifier.</a:t>
            </a:r>
          </a:p>
        </p:txBody>
      </p:sp>
    </p:spTree>
    <p:extLst>
      <p:ext uri="{BB962C8B-B14F-4D97-AF65-F5344CB8AC3E}">
        <p14:creationId xmlns:p14="http://schemas.microsoft.com/office/powerpoint/2010/main" val="2136865949"/>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CB66D9-5B20-4788-B7EC-017799AD78AD}"/>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Guided tasks: constraints and difficulty</a:t>
            </a:r>
          </a:p>
        </p:txBody>
      </p:sp>
      <p:sp>
        <p:nvSpPr>
          <p:cNvPr id="2" name="">
            <a:extLst xmlns:a="http://schemas.openxmlformats.org/drawingml/2006/main">
              <a:ext uri="{FF2B5EF4-FFF2-40B4-BE49-F238E27FC236}">
                <a16:creationId xmlns:a16="http://schemas.microsoft.com/office/drawing/2014/main" id="{E2CE6B00-E901-42FF-A1F5-B5690C1E162A}"/>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604A593A-ABA2-475F-9485-954C8B7EB153}"/>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C6676F5A-26A7-40E2-939E-18C87C5F750D}"/>
              </a:ext>
            </a:extLst>
          </p:cNvPr>
          <p:cNvGraphicFramePr/>
          <p:nvPr/>
        </p:nvGraphicFramePr>
        <p:xfrm>
          <a:off xmlns:a="http://schemas.openxmlformats.org/drawingml/2006/main" x="495300" y="1390650"/>
          <a:ext xmlns:a="http://schemas.openxmlformats.org/drawingml/2006/main" cx="11201400" cy="4171950"/>
        </p:xfrm>
        <a:graphic xmlns:a="http://schemas.openxmlformats.org/drawingml/2006/main">
          <a:graphicData uri="http://schemas.openxmlformats.org/drawingml/2006/table">
            <a:tbl>
              <a:tblPr/>
              <a:tblGrid>
                <a:gridCol w="2857500"/>
                <a:gridCol w="4171950"/>
                <a:gridCol w="4171950"/>
              </a:tblGrid>
              <a:tr h="695325">
                <a:tc>
                  <a:txBody>
                    <a:bodyPr/>
                    <a:lstStyle/>
                    <a:p>
                      <a:r>
                        <a:rPr sz="1425" b="1">
                          <a:solidFill>
                            <a:srgbClr val="FFFFFF"/>
                          </a:solidFill>
                          <a:latin typeface="Arial"/>
                          <a:ea typeface="Arial"/>
                          <a:cs typeface="Arial"/>
                        </a:rPr>
                        <a:t>Guided task</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Constraints the verifier enforces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makes the repair non-trivial</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695325">
                <a:tc>
                  <a:txBody>
                    <a:bodyPr/>
                    <a:lstStyle/>
                    <a:p>
                      <a:r>
                        <a:rPr sz="1650" b="0">
                          <a:solidFill>
                            <a:srgbClr val="172B3A"/>
                          </a:solidFill>
                          <a:latin typeface="Arial"/>
                          <a:ea typeface="Arial"/>
                          <a:cs typeface="Arial"/>
                        </a:rPr>
                        <a:t>EPS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Fixed capacity; seeded battery reserve;</a:t>
                      </a:r>
                    </a:p>
                    <a:p>
                      <a:r>
                        <a:rPr sz="1650" b="0">
                          <a:solidFill>
                            <a:srgbClr val="172B3A"/>
                          </a:solidFill>
                          <a:latin typeface="Arial"/>
                          <a:ea typeface="Arial"/>
                          <a:cs typeface="Arial"/>
                        </a:rPr>
                        <a:t>voltage protection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Preserve energy through sunlight and eclipse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95325">
                <a:tc>
                  <a:txBody>
                    <a:bodyPr/>
                    <a:lstStyle/>
                    <a:p>
                      <a:r>
                        <a:rPr sz="1650" b="0">
                          <a:solidFill>
                            <a:srgbClr val="172B3A"/>
                          </a:solidFill>
                          <a:latin typeface="Arial"/>
                          <a:ea typeface="Arial"/>
                          <a:cs typeface="Arial"/>
                        </a:rPr>
                        <a:t>ADCS pointing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Protected pointing target and valid controls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Bias and controller response interact;</a:t>
                      </a:r>
                    </a:p>
                    <a:p>
                      <a:r>
                        <a:rPr sz="1650" b="0">
                          <a:solidFill>
                            <a:srgbClr val="172B3A"/>
                          </a:solidFill>
                          <a:latin typeface="Arial"/>
                          <a:ea typeface="Arial"/>
                          <a:cs typeface="Arial"/>
                        </a:rPr>
                        <a:t>deadband edits cannot lower the target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95325">
                <a:tc>
                  <a:txBody>
                    <a:bodyPr/>
                    <a:lstStyle/>
                    <a:p>
                      <a:r>
                        <a:rPr sz="1650" b="0">
                          <a:solidFill>
                            <a:srgbClr val="172B3A"/>
                          </a:solidFill>
                          <a:latin typeface="Arial"/>
                          <a:ea typeface="Arial"/>
                          <a:cs typeface="Arial"/>
                        </a:rPr>
                        <a:t>Thermal preservation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Trajectory temperature bounds and final ceiling</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Safe final temperature cannot erase</a:t>
                      </a:r>
                    </a:p>
                    <a:p>
                      <a:r>
                        <a:rPr sz="1650" b="0">
                          <a:solidFill>
                            <a:srgbClr val="172B3A"/>
                          </a:solidFill>
                          <a:latin typeface="Arial"/>
                          <a:ea typeface="Arial"/>
                          <a:cs typeface="Arial"/>
                        </a:rPr>
                        <a:t>an earlier unsafe excursion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95325">
                <a:tc>
                  <a:txBody>
                    <a:bodyPr/>
                    <a:lstStyle/>
                    <a:p>
                      <a:r>
                        <a:rPr sz="1650" b="0">
                          <a:solidFill>
                            <a:srgbClr val="172B3A"/>
                          </a:solidFill>
                          <a:latin typeface="Arial"/>
                          <a:ea typeface="Arial"/>
                          <a:cs typeface="Arial"/>
                        </a:rPr>
                        <a:t>RF closure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Link margin, data delivery and script behavior</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The calculation must work for live config</a:t>
                      </a:r>
                    </a:p>
                    <a:p>
                      <a:r>
                        <a:rPr sz="1650" b="0">
                          <a:solidFill>
                            <a:srgbClr val="172B3A"/>
                          </a:solidFill>
                          <a:latin typeface="Arial"/>
                          <a:ea typeface="Arial"/>
                          <a:cs typeface="Arial"/>
                        </a:rPr>
                        <a:t>and varied full-schema fixtures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95325">
                <a:tc>
                  <a:txBody>
                    <a:bodyPr/>
                    <a:lstStyle/>
                    <a:p>
                      <a:r>
                        <a:rPr sz="1650" b="0">
                          <a:solidFill>
                            <a:srgbClr val="172B3A"/>
                          </a:solidFill>
                          <a:latin typeface="Arial"/>
                          <a:ea typeface="Arial"/>
                          <a:cs typeface="Arial"/>
                        </a:rPr>
                        <a:t>Safe-mode cascade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Two seeded faults; all mandatory checks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Repair both without creating an</a:t>
                      </a:r>
                    </a:p>
                    <a:p>
                      <a:r>
                        <a:rPr sz="1650" b="0">
                          <a:solidFill>
                            <a:srgbClr val="172B3A"/>
                          </a:solidFill>
                          <a:latin typeface="Arial"/>
                          <a:ea typeface="Arial"/>
                          <a:cs typeface="Arial"/>
                        </a:rPr>
                        <a:t>irreversible safety failure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11E5B11C-D270-43C9-A3A8-9E369C0B482A}"/>
              </a:ext>
            </a:extLst>
          </p:cNvPr>
          <p:cNvSpPr>
            <a:spLocks xmlns:a="http://schemas.openxmlformats.org/drawingml/2006/main" noGrp="1"/>
          </p:cNvSpPr>
          <p:nvPr/>
        </p:nvSpPr>
        <p:spPr>
          <a:xfrm xmlns:a="http://schemas.openxmlformats.org/drawingml/2006/main">
            <a:off x="495300" y="59150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These are guided diagnostic tasks. The next four add deadlines, resource tradeoffs and multi-stage planning.</a:t>
            </a:r>
          </a:p>
        </p:txBody>
      </p:sp>
    </p:spTree>
    <p:extLst>
      <p:ext uri="{BB962C8B-B14F-4D97-AF65-F5344CB8AC3E}">
        <p14:creationId xmlns:p14="http://schemas.microsoft.com/office/powerpoint/2010/main" val="1106653228"/>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43B6DE-A381-48F7-96C0-6E96520494E3}"/>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Hard tasks: constraints and planning challenge</a:t>
            </a:r>
          </a:p>
        </p:txBody>
      </p:sp>
      <p:sp>
        <p:nvSpPr>
          <p:cNvPr id="2" name="">
            <a:extLst xmlns:a="http://schemas.openxmlformats.org/drawingml/2006/main">
              <a:ext uri="{FF2B5EF4-FFF2-40B4-BE49-F238E27FC236}">
                <a16:creationId xmlns:a16="http://schemas.microsoft.com/office/drawing/2014/main" id="{5CEDB0C9-9D68-4B6C-9328-094F116044DE}"/>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E4D497F4-21BD-412C-8DAB-4B5C94BEC005}"/>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69056706-DD7F-4F30-BF50-96D513B27564}"/>
              </a:ext>
            </a:extLst>
          </p:cNvPr>
          <p:cNvGraphicFramePr/>
          <p:nvPr/>
        </p:nvGraphicFramePr>
        <p:xfrm>
          <a:off xmlns:a="http://schemas.openxmlformats.org/drawingml/2006/main" x="495300" y="1400175"/>
          <a:ext xmlns:a="http://schemas.openxmlformats.org/drawingml/2006/main" cx="11201400" cy="4171950"/>
        </p:xfrm>
        <a:graphic xmlns:a="http://schemas.openxmlformats.org/drawingml/2006/main">
          <a:graphicData uri="http://schemas.openxmlformats.org/drawingml/2006/table">
            <a:tbl>
              <a:tblPr/>
              <a:tblGrid>
                <a:gridCol w="2857500"/>
                <a:gridCol w="4457700"/>
                <a:gridCol w="3886200"/>
              </a:tblGrid>
              <a:tr h="834390">
                <a:tc>
                  <a:txBody>
                    <a:bodyPr/>
                    <a:lstStyle/>
                    <a:p>
                      <a:r>
                        <a:rPr sz="1425" b="1">
                          <a:solidFill>
                            <a:srgbClr val="FFFFFF"/>
                          </a:solidFill>
                          <a:latin typeface="Arial"/>
                          <a:ea typeface="Arial"/>
                          <a:cs typeface="Arial"/>
                        </a:rPr>
                        <a:t>Hard task</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Decision and interacting constraints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Why final settings alone are insufficient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834390">
                <a:tc>
                  <a:txBody>
                    <a:bodyPr/>
                    <a:lstStyle/>
                    <a:p>
                      <a:r>
                        <a:rPr sz="1725" b="0">
                          <a:solidFill>
                            <a:srgbClr val="172B3A"/>
                          </a:solidFill>
                          <a:latin typeface="Arial"/>
                          <a:ea typeface="Arial"/>
                          <a:cs typeface="Arial"/>
                        </a:rPr>
                        <a:t>RF energy tradeoff</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Choose rate and power within</a:t>
                      </a:r>
                    </a:p>
                    <a:p>
                      <a:r>
                        <a:rPr sz="1725" b="0">
                          <a:solidFill>
                            <a:srgbClr val="172B3A"/>
                          </a:solidFill>
                          <a:latin typeface="Arial"/>
                          <a:ea typeface="Arial"/>
                          <a:cs typeface="Arial"/>
                        </a:rPr>
                        <a:t>contact and RF energy budgets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High rate costs margin; high power costs energy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834390">
                <a:tc>
                  <a:txBody>
                    <a:bodyPr/>
                    <a:lstStyle/>
                    <a:p>
                      <a:r>
                        <a:rPr sz="1725" b="0">
                          <a:solidFill>
                            <a:srgbClr val="172B3A"/>
                          </a:solidFill>
                          <a:latin typeface="Arial"/>
                          <a:ea typeface="Arial"/>
                          <a:cs typeface="Arial"/>
                        </a:rPr>
                        <a:t>Early pass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Repair pointing and radio</a:t>
                      </a:r>
                    </a:p>
                    <a:p>
                      <a:r>
                        <a:rPr sz="1725" b="0">
                          <a:solidFill>
                            <a:srgbClr val="172B3A"/>
                          </a:solidFill>
                          <a:latin typeface="Arial"/>
                          <a:ea typeface="Arial"/>
                          <a:cs typeface="Arial"/>
                        </a:rPr>
                        <a:t>before a short contact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A closed contact cannot be recovered later</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834390">
                <a:tc>
                  <a:txBody>
                    <a:bodyPr/>
                    <a:lstStyle/>
                    <a:p>
                      <a:r>
                        <a:rPr sz="1725" b="0">
                          <a:solidFill>
                            <a:srgbClr val="172B3A"/>
                          </a:solidFill>
                          <a:latin typeface="Arial"/>
                          <a:ea typeface="Arial"/>
                          <a:cs typeface="Arial"/>
                        </a:rPr>
                        <a:t>Observation scheduling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Schedule useful exposure</a:t>
                      </a:r>
                    </a:p>
                    <a:p>
                      <a:r>
                        <a:rPr sz="1725" b="0">
                          <a:solidFill>
                            <a:srgbClr val="172B3A"/>
                          </a:solidFill>
                          <a:latin typeface="Arial"/>
                          <a:ea typeface="Arial"/>
                          <a:cs typeface="Arial"/>
                        </a:rPr>
                        <a:t>within payload energy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Out-of-window operation spends energy without exposure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834390">
                <a:tc>
                  <a:txBody>
                    <a:bodyPr/>
                    <a:lstStyle/>
                    <a:p>
                      <a:r>
                        <a:rPr sz="1725" b="0">
                          <a:solidFill>
                            <a:srgbClr val="172B3A"/>
                          </a:solidFill>
                          <a:latin typeface="Arial"/>
                          <a:ea typeface="Arial"/>
                          <a:cs typeface="Arial"/>
                        </a:rPr>
                        <a:t>Science store and forward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Two acquisitions and downlinks;</a:t>
                      </a:r>
                    </a:p>
                    <a:p>
                      <a:r>
                        <a:rPr sz="1725" b="0">
                          <a:solidFill>
                            <a:srgbClr val="172B3A"/>
                          </a:solidFill>
                          <a:latin typeface="Arial"/>
                          <a:ea typeface="Arial"/>
                          <a:cs typeface="Arial"/>
                        </a:rPr>
                        <a:t>finite buffer and two budgets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The first contact must free storage for acquisition two</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51389EA8-0320-40C6-A578-9723A400996E}"/>
              </a:ext>
            </a:extLst>
          </p:cNvPr>
          <p:cNvSpPr>
            <a:spLocks xmlns:a="http://schemas.openxmlformats.org/drawingml/2006/main" noGrp="1"/>
          </p:cNvSpPr>
          <p:nvPr/>
        </p:nvSpPr>
        <p:spPr>
          <a:xfrm xmlns:a="http://schemas.openxmlformats.org/drawingml/2006/main">
            <a:off x="495300" y="58007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Read exact contact times, targets, buffer and energy limits from docs/mission.json; values vary by seed.</a:t>
            </a:r>
          </a:p>
        </p:txBody>
      </p:sp>
    </p:spTree>
    <p:extLst>
      <p:ext uri="{BB962C8B-B14F-4D97-AF65-F5344CB8AC3E}">
        <p14:creationId xmlns:p14="http://schemas.microsoft.com/office/powerpoint/2010/main" val="660001587"/>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848AEF-D02B-4A11-9923-F144C1F44163}"/>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Architecture and complete run workflow</a:t>
            </a:r>
          </a:p>
        </p:txBody>
      </p:sp>
      <p:sp>
        <p:nvSpPr>
          <p:cNvPr id="2" name="">
            <a:extLst xmlns:a="http://schemas.openxmlformats.org/drawingml/2006/main">
              <a:ext uri="{FF2B5EF4-FFF2-40B4-BE49-F238E27FC236}">
                <a16:creationId xmlns:a16="http://schemas.microsoft.com/office/drawing/2014/main" id="{9049E558-FF4A-40EF-BEE0-0E5EF41EACE4}"/>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74872943-8511-47E5-BCC9-C5A35B1770C0}"/>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E4AF18E-16B0-44C6-948D-CDADA41C11EE}"/>
              </a:ext>
            </a:extLst>
          </p:cNvPr>
          <p:cNvSpPr>
            <a:spLocks xmlns:a="http://schemas.openxmlformats.org/drawingml/2006/main" noGrp="1"/>
          </p:cNvSpPr>
          <p:nvPr/>
        </p:nvSpPr>
        <p:spPr>
          <a:xfrm xmlns:a="http://schemas.openxmlformats.org/drawingml/2006/main">
            <a:off x="495300" y="1257300"/>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76D"/>
                </a:solidFill>
                <a:latin typeface="Arial"/>
                <a:ea typeface="Arial"/>
                <a:cs typeface="Arial"/>
              </a:defRPr>
            </a:defPPr>
            <a:lvl1pPr>
              <a:defRPr sz="1875" b="1">
                <a:solidFill>
                  <a:srgbClr val="20776D"/>
                </a:solidFill>
                <a:latin typeface="Arial"/>
                <a:ea typeface="Arial"/>
                <a:cs typeface="Arial"/>
              </a:defRPr>
            </a:lvl1pPr>
            <a:lvl2pPr>
              <a:defRPr sz="1875" b="1">
                <a:solidFill>
                  <a:srgbClr val="20776D"/>
                </a:solidFill>
                <a:latin typeface="Arial"/>
                <a:ea typeface="Arial"/>
                <a:cs typeface="Arial"/>
              </a:defRPr>
            </a:lvl2pPr>
            <a:lvl3pPr>
              <a:defRPr sz="1875" b="1">
                <a:solidFill>
                  <a:srgbClr val="20776D"/>
                </a:solidFill>
                <a:latin typeface="Arial"/>
                <a:ea typeface="Arial"/>
                <a:cs typeface="Arial"/>
              </a:defRPr>
            </a:lvl3pPr>
            <a:lvl4pPr>
              <a:defRPr sz="1875" b="1">
                <a:solidFill>
                  <a:srgbClr val="20776D"/>
                </a:solidFill>
                <a:latin typeface="Arial"/>
                <a:ea typeface="Arial"/>
                <a:cs typeface="Arial"/>
              </a:defRPr>
            </a:lvl4pPr>
            <a:lvl5pPr>
              <a:defRPr sz="1875" b="1">
                <a:solidFill>
                  <a:srgbClr val="20776D"/>
                </a:solidFill>
                <a:latin typeface="Arial"/>
                <a:ea typeface="Arial"/>
                <a:cs typeface="Arial"/>
              </a:defRPr>
            </a:lvl5pPr>
            <a:lvl6pPr>
              <a:defRPr sz="1875" b="1">
                <a:solidFill>
                  <a:srgbClr val="20776D"/>
                </a:solidFill>
                <a:latin typeface="Arial"/>
                <a:ea typeface="Arial"/>
                <a:cs typeface="Arial"/>
              </a:defRPr>
            </a:lvl6pPr>
            <a:lvl7pPr>
              <a:defRPr sz="1875" b="1">
                <a:solidFill>
                  <a:srgbClr val="20776D"/>
                </a:solidFill>
                <a:latin typeface="Arial"/>
                <a:ea typeface="Arial"/>
                <a:cs typeface="Arial"/>
              </a:defRPr>
            </a:lvl7pPr>
            <a:lvl8pPr>
              <a:defRPr sz="1875" b="1">
                <a:solidFill>
                  <a:srgbClr val="20776D"/>
                </a:solidFill>
                <a:latin typeface="Arial"/>
                <a:ea typeface="Arial"/>
                <a:cs typeface="Arial"/>
              </a:defRPr>
            </a:lvl8pPr>
            <a:lvl9pPr>
              <a:defRPr sz="1875" b="1">
                <a:solidFill>
                  <a:srgbClr val="20776D"/>
                </a:solidFill>
                <a:latin typeface="Arial"/>
                <a:ea typeface="Arial"/>
                <a:cs typeface="Arial"/>
              </a:defRPr>
            </a:lvl9pPr>
          </a:lstStyle>
          <a:p xmlns:a="http://schemas.openxmlformats.org/drawingml/2006/main">
            <a:pPr>
              <a:defRPr sz="1875" b="1">
                <a:solidFill>
                  <a:srgbClr val="20776D"/>
                </a:solidFill>
                <a:latin typeface="Arial"/>
                <a:ea typeface="Arial"/>
                <a:cs typeface="Arial"/>
              </a:defRPr>
            </a:pPr>
            <a:r>
              <a:rPr sz="1875" b="1">
                <a:solidFill>
                  <a:srgbClr val="20776D"/>
                </a:solidFill>
                <a:latin typeface="Arial"/>
                <a:ea typeface="Arial"/>
                <a:cs typeface="Arial"/>
              </a:rPr>
              <a:t>Model API  ↔  Harness: model loop, verifier and mission truth  ↔  Sandbox: agent tools</a:t>
            </a:r>
          </a:p>
        </p:txBody>
      </p:sp>
      <p:graphicFrame>
        <p:nvGraphicFramePr>
          <p:cNvPr id="5" name="">
            <a:extLst xmlns:a="http://schemas.openxmlformats.org/drawingml/2006/main">
              <a:ext uri="{FF2B5EF4-FFF2-40B4-BE49-F238E27FC236}">
                <a16:creationId xmlns:a16="http://schemas.microsoft.com/office/drawing/2014/main" id="{FB1D1005-268A-45A8-9B50-270922C67DD0}"/>
              </a:ext>
            </a:extLst>
          </p:cNvPr>
          <p:cNvGraphicFramePr/>
          <p:nvPr/>
        </p:nvGraphicFramePr>
        <p:xfrm>
          <a:off xmlns:a="http://schemas.openxmlformats.org/drawingml/2006/main" x="495300" y="1943100"/>
          <a:ext xmlns:a="http://schemas.openxmlformats.org/drawingml/2006/main" cx="11201400" cy="3714750"/>
        </p:xfrm>
        <a:graphic xmlns:a="http://schemas.openxmlformats.org/drawingml/2006/main">
          <a:graphicData uri="http://schemas.openxmlformats.org/drawingml/2006/table">
            <a:tbl>
              <a:tblPr/>
              <a:tblGrid>
                <a:gridCol w="2647950"/>
                <a:gridCol w="4524375"/>
                <a:gridCol w="4029075"/>
              </a:tblGrid>
              <a:tr h="619125">
                <a:tc>
                  <a:txBody>
                    <a:bodyPr/>
                    <a:lstStyle/>
                    <a:p>
                      <a:r>
                        <a:rPr sz="1425" b="1">
                          <a:solidFill>
                            <a:srgbClr val="FFFFFF"/>
                          </a:solidFill>
                          <a:latin typeface="Arial"/>
                          <a:ea typeface="Arial"/>
                          <a:cs typeface="Arial"/>
                        </a:rPr>
                        <a:t>Phase</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runs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Output / condition</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619125">
                <a:tc>
                  <a:txBody>
                    <a:bodyPr/>
                    <a:lstStyle/>
                    <a:p>
                      <a:r>
                        <a:rPr sz="1575" b="0">
                          <a:solidFill>
                            <a:srgbClr val="172B3A"/>
                          </a:solidFill>
                          <a:latin typeface="Arial"/>
                          <a:ea typeface="Arial"/>
                          <a:cs typeface="Arial"/>
                        </a:rPr>
                        <a:t>1. Build + seeded reset</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Build pinned images; create task(seed)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Same seed gives the same initial state hash</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19125">
                <a:tc>
                  <a:txBody>
                    <a:bodyPr/>
                    <a:lstStyle/>
                    <a:p>
                      <a:r>
                        <a:rPr sz="1575" b="0">
                          <a:solidFill>
                            <a:srgbClr val="172B3A"/>
                          </a:solidFill>
                          <a:latin typeface="Arial"/>
                          <a:ea typeface="Arial"/>
                          <a:cs typeface="Arial"/>
                        </a:rPr>
                        <a:t>2. Reference and no-op</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Reset separately for both baselines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Reference ≥0.95 and no-op ≤0.05</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19125">
                <a:tc>
                  <a:txBody>
                    <a:bodyPr/>
                    <a:lstStyle/>
                    <a:p>
                      <a:r>
                        <a:rPr sz="1575" b="0">
                          <a:solidFill>
                            <a:srgbClr val="172B3A"/>
                          </a:solidFill>
                          <a:latin typeface="Arial"/>
                          <a:ea typeface="Arial"/>
                          <a:cs typeface="Arial"/>
                        </a:rPr>
                        <a:t>3. Gate + model reset</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Reject failed gate; otherwise fresh reset</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No model request if baselines fail</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19125">
                <a:tc>
                  <a:txBody>
                    <a:bodyPr/>
                    <a:lstStyle/>
                    <a:p>
                      <a:r>
                        <a:rPr sz="1575" b="0">
                          <a:solidFill>
                            <a:srgbClr val="172B3A"/>
                          </a:solidFill>
                          <a:latin typeface="Arial"/>
                          <a:ea typeface="Arial"/>
                          <a:cs typeface="Arial"/>
                        </a:rPr>
                        <a:t>4. Model/tool loop</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Validate call; execute sandbox tool</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Updated protected state, telemetry, reward and errors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19125">
                <a:tc>
                  <a:txBody>
                    <a:bodyPr/>
                    <a:lstStyle/>
                    <a:p>
                      <a:r>
                        <a:rPr sz="1575" b="0">
                          <a:solidFill>
                            <a:srgbClr val="172B3A"/>
                          </a:solidFill>
                          <a:latin typeface="Arial"/>
                          <a:ea typeface="Arial"/>
                          <a:cs typeface="Arial"/>
                        </a:rPr>
                        <a:t>5. Final verification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Apply final programmatic checks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Reason, named checks, score and replayable action log</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6" name="">
            <a:extLst xmlns:a="http://schemas.openxmlformats.org/drawingml/2006/main">
              <a:ext uri="{FF2B5EF4-FFF2-40B4-BE49-F238E27FC236}">
                <a16:creationId xmlns:a16="http://schemas.microsoft.com/office/drawing/2014/main" id="{A6DBCDCE-20B7-4001-9F5C-EDDC7D592EC3}"/>
              </a:ext>
            </a:extLst>
          </p:cNvPr>
          <p:cNvSpPr>
            <a:spLocks xmlns:a="http://schemas.openxmlformats.org/drawingml/2006/main" noGrp="1"/>
          </p:cNvSpPr>
          <p:nvPr/>
        </p:nvSpPr>
        <p:spPr>
          <a:xfrm xmlns:a="http://schemas.openxmlformats.org/drawingml/2006/main">
            <a:off x="495300" y="585787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Only the harness reaches the model API. The agent sandbox has no outbound route.</a:t>
            </a:r>
          </a:p>
        </p:txBody>
      </p:sp>
    </p:spTree>
    <p:extLst>
      <p:ext uri="{BB962C8B-B14F-4D97-AF65-F5344CB8AC3E}">
        <p14:creationId xmlns:p14="http://schemas.microsoft.com/office/powerpoint/2010/main" val="9571322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B2F86F-F45D-46A6-8E3E-D1CB2D19DDA1}"/>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What the agent sees and can do</a:t>
            </a:r>
          </a:p>
        </p:txBody>
      </p:sp>
      <p:sp>
        <p:nvSpPr>
          <p:cNvPr id="2" name="">
            <a:extLst xmlns:a="http://schemas.openxmlformats.org/drawingml/2006/main">
              <a:ext uri="{FF2B5EF4-FFF2-40B4-BE49-F238E27FC236}">
                <a16:creationId xmlns:a16="http://schemas.microsoft.com/office/drawing/2014/main" id="{C3AF9841-EC49-40A1-B199-1D044D3B0780}"/>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1B05309D-7A3B-4091-8547-21DAB31C9FDC}"/>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692805C-796E-47ED-A5F2-76C084551495}"/>
              </a:ext>
            </a:extLst>
          </p:cNvPr>
          <p:cNvSpPr>
            <a:spLocks xmlns:a="http://schemas.openxmlformats.org/drawingml/2006/main" noGrp="1"/>
          </p:cNvSpPr>
          <p:nvPr/>
        </p:nvSpPr>
        <p:spPr>
          <a:xfrm xmlns:a="http://schemas.openxmlformats.org/drawingml/2006/main">
            <a:off x="495300" y="12287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66A73"/>
                </a:solidFill>
                <a:latin typeface="Arial"/>
                <a:ea typeface="Arial"/>
                <a:cs typeface="Arial"/>
              </a:defRPr>
            </a:defPPr>
            <a:lvl1pPr>
              <a:defRPr sz="1725" b="0">
                <a:solidFill>
                  <a:srgbClr val="566A73"/>
                </a:solidFill>
                <a:latin typeface="Arial"/>
                <a:ea typeface="Arial"/>
                <a:cs typeface="Arial"/>
              </a:defRPr>
            </a:lvl1pPr>
            <a:lvl2pPr>
              <a:defRPr sz="1725" b="0">
                <a:solidFill>
                  <a:srgbClr val="566A73"/>
                </a:solidFill>
                <a:latin typeface="Arial"/>
                <a:ea typeface="Arial"/>
                <a:cs typeface="Arial"/>
              </a:defRPr>
            </a:lvl2pPr>
            <a:lvl3pPr>
              <a:defRPr sz="1725" b="0">
                <a:solidFill>
                  <a:srgbClr val="566A73"/>
                </a:solidFill>
                <a:latin typeface="Arial"/>
                <a:ea typeface="Arial"/>
                <a:cs typeface="Arial"/>
              </a:defRPr>
            </a:lvl3pPr>
            <a:lvl4pPr>
              <a:defRPr sz="1725" b="0">
                <a:solidFill>
                  <a:srgbClr val="566A73"/>
                </a:solidFill>
                <a:latin typeface="Arial"/>
                <a:ea typeface="Arial"/>
                <a:cs typeface="Arial"/>
              </a:defRPr>
            </a:lvl4pPr>
            <a:lvl5pPr>
              <a:defRPr sz="1725" b="0">
                <a:solidFill>
                  <a:srgbClr val="566A73"/>
                </a:solidFill>
                <a:latin typeface="Arial"/>
                <a:ea typeface="Arial"/>
                <a:cs typeface="Arial"/>
              </a:defRPr>
            </a:lvl5pPr>
            <a:lvl6pPr>
              <a:defRPr sz="1725" b="0">
                <a:solidFill>
                  <a:srgbClr val="566A73"/>
                </a:solidFill>
                <a:latin typeface="Arial"/>
                <a:ea typeface="Arial"/>
                <a:cs typeface="Arial"/>
              </a:defRPr>
            </a:lvl6pPr>
            <a:lvl7pPr>
              <a:defRPr sz="1725" b="0">
                <a:solidFill>
                  <a:srgbClr val="566A73"/>
                </a:solidFill>
                <a:latin typeface="Arial"/>
                <a:ea typeface="Arial"/>
                <a:cs typeface="Arial"/>
              </a:defRPr>
            </a:lvl7pPr>
            <a:lvl8pPr>
              <a:defRPr sz="1725" b="0">
                <a:solidFill>
                  <a:srgbClr val="566A73"/>
                </a:solidFill>
                <a:latin typeface="Arial"/>
                <a:ea typeface="Arial"/>
                <a:cs typeface="Arial"/>
              </a:defRPr>
            </a:lvl8pPr>
            <a:lvl9pPr>
              <a:defRPr sz="1725" b="0">
                <a:solidFill>
                  <a:srgbClr val="566A73"/>
                </a:solidFill>
                <a:latin typeface="Arial"/>
                <a:ea typeface="Arial"/>
                <a:cs typeface="Arial"/>
              </a:defRPr>
            </a:lvl9pPr>
          </a:lstStyle>
          <a:p xmlns:a="http://schemas.openxmlformats.org/drawingml/2006/main">
            <a:pPr>
              <a:defRPr sz="1725" b="0">
                <a:solidFill>
                  <a:srgbClr val="566A73"/>
                </a:solidFill>
                <a:latin typeface="Arial"/>
                <a:ea typeface="Arial"/>
                <a:cs typeface="Arial"/>
              </a:defRPr>
            </a:pPr>
            <a:r>
              <a:rPr sz="1725" b="0">
                <a:solidFill>
                  <a:srgbClr val="566A73"/>
                </a:solidFill>
                <a:latin typeface="Arial"/>
                <a:ea typeface="Arial"/>
                <a:cs typeface="Arial"/>
              </a:rPr>
              <a:t>Observations: docs/flight_manual.md, docs/mission.json, subsystem configs and current telemetry</a:t>
            </a:r>
          </a:p>
        </p:txBody>
      </p:sp>
      <p:graphicFrame>
        <p:nvGraphicFramePr>
          <p:cNvPr id="5" name="">
            <a:extLst xmlns:a="http://schemas.openxmlformats.org/drawingml/2006/main">
              <a:ext uri="{FF2B5EF4-FFF2-40B4-BE49-F238E27FC236}">
                <a16:creationId xmlns:a16="http://schemas.microsoft.com/office/drawing/2014/main" id="{86E34773-F9E7-45DC-A972-F50E06D165EB}"/>
              </a:ext>
            </a:extLst>
          </p:cNvPr>
          <p:cNvGraphicFramePr/>
          <p:nvPr/>
        </p:nvGraphicFramePr>
        <p:xfrm>
          <a:off xmlns:a="http://schemas.openxmlformats.org/drawingml/2006/main" x="495300" y="1809750"/>
          <a:ext xmlns:a="http://schemas.openxmlformats.org/drawingml/2006/main" cx="11201400" cy="3543300"/>
        </p:xfrm>
        <a:graphic xmlns:a="http://schemas.openxmlformats.org/drawingml/2006/main">
          <a:graphicData uri="http://schemas.openxmlformats.org/drawingml/2006/table">
            <a:tbl>
              <a:tblPr/>
              <a:tblGrid>
                <a:gridCol w="2390775"/>
                <a:gridCol w="3905250"/>
                <a:gridCol w="4905375"/>
              </a:tblGrid>
              <a:tr h="506186">
                <a:tc>
                  <a:txBody>
                    <a:bodyPr/>
                    <a:lstStyle/>
                    <a:p>
                      <a:r>
                        <a:rPr sz="1425" b="1">
                          <a:solidFill>
                            <a:srgbClr val="FFFFFF"/>
                          </a:solidFill>
                          <a:latin typeface="Arial"/>
                          <a:ea typeface="Arial"/>
                          <a:cs typeface="Arial"/>
                        </a:rPr>
                        <a:t>Tool</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Arguments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Effect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506186">
                <a:tc>
                  <a:txBody>
                    <a:bodyPr/>
                    <a:lstStyle/>
                    <a:p>
                      <a:r>
                        <a:rPr sz="1650" b="0">
                          <a:solidFill>
                            <a:srgbClr val="172B3A"/>
                          </a:solidFill>
                          <a:latin typeface="Arial"/>
                          <a:ea typeface="Arial"/>
                          <a:cs typeface="Arial"/>
                        </a:rPr>
                        <a:t>list_files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List the onboard workspace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06186">
                <a:tc>
                  <a:txBody>
                    <a:bodyPr/>
                    <a:lstStyle/>
                    <a:p>
                      <a:r>
                        <a:rPr sz="1650" b="0">
                          <a:solidFill>
                            <a:srgbClr val="172B3A"/>
                          </a:solidFill>
                          <a:latin typeface="Arial"/>
                          <a:ea typeface="Arial"/>
                          <a:cs typeface="Arial"/>
                        </a:rPr>
                        <a:t>read_file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path; optional offset, limit ≤3500</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Read a complete file in character ranges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06186">
                <a:tc>
                  <a:txBody>
                    <a:bodyPr/>
                    <a:lstStyle/>
                    <a:p>
                      <a:r>
                        <a:rPr sz="1650" b="0">
                          <a:solidFill>
                            <a:srgbClr val="172B3A"/>
                          </a:solidFill>
                          <a:latin typeface="Arial"/>
                          <a:ea typeface="Arial"/>
                          <a:cs typeface="Arial"/>
                        </a:rPr>
                        <a:t>write_file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path, content</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Replace a configuration or Python file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06186">
                <a:tc>
                  <a:txBody>
                    <a:bodyPr/>
                    <a:lstStyle/>
                    <a:p>
                      <a:r>
                        <a:rPr sz="1650" b="0">
                          <a:solidFill>
                            <a:srgbClr val="172B3A"/>
                          </a:solidFill>
                          <a:latin typeface="Arial"/>
                          <a:ea typeface="Arial"/>
                          <a:cs typeface="Arial"/>
                        </a:rPr>
                        <a:t>run_python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code</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Run a bounded check in the sandbox</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06186">
                <a:tc>
                  <a:txBody>
                    <a:bodyPr/>
                    <a:lstStyle/>
                    <a:p>
                      <a:r>
                        <a:rPr sz="1650" b="0">
                          <a:solidFill>
                            <a:srgbClr val="172B3A"/>
                          </a:solidFill>
                          <a:latin typeface="Arial"/>
                          <a:ea typeface="Arial"/>
                          <a:cs typeface="Arial"/>
                        </a:rPr>
                        <a:t>step_orbit</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minutes = 1..30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Advance the simulated mission and telemetry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06186">
                <a:tc>
                  <a:txBody>
                    <a:bodyPr/>
                    <a:lstStyle/>
                    <a:p>
                      <a:r>
                        <a:rPr sz="1650" b="0">
                          <a:solidFill>
                            <a:srgbClr val="172B3A"/>
                          </a:solidFill>
                          <a:latin typeface="Arial"/>
                          <a:ea typeface="Arial"/>
                          <a:cs typeface="Arial"/>
                        </a:rPr>
                        <a:t>finish</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Request final outcome verification</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6" name="">
            <a:extLst xmlns:a="http://schemas.openxmlformats.org/drawingml/2006/main">
              <a:ext uri="{FF2B5EF4-FFF2-40B4-BE49-F238E27FC236}">
                <a16:creationId xmlns:a16="http://schemas.microsoft.com/office/drawing/2014/main" id="{F1AC5F69-CB31-4F55-A527-A5F32DAEFA7B}"/>
              </a:ext>
            </a:extLst>
          </p:cNvPr>
          <p:cNvSpPr>
            <a:spLocks xmlns:a="http://schemas.openxmlformats.org/drawingml/2006/main" noGrp="1"/>
          </p:cNvSpPr>
          <p:nvPr/>
        </p:nvSpPr>
        <p:spPr>
          <a:xfrm xmlns:a="http://schemas.openxmlformats.org/drawingml/2006/main">
            <a:off x="495300" y="58007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Persistent state: time, energy, temperature, pointing, exposure and science inventory. Ordinary attempts cost 30 simulated seconds.</a:t>
            </a:r>
          </a:p>
        </p:txBody>
      </p:sp>
    </p:spTree>
    <p:extLst>
      <p:ext uri="{BB962C8B-B14F-4D97-AF65-F5344CB8AC3E}">
        <p14:creationId xmlns:p14="http://schemas.microsoft.com/office/powerpoint/2010/main" val="4335955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8CAA57-F200-47FF-926C-2B9F25DEAE10}"/>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Worked example: EPS recovery, seed 0</a:t>
            </a:r>
          </a:p>
        </p:txBody>
      </p:sp>
      <p:sp>
        <p:nvSpPr>
          <p:cNvPr id="2" name="">
            <a:extLst xmlns:a="http://schemas.openxmlformats.org/drawingml/2006/main">
              <a:ext uri="{FF2B5EF4-FFF2-40B4-BE49-F238E27FC236}">
                <a16:creationId xmlns:a16="http://schemas.microsoft.com/office/drawing/2014/main" id="{F03B62F8-18AD-40DF-AECB-2B4BD2B0CB59}"/>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B0F41A1C-C352-486B-9E89-3ECF08A8B0E4}"/>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9135182-4A7C-4F44-84AE-AF16207AE575}"/>
              </a:ext>
            </a:extLst>
          </p:cNvPr>
          <p:cNvSpPr>
            <a:spLocks xmlns:a="http://schemas.openxmlformats.org/drawingml/2006/main" noGrp="1"/>
          </p:cNvSpPr>
          <p:nvPr/>
        </p:nvSpPr>
        <p:spPr>
          <a:xfrm xmlns:a="http://schemas.openxmlformats.org/drawingml/2006/main">
            <a:off x="495300" y="1295400"/>
            <a:ext cx="11201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66A73"/>
                </a:solidFill>
                <a:latin typeface="Arial"/>
                <a:ea typeface="Arial"/>
                <a:cs typeface="Arial"/>
              </a:defRPr>
            </a:defPPr>
            <a:lvl1pPr>
              <a:defRPr sz="1875" b="0">
                <a:solidFill>
                  <a:srgbClr val="566A73"/>
                </a:solidFill>
                <a:latin typeface="Arial"/>
                <a:ea typeface="Arial"/>
                <a:cs typeface="Arial"/>
              </a:defRPr>
            </a:lvl1pPr>
            <a:lvl2pPr>
              <a:defRPr sz="1875" b="0">
                <a:solidFill>
                  <a:srgbClr val="566A73"/>
                </a:solidFill>
                <a:latin typeface="Arial"/>
                <a:ea typeface="Arial"/>
                <a:cs typeface="Arial"/>
              </a:defRPr>
            </a:lvl2pPr>
            <a:lvl3pPr>
              <a:defRPr sz="1875" b="0">
                <a:solidFill>
                  <a:srgbClr val="566A73"/>
                </a:solidFill>
                <a:latin typeface="Arial"/>
                <a:ea typeface="Arial"/>
                <a:cs typeface="Arial"/>
              </a:defRPr>
            </a:lvl3pPr>
            <a:lvl4pPr>
              <a:defRPr sz="1875" b="0">
                <a:solidFill>
                  <a:srgbClr val="566A73"/>
                </a:solidFill>
                <a:latin typeface="Arial"/>
                <a:ea typeface="Arial"/>
                <a:cs typeface="Arial"/>
              </a:defRPr>
            </a:lvl4pPr>
            <a:lvl5pPr>
              <a:defRPr sz="1875" b="0">
                <a:solidFill>
                  <a:srgbClr val="566A73"/>
                </a:solidFill>
                <a:latin typeface="Arial"/>
                <a:ea typeface="Arial"/>
                <a:cs typeface="Arial"/>
              </a:defRPr>
            </a:lvl5pPr>
            <a:lvl6pPr>
              <a:defRPr sz="1875" b="0">
                <a:solidFill>
                  <a:srgbClr val="566A73"/>
                </a:solidFill>
                <a:latin typeface="Arial"/>
                <a:ea typeface="Arial"/>
                <a:cs typeface="Arial"/>
              </a:defRPr>
            </a:lvl6pPr>
            <a:lvl7pPr>
              <a:defRPr sz="1875" b="0">
                <a:solidFill>
                  <a:srgbClr val="566A73"/>
                </a:solidFill>
                <a:latin typeface="Arial"/>
                <a:ea typeface="Arial"/>
                <a:cs typeface="Arial"/>
              </a:defRPr>
            </a:lvl7pPr>
            <a:lvl8pPr>
              <a:defRPr sz="1875" b="0">
                <a:solidFill>
                  <a:srgbClr val="566A73"/>
                </a:solidFill>
                <a:latin typeface="Arial"/>
                <a:ea typeface="Arial"/>
                <a:cs typeface="Arial"/>
              </a:defRPr>
            </a:lvl8pPr>
            <a:lvl9pPr>
              <a:defRPr sz="1875" b="0">
                <a:solidFill>
                  <a:srgbClr val="566A73"/>
                </a:solidFill>
                <a:latin typeface="Arial"/>
                <a:ea typeface="Arial"/>
                <a:cs typeface="Arial"/>
              </a:defRPr>
            </a:lvl9pPr>
          </a:lstStyle>
          <a:p xmlns:a="http://schemas.openxmlformats.org/drawingml/2006/main">
            <a:pPr>
              <a:defRPr sz="1875" b="0">
                <a:solidFill>
                  <a:srgbClr val="566A73"/>
                </a:solidFill>
                <a:latin typeface="Arial"/>
                <a:ea typeface="Arial"/>
                <a:cs typeface="Arial"/>
              </a:defRPr>
            </a:pPr>
            <a:r>
              <a:rPr sz="1875" b="0">
                <a:solidFill>
                  <a:srgbClr val="566A73"/>
                </a:solidFill>
                <a:latin typeface="Arial"/>
                <a:ea typeface="Arial"/>
                <a:cs typeface="Arial"/>
              </a:rPr>
              <a:t>Read the manual and mission targets; inspect subsystems/eps.cfg and live telemetry.</a:t>
            </a:r>
          </a:p>
        </p:txBody>
      </p:sp>
      <p:graphicFrame>
        <p:nvGraphicFramePr>
          <p:cNvPr id="5" name="">
            <a:extLst xmlns:a="http://schemas.openxmlformats.org/drawingml/2006/main">
              <a:ext uri="{FF2B5EF4-FFF2-40B4-BE49-F238E27FC236}">
                <a16:creationId xmlns:a16="http://schemas.microsoft.com/office/drawing/2014/main" id="{180ACE25-8C1A-4590-A4CD-00674B122108}"/>
              </a:ext>
            </a:extLst>
          </p:cNvPr>
          <p:cNvGraphicFramePr/>
          <p:nvPr/>
        </p:nvGraphicFramePr>
        <p:xfrm>
          <a:off xmlns:a="http://schemas.openxmlformats.org/drawingml/2006/main" x="495300" y="2038350"/>
          <a:ext xmlns:a="http://schemas.openxmlformats.org/drawingml/2006/main" cx="11201400" cy="1924050"/>
        </p:xfrm>
        <a:graphic xmlns:a="http://schemas.openxmlformats.org/drawingml/2006/main">
          <a:graphicData uri="http://schemas.openxmlformats.org/drawingml/2006/table">
            <a:tbl>
              <a:tblPr/>
              <a:tblGrid>
                <a:gridCol w="5143500"/>
                <a:gridCol w="3000375"/>
                <a:gridCol w="3057525"/>
              </a:tblGrid>
              <a:tr h="641350">
                <a:tc>
                  <a:txBody>
                    <a:bodyPr/>
                    <a:lstStyle/>
                    <a:p>
                      <a:r>
                        <a:rPr sz="1425" b="1">
                          <a:solidFill>
                            <a:srgbClr val="FFFFFF"/>
                          </a:solidFill>
                          <a:latin typeface="Arial"/>
                          <a:ea typeface="Arial"/>
                          <a:cs typeface="Arial"/>
                        </a:rPr>
                        <a:t>Observed setting</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Initial fault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Executed repair</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641350">
                <a:tc>
                  <a:txBody>
                    <a:bodyPr/>
                    <a:lstStyle/>
                    <a:p>
                      <a:r>
                        <a:rPr sz="2025" b="0">
                          <a:solidFill>
                            <a:srgbClr val="172B3A"/>
                          </a:solidFill>
                          <a:latin typeface="Arial"/>
                          <a:ea typeface="Arial"/>
                          <a:cs typeface="Arial"/>
                        </a:rPr>
                        <a:t>solar_efficiency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2025" b="0">
                          <a:solidFill>
                            <a:srgbClr val="172B3A"/>
                          </a:solidFill>
                          <a:latin typeface="Arial"/>
                          <a:ea typeface="Arial"/>
                          <a:cs typeface="Arial"/>
                        </a:rPr>
                        <a:t>0.41</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2025" b="0">
                          <a:solidFill>
                            <a:srgbClr val="172B3A"/>
                          </a:solidFill>
                          <a:latin typeface="Arial"/>
                          <a:ea typeface="Arial"/>
                          <a:cs typeface="Arial"/>
                        </a:rPr>
                        <a:t>0.72</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41350">
                <a:tc>
                  <a:txBody>
                    <a:bodyPr/>
                    <a:lstStyle/>
                    <a:p>
                      <a:r>
                        <a:rPr sz="2025" b="0">
                          <a:solidFill>
                            <a:srgbClr val="172B3A"/>
                          </a:solidFill>
                          <a:latin typeface="Arial"/>
                          <a:ea typeface="Arial"/>
                          <a:cs typeface="Arial"/>
                        </a:rPr>
                        <a:t>undervoltage_threshold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2025" b="0">
                          <a:solidFill>
                            <a:srgbClr val="172B3A"/>
                          </a:solidFill>
                          <a:latin typeface="Arial"/>
                          <a:ea typeface="Arial"/>
                          <a:cs typeface="Arial"/>
                        </a:rPr>
                        <a:t>2.80 V</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2025" b="0">
                          <a:solidFill>
                            <a:srgbClr val="172B3A"/>
                          </a:solidFill>
                          <a:latin typeface="Arial"/>
                          <a:ea typeface="Arial"/>
                          <a:cs typeface="Arial"/>
                        </a:rPr>
                        <a:t>3.20 V</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6" name="">
            <a:extLst xmlns:a="http://schemas.openxmlformats.org/drawingml/2006/main">
              <a:ext uri="{FF2B5EF4-FFF2-40B4-BE49-F238E27FC236}">
                <a16:creationId xmlns:a16="http://schemas.microsoft.com/office/drawing/2014/main" id="{018A0D14-673F-4931-A93D-D35623354A09}"/>
              </a:ext>
            </a:extLst>
          </p:cNvPr>
          <p:cNvSpPr>
            <a:spLocks xmlns:a="http://schemas.openxmlformats.org/drawingml/2006/main" noGrp="1"/>
          </p:cNvSpPr>
          <p:nvPr/>
        </p:nvSpPr>
        <p:spPr>
          <a:xfrm xmlns:a="http://schemas.openxmlformats.org/drawingml/2006/main">
            <a:off x="495300" y="4238625"/>
            <a:ext cx="1120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B3A"/>
                </a:solidFill>
                <a:latin typeface="Arial"/>
                <a:ea typeface="Arial"/>
                <a:cs typeface="Arial"/>
              </a:defRPr>
            </a:defPPr>
            <a:lvl1pPr>
              <a:defRPr sz="2025" b="1">
                <a:solidFill>
                  <a:srgbClr val="172B3A"/>
                </a:solidFill>
                <a:latin typeface="Arial"/>
                <a:ea typeface="Arial"/>
                <a:cs typeface="Arial"/>
              </a:defRPr>
            </a:lvl1pPr>
            <a:lvl2pPr>
              <a:defRPr sz="2025" b="1">
                <a:solidFill>
                  <a:srgbClr val="172B3A"/>
                </a:solidFill>
                <a:latin typeface="Arial"/>
                <a:ea typeface="Arial"/>
                <a:cs typeface="Arial"/>
              </a:defRPr>
            </a:lvl2pPr>
            <a:lvl3pPr>
              <a:defRPr sz="2025" b="1">
                <a:solidFill>
                  <a:srgbClr val="172B3A"/>
                </a:solidFill>
                <a:latin typeface="Arial"/>
                <a:ea typeface="Arial"/>
                <a:cs typeface="Arial"/>
              </a:defRPr>
            </a:lvl3pPr>
            <a:lvl4pPr>
              <a:defRPr sz="2025" b="1">
                <a:solidFill>
                  <a:srgbClr val="172B3A"/>
                </a:solidFill>
                <a:latin typeface="Arial"/>
                <a:ea typeface="Arial"/>
                <a:cs typeface="Arial"/>
              </a:defRPr>
            </a:lvl4pPr>
            <a:lvl5pPr>
              <a:defRPr sz="2025" b="1">
                <a:solidFill>
                  <a:srgbClr val="172B3A"/>
                </a:solidFill>
                <a:latin typeface="Arial"/>
                <a:ea typeface="Arial"/>
                <a:cs typeface="Arial"/>
              </a:defRPr>
            </a:lvl5pPr>
            <a:lvl6pPr>
              <a:defRPr sz="2025" b="1">
                <a:solidFill>
                  <a:srgbClr val="172B3A"/>
                </a:solidFill>
                <a:latin typeface="Arial"/>
                <a:ea typeface="Arial"/>
                <a:cs typeface="Arial"/>
              </a:defRPr>
            </a:lvl6pPr>
            <a:lvl7pPr>
              <a:defRPr sz="2025" b="1">
                <a:solidFill>
                  <a:srgbClr val="172B3A"/>
                </a:solidFill>
                <a:latin typeface="Arial"/>
                <a:ea typeface="Arial"/>
                <a:cs typeface="Arial"/>
              </a:defRPr>
            </a:lvl7pPr>
            <a:lvl8pPr>
              <a:defRPr sz="2025" b="1">
                <a:solidFill>
                  <a:srgbClr val="172B3A"/>
                </a:solidFill>
                <a:latin typeface="Arial"/>
                <a:ea typeface="Arial"/>
                <a:cs typeface="Arial"/>
              </a:defRPr>
            </a:lvl8pPr>
            <a:lvl9pPr>
              <a:defRPr sz="2025" b="1">
                <a:solidFill>
                  <a:srgbClr val="172B3A"/>
                </a:solidFill>
                <a:latin typeface="Arial"/>
                <a:ea typeface="Arial"/>
                <a:cs typeface="Arial"/>
              </a:defRPr>
            </a:lvl9pPr>
          </a:lstStyle>
          <a:p xmlns:a="http://schemas.openxmlformats.org/drawingml/2006/main">
            <a:pPr>
              <a:defRPr sz="2025" b="1">
                <a:solidFill>
                  <a:srgbClr val="172B3A"/>
                </a:solidFill>
                <a:latin typeface="Arial"/>
                <a:ea typeface="Arial"/>
                <a:cs typeface="Arial"/>
              </a:defRPr>
            </a:pPr>
            <a:r>
              <a:rPr sz="2025" b="1">
                <a:solidFill>
                  <a:srgbClr val="172B3A"/>
                </a:solidFill>
                <a:latin typeface="Arial"/>
                <a:ea typeface="Arial"/>
                <a:cs typeface="Arial"/>
              </a:rPr>
              <a:t>1  Inspect files and diagnose the power deficit</a:t>
            </a:r>
          </a:p>
        </p:txBody>
      </p:sp>
      <p:sp>
        <p:nvSpPr>
          <p:cNvPr id="7" name="">
            <a:extLst xmlns:a="http://schemas.openxmlformats.org/drawingml/2006/main">
              <a:ext uri="{FF2B5EF4-FFF2-40B4-BE49-F238E27FC236}">
                <a16:creationId xmlns:a16="http://schemas.microsoft.com/office/drawing/2014/main" id="{CF107B37-640A-4FF0-A741-230238EFC4B8}"/>
              </a:ext>
            </a:extLst>
          </p:cNvPr>
          <p:cNvSpPr>
            <a:spLocks xmlns:a="http://schemas.openxmlformats.org/drawingml/2006/main" noGrp="1"/>
          </p:cNvSpPr>
          <p:nvPr/>
        </p:nvSpPr>
        <p:spPr>
          <a:xfrm xmlns:a="http://schemas.openxmlformats.org/drawingml/2006/main">
            <a:off x="495300" y="4772025"/>
            <a:ext cx="1120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B3A"/>
                </a:solidFill>
                <a:latin typeface="Arial"/>
                <a:ea typeface="Arial"/>
                <a:cs typeface="Arial"/>
              </a:defRPr>
            </a:defPPr>
            <a:lvl1pPr>
              <a:defRPr sz="2025" b="1">
                <a:solidFill>
                  <a:srgbClr val="172B3A"/>
                </a:solidFill>
                <a:latin typeface="Arial"/>
                <a:ea typeface="Arial"/>
                <a:cs typeface="Arial"/>
              </a:defRPr>
            </a:lvl1pPr>
            <a:lvl2pPr>
              <a:defRPr sz="2025" b="1">
                <a:solidFill>
                  <a:srgbClr val="172B3A"/>
                </a:solidFill>
                <a:latin typeface="Arial"/>
                <a:ea typeface="Arial"/>
                <a:cs typeface="Arial"/>
              </a:defRPr>
            </a:lvl2pPr>
            <a:lvl3pPr>
              <a:defRPr sz="2025" b="1">
                <a:solidFill>
                  <a:srgbClr val="172B3A"/>
                </a:solidFill>
                <a:latin typeface="Arial"/>
                <a:ea typeface="Arial"/>
                <a:cs typeface="Arial"/>
              </a:defRPr>
            </a:lvl3pPr>
            <a:lvl4pPr>
              <a:defRPr sz="2025" b="1">
                <a:solidFill>
                  <a:srgbClr val="172B3A"/>
                </a:solidFill>
                <a:latin typeface="Arial"/>
                <a:ea typeface="Arial"/>
                <a:cs typeface="Arial"/>
              </a:defRPr>
            </a:lvl4pPr>
            <a:lvl5pPr>
              <a:defRPr sz="2025" b="1">
                <a:solidFill>
                  <a:srgbClr val="172B3A"/>
                </a:solidFill>
                <a:latin typeface="Arial"/>
                <a:ea typeface="Arial"/>
                <a:cs typeface="Arial"/>
              </a:defRPr>
            </a:lvl5pPr>
            <a:lvl6pPr>
              <a:defRPr sz="2025" b="1">
                <a:solidFill>
                  <a:srgbClr val="172B3A"/>
                </a:solidFill>
                <a:latin typeface="Arial"/>
                <a:ea typeface="Arial"/>
                <a:cs typeface="Arial"/>
              </a:defRPr>
            </a:lvl6pPr>
            <a:lvl7pPr>
              <a:defRPr sz="2025" b="1">
                <a:solidFill>
                  <a:srgbClr val="172B3A"/>
                </a:solidFill>
                <a:latin typeface="Arial"/>
                <a:ea typeface="Arial"/>
                <a:cs typeface="Arial"/>
              </a:defRPr>
            </a:lvl7pPr>
            <a:lvl8pPr>
              <a:defRPr sz="2025" b="1">
                <a:solidFill>
                  <a:srgbClr val="172B3A"/>
                </a:solidFill>
                <a:latin typeface="Arial"/>
                <a:ea typeface="Arial"/>
                <a:cs typeface="Arial"/>
              </a:defRPr>
            </a:lvl8pPr>
            <a:lvl9pPr>
              <a:defRPr sz="2025" b="1">
                <a:solidFill>
                  <a:srgbClr val="172B3A"/>
                </a:solidFill>
                <a:latin typeface="Arial"/>
                <a:ea typeface="Arial"/>
                <a:cs typeface="Arial"/>
              </a:defRPr>
            </a:lvl9pPr>
          </a:lstStyle>
          <a:p xmlns:a="http://schemas.openxmlformats.org/drawingml/2006/main">
            <a:pPr>
              <a:defRPr sz="2025" b="1">
                <a:solidFill>
                  <a:srgbClr val="172B3A"/>
                </a:solidFill>
                <a:latin typeface="Arial"/>
                <a:ea typeface="Arial"/>
                <a:cs typeface="Arial"/>
              </a:defRPr>
            </a:pPr>
            <a:r>
              <a:rPr sz="2025" b="1">
                <a:solidFill>
                  <a:srgbClr val="172B3A"/>
                </a:solidFill>
                <a:latin typeface="Arial"/>
                <a:ea typeface="Arial"/>
                <a:cs typeface="Arial"/>
              </a:rPr>
              <a:t>2  Write the corrected config and test the changing world</a:t>
            </a:r>
          </a:p>
        </p:txBody>
      </p:sp>
      <p:sp>
        <p:nvSpPr>
          <p:cNvPr id="8" name="">
            <a:extLst xmlns:a="http://schemas.openxmlformats.org/drawingml/2006/main">
              <a:ext uri="{FF2B5EF4-FFF2-40B4-BE49-F238E27FC236}">
                <a16:creationId xmlns:a16="http://schemas.microsoft.com/office/drawing/2014/main" id="{F74B7825-A634-4997-AB5A-B70B11CDCFFB}"/>
              </a:ext>
            </a:extLst>
          </p:cNvPr>
          <p:cNvSpPr>
            <a:spLocks xmlns:a="http://schemas.openxmlformats.org/drawingml/2006/main" noGrp="1"/>
          </p:cNvSpPr>
          <p:nvPr/>
        </p:nvSpPr>
        <p:spPr>
          <a:xfrm xmlns:a="http://schemas.openxmlformats.org/drawingml/2006/main">
            <a:off x="495300" y="530542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B3A"/>
                </a:solidFill>
                <a:latin typeface="Arial"/>
                <a:ea typeface="Arial"/>
                <a:cs typeface="Arial"/>
              </a:defRPr>
            </a:defPPr>
            <a:lvl1pPr>
              <a:defRPr sz="2025" b="1">
                <a:solidFill>
                  <a:srgbClr val="172B3A"/>
                </a:solidFill>
                <a:latin typeface="Arial"/>
                <a:ea typeface="Arial"/>
                <a:cs typeface="Arial"/>
              </a:defRPr>
            </a:lvl1pPr>
            <a:lvl2pPr>
              <a:defRPr sz="2025" b="1">
                <a:solidFill>
                  <a:srgbClr val="172B3A"/>
                </a:solidFill>
                <a:latin typeface="Arial"/>
                <a:ea typeface="Arial"/>
                <a:cs typeface="Arial"/>
              </a:defRPr>
            </a:lvl2pPr>
            <a:lvl3pPr>
              <a:defRPr sz="2025" b="1">
                <a:solidFill>
                  <a:srgbClr val="172B3A"/>
                </a:solidFill>
                <a:latin typeface="Arial"/>
                <a:ea typeface="Arial"/>
                <a:cs typeface="Arial"/>
              </a:defRPr>
            </a:lvl3pPr>
            <a:lvl4pPr>
              <a:defRPr sz="2025" b="1">
                <a:solidFill>
                  <a:srgbClr val="172B3A"/>
                </a:solidFill>
                <a:latin typeface="Arial"/>
                <a:ea typeface="Arial"/>
                <a:cs typeface="Arial"/>
              </a:defRPr>
            </a:lvl4pPr>
            <a:lvl5pPr>
              <a:defRPr sz="2025" b="1">
                <a:solidFill>
                  <a:srgbClr val="172B3A"/>
                </a:solidFill>
                <a:latin typeface="Arial"/>
                <a:ea typeface="Arial"/>
                <a:cs typeface="Arial"/>
              </a:defRPr>
            </a:lvl5pPr>
            <a:lvl6pPr>
              <a:defRPr sz="2025" b="1">
                <a:solidFill>
                  <a:srgbClr val="172B3A"/>
                </a:solidFill>
                <a:latin typeface="Arial"/>
                <a:ea typeface="Arial"/>
                <a:cs typeface="Arial"/>
              </a:defRPr>
            </a:lvl6pPr>
            <a:lvl7pPr>
              <a:defRPr sz="2025" b="1">
                <a:solidFill>
                  <a:srgbClr val="172B3A"/>
                </a:solidFill>
                <a:latin typeface="Arial"/>
                <a:ea typeface="Arial"/>
                <a:cs typeface="Arial"/>
              </a:defRPr>
            </a:lvl7pPr>
            <a:lvl8pPr>
              <a:defRPr sz="2025" b="1">
                <a:solidFill>
                  <a:srgbClr val="172B3A"/>
                </a:solidFill>
                <a:latin typeface="Arial"/>
                <a:ea typeface="Arial"/>
                <a:cs typeface="Arial"/>
              </a:defRPr>
            </a:lvl8pPr>
            <a:lvl9pPr>
              <a:defRPr sz="2025" b="1">
                <a:solidFill>
                  <a:srgbClr val="172B3A"/>
                </a:solidFill>
                <a:latin typeface="Arial"/>
                <a:ea typeface="Arial"/>
                <a:cs typeface="Arial"/>
              </a:defRPr>
            </a:lvl9pPr>
          </a:lstStyle>
          <a:p xmlns:a="http://schemas.openxmlformats.org/drawingml/2006/main">
            <a:pPr>
              <a:defRPr sz="2025" b="1">
                <a:solidFill>
                  <a:srgbClr val="172B3A"/>
                </a:solidFill>
                <a:latin typeface="Arial"/>
                <a:ea typeface="Arial"/>
                <a:cs typeface="Arial"/>
              </a:defRPr>
            </a:pPr>
            <a:r>
              <a:rPr sz="2025" b="1">
                <a:solidFill>
                  <a:srgbClr val="172B3A"/>
                </a:solidFill>
                <a:latin typeface="Arial"/>
                <a:ea typeface="Arial"/>
                <a:cs typeface="Arial"/>
              </a:rPr>
              <a:t>3  Call finish; the verifier projects and checks the remaining orbit</a:t>
            </a:r>
          </a:p>
        </p:txBody>
      </p:sp>
      <p:sp>
        <p:nvSpPr>
          <p:cNvPr id="9" name="">
            <a:extLst xmlns:a="http://schemas.openxmlformats.org/drawingml/2006/main">
              <a:ext uri="{FF2B5EF4-FFF2-40B4-BE49-F238E27FC236}">
                <a16:creationId xmlns:a16="http://schemas.microsoft.com/office/drawing/2014/main" id="{01A891D0-3D9C-41AD-B895-094A4D95D68B}"/>
              </a:ext>
            </a:extLst>
          </p:cNvPr>
          <p:cNvSpPr>
            <a:spLocks xmlns:a="http://schemas.openxmlformats.org/drawingml/2006/main" noGrp="1"/>
          </p:cNvSpPr>
          <p:nvPr/>
        </p:nvSpPr>
        <p:spPr>
          <a:xfrm xmlns:a="http://schemas.openxmlformats.org/drawingml/2006/main">
            <a:off x="495300" y="5905500"/>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Recorded result: 87.778% final battery reserve, all mandatory checks pass, reward 1.0 in 11 replies.</a:t>
            </a:r>
          </a:p>
        </p:txBody>
      </p:sp>
    </p:spTree>
    <p:extLst>
      <p:ext uri="{BB962C8B-B14F-4D97-AF65-F5344CB8AC3E}">
        <p14:creationId xmlns:p14="http://schemas.microsoft.com/office/powerpoint/2010/main" val="680775775"/>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4B34F0-C061-4604-A2EE-74EC0F243E55}"/>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Worked example: science store and forward</a:t>
            </a:r>
          </a:p>
        </p:txBody>
      </p:sp>
      <p:sp>
        <p:nvSpPr>
          <p:cNvPr id="2" name="">
            <a:extLst xmlns:a="http://schemas.openxmlformats.org/drawingml/2006/main">
              <a:ext uri="{FF2B5EF4-FFF2-40B4-BE49-F238E27FC236}">
                <a16:creationId xmlns:a16="http://schemas.microsoft.com/office/drawing/2014/main" id="{D9FB45D6-3413-412C-A9E7-776F1E4FDFD5}"/>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FD75418F-09D6-44C2-BF2F-4007C8AB410F}"/>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D8CAC7C0-2D02-4A33-9EEC-D17C518324D8}"/>
              </a:ext>
            </a:extLst>
          </p:cNvPr>
          <p:cNvGraphicFramePr/>
          <p:nvPr/>
        </p:nvGraphicFramePr>
        <p:xfrm>
          <a:off xmlns:a="http://schemas.openxmlformats.org/drawingml/2006/main" x="495300" y="1381125"/>
          <a:ext xmlns:a="http://schemas.openxmlformats.org/drawingml/2006/main" cx="11201400" cy="4048125"/>
        </p:xfrm>
        <a:graphic xmlns:a="http://schemas.openxmlformats.org/drawingml/2006/main">
          <a:graphicData uri="http://schemas.openxmlformats.org/drawingml/2006/table">
            <a:tbl>
              <a:tblPr/>
              <a:tblGrid>
                <a:gridCol w="3238500"/>
                <a:gridCol w="3886200"/>
                <a:gridCol w="4076700"/>
              </a:tblGrid>
              <a:tr h="674688">
                <a:tc>
                  <a:txBody>
                    <a:bodyPr/>
                    <a:lstStyle/>
                    <a:p>
                      <a:r>
                        <a:rPr sz="1425" b="1">
                          <a:solidFill>
                            <a:srgbClr val="FFFFFF"/>
                          </a:solidFill>
                          <a:latin typeface="Arial"/>
                          <a:ea typeface="Arial"/>
                          <a:cs typeface="Arial"/>
                        </a:rPr>
                        <a:t>Mission elapsed time</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Executed / physical event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Verified effect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674688">
                <a:tc>
                  <a:txBody>
                    <a:bodyPr/>
                    <a:lstStyle/>
                    <a:p>
                      <a:r>
                        <a:rPr sz="1650" b="0">
                          <a:solidFill>
                            <a:srgbClr val="172B3A"/>
                          </a:solidFill>
                          <a:latin typeface="Arial"/>
                          <a:ea typeface="Arial"/>
                          <a:cs typeface="Arial"/>
                        </a:rPr>
                        <a:t>19.5 min; window 19-24 min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Enable science acquisition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270 s useful exposure; 513 kB generated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74688">
                <a:tc>
                  <a:txBody>
                    <a:bodyPr/>
                    <a:lstStyle/>
                    <a:p>
                      <a:r>
                        <a:rPr sz="1650" b="0">
                          <a:solidFill>
                            <a:srgbClr val="172B3A"/>
                          </a:solidFill>
                          <a:latin typeface="Arial"/>
                          <a:ea typeface="Arial"/>
                          <a:cs typeface="Arial"/>
                        </a:rPr>
                        <a:t>29-33 min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Downlink at contact one</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513 kB delivered; buffer cleared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74688">
                <a:tc>
                  <a:txBody>
                    <a:bodyPr/>
                    <a:lstStyle/>
                    <a:p>
                      <a:r>
                        <a:rPr sz="1650" b="0">
                          <a:solidFill>
                            <a:srgbClr val="172B3A"/>
                          </a:solidFill>
                          <a:latin typeface="Arial"/>
                          <a:ea typeface="Arial"/>
                          <a:cs typeface="Arial"/>
                        </a:rPr>
                        <a:t>49-53 min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Collect in acquisition window two</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240 s exposure; another 456 kB generated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74688">
                <a:tc>
                  <a:txBody>
                    <a:bodyPr/>
                    <a:lstStyle/>
                    <a:p>
                      <a:r>
                        <a:rPr sz="1650" b="0">
                          <a:solidFill>
                            <a:srgbClr val="172B3A"/>
                          </a:solidFill>
                          <a:latin typeface="Arial"/>
                          <a:ea typeface="Arial"/>
                          <a:cs typeface="Arial"/>
                        </a:rPr>
                        <a:t>74-78 min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Downlink at contact two</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969 kB total delivery, zero loss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74688">
                <a:tc>
                  <a:txBody>
                    <a:bodyPr/>
                    <a:lstStyle/>
                    <a:p>
                      <a:r>
                        <a:rPr sz="1650" b="0">
                          <a:solidFill>
                            <a:srgbClr val="172B3A"/>
                          </a:solidFill>
                          <a:latin typeface="Arial"/>
                          <a:ea typeface="Arial"/>
                          <a:cs typeface="Arial"/>
                        </a:rPr>
                        <a:t>Across the 95-minute mission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Respect 598.5 kB storage and both energy budgets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Peak storage 513 kB; payload 1.00/1.08 Wh</a:t>
                      </a:r>
                    </a:p>
                    <a:p>
                      <a:r>
                        <a:rPr sz="1650" b="0">
                          <a:solidFill>
                            <a:srgbClr val="172B3A"/>
                          </a:solidFill>
                          <a:latin typeface="Arial"/>
                          <a:ea typeface="Arial"/>
                          <a:cs typeface="Arial"/>
                        </a:rPr>
                        <a:t>RF energy 1.541/1.626 Wh</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A012BAFF-8FB5-4775-97A3-67B479637266}"/>
              </a:ext>
            </a:extLst>
          </p:cNvPr>
          <p:cNvSpPr>
            <a:spLocks xmlns:a="http://schemas.openxmlformats.org/drawingml/2006/main" noGrp="1"/>
          </p:cNvSpPr>
          <p:nvPr/>
        </p:nvSpPr>
        <p:spPr>
          <a:xfrm xmlns:a="http://schemas.openxmlformats.org/drawingml/2006/main">
            <a:off x="495300" y="58007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Every window has its own quota. Constant duty needs ≥0.90 for exposure, but energy permits only ≤0.114 in seed 101.</a:t>
            </a:r>
          </a:p>
        </p:txBody>
      </p:sp>
    </p:spTree>
    <p:extLst>
      <p:ext uri="{BB962C8B-B14F-4D97-AF65-F5344CB8AC3E}">
        <p14:creationId xmlns:p14="http://schemas.microsoft.com/office/powerpoint/2010/main" val="848746032"/>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5316F6-247B-4F7C-A6B0-2D365A1FCB95}"/>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Programmatic reward and final verification</a:t>
            </a:r>
          </a:p>
        </p:txBody>
      </p:sp>
      <p:sp>
        <p:nvSpPr>
          <p:cNvPr id="2" name="">
            <a:extLst xmlns:a="http://schemas.openxmlformats.org/drawingml/2006/main">
              <a:ext uri="{FF2B5EF4-FFF2-40B4-BE49-F238E27FC236}">
                <a16:creationId xmlns:a16="http://schemas.microsoft.com/office/drawing/2014/main" id="{4880C672-E9F9-45DA-8B6B-9531EA5D8039}"/>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5C122B0D-32CF-4002-8A2A-E711D43623A8}"/>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75854C8F-5585-4893-8C96-D7A700CAFD45}"/>
              </a:ext>
            </a:extLst>
          </p:cNvPr>
          <p:cNvGraphicFramePr/>
          <p:nvPr/>
        </p:nvGraphicFramePr>
        <p:xfrm>
          <a:off xmlns:a="http://schemas.openxmlformats.org/drawingml/2006/main" x="495300" y="1390650"/>
          <a:ext xmlns:a="http://schemas.openxmlformats.org/drawingml/2006/main" cx="11201400" cy="2390775"/>
        </p:xfrm>
        <a:graphic xmlns:a="http://schemas.openxmlformats.org/drawingml/2006/main">
          <a:graphicData uri="http://schemas.openxmlformats.org/drawingml/2006/table">
            <a:tbl>
              <a:tblPr/>
              <a:tblGrid>
                <a:gridCol w="4400550"/>
                <a:gridCol w="2266950"/>
                <a:gridCol w="2266950"/>
                <a:gridCol w="2266950"/>
              </a:tblGrid>
              <a:tr h="597694">
                <a:tc>
                  <a:txBody>
                    <a:bodyPr/>
                    <a:lstStyle/>
                    <a:p>
                      <a:r>
                        <a:rPr sz="1425" b="1">
                          <a:solidFill>
                            <a:srgbClr val="FFFFFF"/>
                          </a:solidFill>
                          <a:latin typeface="Arial"/>
                          <a:ea typeface="Arial"/>
                          <a:cs typeface="Arial"/>
                        </a:rPr>
                        <a:t>Raw component</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Standard</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Observation</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Science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597694">
                <a:tc>
                  <a:txBody>
                    <a:bodyPr/>
                    <a:lstStyle/>
                    <a:p>
                      <a:r>
                        <a:rPr sz="1725" b="0">
                          <a:solidFill>
                            <a:srgbClr val="172B3A"/>
                          </a:solidFill>
                          <a:latin typeface="Arial"/>
                          <a:ea typeface="Arial"/>
                          <a:cs typeface="Arial"/>
                        </a:rPr>
                        <a:t>Power / thermal</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0.35 / 0.25</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0.28 / 0.20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0.21 / 0.15</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97694">
                <a:tc>
                  <a:txBody>
                    <a:bodyPr/>
                    <a:lstStyle/>
                    <a:p>
                      <a:r>
                        <a:rPr sz="1725" b="0">
                          <a:solidFill>
                            <a:srgbClr val="172B3A"/>
                          </a:solidFill>
                          <a:latin typeface="Arial"/>
                          <a:ea typeface="Arial"/>
                          <a:cs typeface="Arial"/>
                        </a:rPr>
                        <a:t>Pointing / communications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0.20 / 0.20</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0.16 / 0.16</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0.12 / 0.12</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97694">
                <a:tc>
                  <a:txBody>
                    <a:bodyPr/>
                    <a:lstStyle/>
                    <a:p>
                      <a:r>
                        <a:rPr sz="1725" b="0">
                          <a:solidFill>
                            <a:srgbClr val="172B3A"/>
                          </a:solidFill>
                          <a:latin typeface="Arial"/>
                          <a:ea typeface="Arial"/>
                          <a:cs typeface="Arial"/>
                        </a:rPr>
                        <a:t>Exposure / delivered science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None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0.20 / none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0.20 / 0.20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8560E17C-7900-448B-81B4-2359C6BA3B4E}"/>
              </a:ext>
            </a:extLst>
          </p:cNvPr>
          <p:cNvSpPr>
            <a:spLocks xmlns:a="http://schemas.openxmlformats.org/drawingml/2006/main" noGrp="1"/>
          </p:cNvSpPr>
          <p:nvPr/>
        </p:nvSpPr>
        <p:spPr>
          <a:xfrm xmlns:a="http://schemas.openxmlformats.org/drawingml/2006/main">
            <a:off x="495300" y="4124325"/>
            <a:ext cx="1120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76D"/>
                </a:solidFill>
                <a:latin typeface="Arial"/>
                <a:ea typeface="Arial"/>
                <a:cs typeface="Arial"/>
              </a:defRPr>
            </a:defPPr>
            <a:lvl1pPr>
              <a:defRPr sz="2025" b="1">
                <a:solidFill>
                  <a:srgbClr val="20776D"/>
                </a:solidFill>
                <a:latin typeface="Arial"/>
                <a:ea typeface="Arial"/>
                <a:cs typeface="Arial"/>
              </a:defRPr>
            </a:lvl1pPr>
            <a:lvl2pPr>
              <a:defRPr sz="2025" b="1">
                <a:solidFill>
                  <a:srgbClr val="20776D"/>
                </a:solidFill>
                <a:latin typeface="Arial"/>
                <a:ea typeface="Arial"/>
                <a:cs typeface="Arial"/>
              </a:defRPr>
            </a:lvl2pPr>
            <a:lvl3pPr>
              <a:defRPr sz="2025" b="1">
                <a:solidFill>
                  <a:srgbClr val="20776D"/>
                </a:solidFill>
                <a:latin typeface="Arial"/>
                <a:ea typeface="Arial"/>
                <a:cs typeface="Arial"/>
              </a:defRPr>
            </a:lvl3pPr>
            <a:lvl4pPr>
              <a:defRPr sz="2025" b="1">
                <a:solidFill>
                  <a:srgbClr val="20776D"/>
                </a:solidFill>
                <a:latin typeface="Arial"/>
                <a:ea typeface="Arial"/>
                <a:cs typeface="Arial"/>
              </a:defRPr>
            </a:lvl4pPr>
            <a:lvl5pPr>
              <a:defRPr sz="2025" b="1">
                <a:solidFill>
                  <a:srgbClr val="20776D"/>
                </a:solidFill>
                <a:latin typeface="Arial"/>
                <a:ea typeface="Arial"/>
                <a:cs typeface="Arial"/>
              </a:defRPr>
            </a:lvl5pPr>
            <a:lvl6pPr>
              <a:defRPr sz="2025" b="1">
                <a:solidFill>
                  <a:srgbClr val="20776D"/>
                </a:solidFill>
                <a:latin typeface="Arial"/>
                <a:ea typeface="Arial"/>
                <a:cs typeface="Arial"/>
              </a:defRPr>
            </a:lvl6pPr>
            <a:lvl7pPr>
              <a:defRPr sz="2025" b="1">
                <a:solidFill>
                  <a:srgbClr val="20776D"/>
                </a:solidFill>
                <a:latin typeface="Arial"/>
                <a:ea typeface="Arial"/>
                <a:cs typeface="Arial"/>
              </a:defRPr>
            </a:lvl7pPr>
            <a:lvl8pPr>
              <a:defRPr sz="2025" b="1">
                <a:solidFill>
                  <a:srgbClr val="20776D"/>
                </a:solidFill>
                <a:latin typeface="Arial"/>
                <a:ea typeface="Arial"/>
                <a:cs typeface="Arial"/>
              </a:defRPr>
            </a:lvl8pPr>
            <a:lvl9pPr>
              <a:defRPr sz="2025" b="1">
                <a:solidFill>
                  <a:srgbClr val="20776D"/>
                </a:solidFill>
                <a:latin typeface="Arial"/>
                <a:ea typeface="Arial"/>
                <a:cs typeface="Arial"/>
              </a:defRPr>
            </a:lvl9pPr>
          </a:lstStyle>
          <a:p xmlns:a="http://schemas.openxmlformats.org/drawingml/2006/main">
            <a:pPr>
              <a:defRPr sz="2025" b="1">
                <a:solidFill>
                  <a:srgbClr val="20776D"/>
                </a:solidFill>
                <a:latin typeface="Arial"/>
                <a:ea typeface="Arial"/>
                <a:cs typeface="Arial"/>
              </a:defRPr>
            </a:pPr>
            <a:r>
              <a:rPr sz="2025" b="1">
                <a:solidFill>
                  <a:srgbClr val="20776D"/>
                </a:solidFill>
                <a:latin typeface="Arial"/>
                <a:ea typeface="Arial"/>
                <a:cs typeface="Arial"/>
              </a:rPr>
              <a:t>reward = clamp((raw - initial no-op raw) / (1 - initial no-op raw), 0, 1)</a:t>
            </a:r>
          </a:p>
        </p:txBody>
      </p:sp>
      <p:sp>
        <p:nvSpPr>
          <p:cNvPr id="6" name="">
            <a:extLst xmlns:a="http://schemas.openxmlformats.org/drawingml/2006/main">
              <a:ext uri="{FF2B5EF4-FFF2-40B4-BE49-F238E27FC236}">
                <a16:creationId xmlns:a16="http://schemas.microsoft.com/office/drawing/2014/main" id="{7550B166-63B1-4E00-8155-6B171763DD21}"/>
              </a:ext>
            </a:extLst>
          </p:cNvPr>
          <p:cNvSpPr>
            <a:spLocks xmlns:a="http://schemas.openxmlformats.org/drawingml/2006/main" noGrp="1"/>
          </p:cNvSpPr>
          <p:nvPr/>
        </p:nvSpPr>
        <p:spPr>
          <a:xfrm xmlns:a="http://schemas.openxmlformats.org/drawingml/2006/main">
            <a:off x="495300" y="4772025"/>
            <a:ext cx="11201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2B3A"/>
                </a:solidFill>
                <a:latin typeface="Arial"/>
                <a:ea typeface="Arial"/>
                <a:cs typeface="Arial"/>
              </a:defRPr>
            </a:defPPr>
            <a:lvl1pPr>
              <a:defRPr sz="2025" b="1">
                <a:solidFill>
                  <a:srgbClr val="172B3A"/>
                </a:solidFill>
                <a:latin typeface="Arial"/>
                <a:ea typeface="Arial"/>
                <a:cs typeface="Arial"/>
              </a:defRPr>
            </a:lvl1pPr>
            <a:lvl2pPr>
              <a:defRPr sz="2025" b="1">
                <a:solidFill>
                  <a:srgbClr val="172B3A"/>
                </a:solidFill>
                <a:latin typeface="Arial"/>
                <a:ea typeface="Arial"/>
                <a:cs typeface="Arial"/>
              </a:defRPr>
            </a:lvl2pPr>
            <a:lvl3pPr>
              <a:defRPr sz="2025" b="1">
                <a:solidFill>
                  <a:srgbClr val="172B3A"/>
                </a:solidFill>
                <a:latin typeface="Arial"/>
                <a:ea typeface="Arial"/>
                <a:cs typeface="Arial"/>
              </a:defRPr>
            </a:lvl3pPr>
            <a:lvl4pPr>
              <a:defRPr sz="2025" b="1">
                <a:solidFill>
                  <a:srgbClr val="172B3A"/>
                </a:solidFill>
                <a:latin typeface="Arial"/>
                <a:ea typeface="Arial"/>
                <a:cs typeface="Arial"/>
              </a:defRPr>
            </a:lvl4pPr>
            <a:lvl5pPr>
              <a:defRPr sz="2025" b="1">
                <a:solidFill>
                  <a:srgbClr val="172B3A"/>
                </a:solidFill>
                <a:latin typeface="Arial"/>
                <a:ea typeface="Arial"/>
                <a:cs typeface="Arial"/>
              </a:defRPr>
            </a:lvl5pPr>
            <a:lvl6pPr>
              <a:defRPr sz="2025" b="1">
                <a:solidFill>
                  <a:srgbClr val="172B3A"/>
                </a:solidFill>
                <a:latin typeface="Arial"/>
                <a:ea typeface="Arial"/>
                <a:cs typeface="Arial"/>
              </a:defRPr>
            </a:lvl6pPr>
            <a:lvl7pPr>
              <a:defRPr sz="2025" b="1">
                <a:solidFill>
                  <a:srgbClr val="172B3A"/>
                </a:solidFill>
                <a:latin typeface="Arial"/>
                <a:ea typeface="Arial"/>
                <a:cs typeface="Arial"/>
              </a:defRPr>
            </a:lvl7pPr>
            <a:lvl8pPr>
              <a:defRPr sz="2025" b="1">
                <a:solidFill>
                  <a:srgbClr val="172B3A"/>
                </a:solidFill>
                <a:latin typeface="Arial"/>
                <a:ea typeface="Arial"/>
                <a:cs typeface="Arial"/>
              </a:defRPr>
            </a:lvl8pPr>
            <a:lvl9pPr>
              <a:defRPr sz="2025" b="1">
                <a:solidFill>
                  <a:srgbClr val="172B3A"/>
                </a:solidFill>
                <a:latin typeface="Arial"/>
                <a:ea typeface="Arial"/>
                <a:cs typeface="Arial"/>
              </a:defRPr>
            </a:lvl9pPr>
          </a:lstStyle>
          <a:p xmlns:a="http://schemas.openxmlformats.org/drawingml/2006/main">
            <a:pPr>
              <a:defRPr sz="2025" b="1">
                <a:solidFill>
                  <a:srgbClr val="172B3A"/>
                </a:solidFill>
                <a:latin typeface="Arial"/>
                <a:ea typeface="Arial"/>
                <a:cs typeface="Arial"/>
              </a:defRPr>
            </a:pPr>
            <a:r>
              <a:rPr sz="2025" b="1">
                <a:solidFill>
                  <a:srgbClr val="172B3A"/>
                </a:solidFill>
                <a:latin typeface="Arial"/>
                <a:ea typeface="Arial"/>
                <a:cs typeface="Arial"/>
              </a:rPr>
              <a:t>Success ≥0.95 requires every mandatory check. Invalid configs score zero; catastrophic failures latch.</a:t>
            </a:r>
          </a:p>
        </p:txBody>
      </p:sp>
      <p:sp>
        <p:nvSpPr>
          <p:cNvPr id="7" name="">
            <a:extLst xmlns:a="http://schemas.openxmlformats.org/drawingml/2006/main">
              <a:ext uri="{FF2B5EF4-FFF2-40B4-BE49-F238E27FC236}">
                <a16:creationId xmlns:a16="http://schemas.microsoft.com/office/drawing/2014/main" id="{3F31370E-C1C3-4918-9DE0-05F11A3036AB}"/>
              </a:ext>
            </a:extLst>
          </p:cNvPr>
          <p:cNvSpPr>
            <a:spLocks xmlns:a="http://schemas.openxmlformats.org/drawingml/2006/main" noGrp="1"/>
          </p:cNvSpPr>
          <p:nvPr/>
        </p:nvSpPr>
        <p:spPr>
          <a:xfrm xmlns:a="http://schemas.openxmlformats.org/drawingml/2006/main">
            <a:off x="495300" y="5705475"/>
            <a:ext cx="1120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66A73"/>
                </a:solidFill>
                <a:latin typeface="Arial"/>
                <a:ea typeface="Arial"/>
                <a:cs typeface="Arial"/>
              </a:defRPr>
            </a:defPPr>
            <a:lvl1pPr>
              <a:defRPr sz="1800" b="0">
                <a:solidFill>
                  <a:srgbClr val="566A73"/>
                </a:solidFill>
                <a:latin typeface="Arial"/>
                <a:ea typeface="Arial"/>
                <a:cs typeface="Arial"/>
              </a:defRPr>
            </a:lvl1pPr>
            <a:lvl2pPr>
              <a:defRPr sz="1800" b="0">
                <a:solidFill>
                  <a:srgbClr val="566A73"/>
                </a:solidFill>
                <a:latin typeface="Arial"/>
                <a:ea typeface="Arial"/>
                <a:cs typeface="Arial"/>
              </a:defRPr>
            </a:lvl2pPr>
            <a:lvl3pPr>
              <a:defRPr sz="1800" b="0">
                <a:solidFill>
                  <a:srgbClr val="566A73"/>
                </a:solidFill>
                <a:latin typeface="Arial"/>
                <a:ea typeface="Arial"/>
                <a:cs typeface="Arial"/>
              </a:defRPr>
            </a:lvl3pPr>
            <a:lvl4pPr>
              <a:defRPr sz="1800" b="0">
                <a:solidFill>
                  <a:srgbClr val="566A73"/>
                </a:solidFill>
                <a:latin typeface="Arial"/>
                <a:ea typeface="Arial"/>
                <a:cs typeface="Arial"/>
              </a:defRPr>
            </a:lvl4pPr>
            <a:lvl5pPr>
              <a:defRPr sz="1800" b="0">
                <a:solidFill>
                  <a:srgbClr val="566A73"/>
                </a:solidFill>
                <a:latin typeface="Arial"/>
                <a:ea typeface="Arial"/>
                <a:cs typeface="Arial"/>
              </a:defRPr>
            </a:lvl5pPr>
            <a:lvl6pPr>
              <a:defRPr sz="1800" b="0">
                <a:solidFill>
                  <a:srgbClr val="566A73"/>
                </a:solidFill>
                <a:latin typeface="Arial"/>
                <a:ea typeface="Arial"/>
                <a:cs typeface="Arial"/>
              </a:defRPr>
            </a:lvl6pPr>
            <a:lvl7pPr>
              <a:defRPr sz="1800" b="0">
                <a:solidFill>
                  <a:srgbClr val="566A73"/>
                </a:solidFill>
                <a:latin typeface="Arial"/>
                <a:ea typeface="Arial"/>
                <a:cs typeface="Arial"/>
              </a:defRPr>
            </a:lvl7pPr>
            <a:lvl8pPr>
              <a:defRPr sz="1800" b="0">
                <a:solidFill>
                  <a:srgbClr val="566A73"/>
                </a:solidFill>
                <a:latin typeface="Arial"/>
                <a:ea typeface="Arial"/>
                <a:cs typeface="Arial"/>
              </a:defRPr>
            </a:lvl8pPr>
            <a:lvl9pPr>
              <a:defRPr sz="1800" b="0">
                <a:solidFill>
                  <a:srgbClr val="566A73"/>
                </a:solidFill>
                <a:latin typeface="Arial"/>
                <a:ea typeface="Arial"/>
                <a:cs typeface="Arial"/>
              </a:defRPr>
            </a:lvl9pPr>
          </a:lstStyle>
          <a:p xmlns:a="http://schemas.openxmlformats.org/drawingml/2006/main">
            <a:pPr>
              <a:defRPr sz="1800" b="0">
                <a:solidFill>
                  <a:srgbClr val="566A73"/>
                </a:solidFill>
                <a:latin typeface="Arial"/>
                <a:ea typeface="Arial"/>
                <a:cs typeface="Arial"/>
              </a:defRPr>
            </a:pPr>
            <a:r>
              <a:rPr sz="1800" b="0">
                <a:solidFill>
                  <a:srgbClr val="566A73"/>
                </a:solidFill>
                <a:latin typeface="Arial"/>
                <a:ea typeface="Arial"/>
                <a:cs typeface="Arial"/>
              </a:rPr>
              <a:t>Science accounting: generated = buffered + delivered + lost. Final-file edits cannot recover missed exposure or lost data.</a:t>
            </a:r>
          </a:p>
        </p:txBody>
      </p:sp>
    </p:spTree>
    <p:extLst>
      <p:ext uri="{BB962C8B-B14F-4D97-AF65-F5344CB8AC3E}">
        <p14:creationId xmlns:p14="http://schemas.microsoft.com/office/powerpoint/2010/main" val="1923120848"/>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DE33BF-D23D-4C45-8DCA-047745708316}"/>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Isolation, errors and attempted shortcuts</a:t>
            </a:r>
          </a:p>
        </p:txBody>
      </p:sp>
      <p:sp>
        <p:nvSpPr>
          <p:cNvPr id="2" name="">
            <a:extLst xmlns:a="http://schemas.openxmlformats.org/drawingml/2006/main">
              <a:ext uri="{FF2B5EF4-FFF2-40B4-BE49-F238E27FC236}">
                <a16:creationId xmlns:a16="http://schemas.microsoft.com/office/drawing/2014/main" id="{E43D3C71-8721-4ECA-AA59-7991ACBD0D08}"/>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5733F7EF-07D5-4F24-9B15-7BCDFD002390}"/>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4EE6BA56-AFA1-45D8-A3F4-57AC41C86B24}"/>
              </a:ext>
            </a:extLst>
          </p:cNvPr>
          <p:cNvGraphicFramePr/>
          <p:nvPr/>
        </p:nvGraphicFramePr>
        <p:xfrm>
          <a:off xmlns:a="http://schemas.openxmlformats.org/drawingml/2006/main" x="495300" y="1390650"/>
          <a:ext xmlns:a="http://schemas.openxmlformats.org/drawingml/2006/main" cx="11201400" cy="4314825"/>
        </p:xfrm>
        <a:graphic xmlns:a="http://schemas.openxmlformats.org/drawingml/2006/main">
          <a:graphicData uri="http://schemas.openxmlformats.org/drawingml/2006/table">
            <a:tbl>
              <a:tblPr/>
              <a:tblGrid>
                <a:gridCol w="3248025"/>
                <a:gridCol w="4476750"/>
                <a:gridCol w="3476625"/>
              </a:tblGrid>
              <a:tr h="719138">
                <a:tc>
                  <a:txBody>
                    <a:bodyPr/>
                    <a:lstStyle/>
                    <a:p>
                      <a:r>
                        <a:rPr sz="1425" b="1">
                          <a:solidFill>
                            <a:srgbClr val="FFFFFF"/>
                          </a:solidFill>
                          <a:latin typeface="Arial"/>
                          <a:ea typeface="Arial"/>
                          <a:cs typeface="Arial"/>
                        </a:rPr>
                        <a:t>Boundary / unexpected behavior</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Implementation response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Measured evidence / limitation</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719138">
                <a:tc>
                  <a:txBody>
                    <a:bodyPr/>
                    <a:lstStyle/>
                    <a:p>
                      <a:r>
                        <a:rPr sz="1575" b="0">
                          <a:solidFill>
                            <a:srgbClr val="172B3A"/>
                          </a:solidFill>
                          <a:latin typeface="Arial"/>
                          <a:ea typeface="Arial"/>
                          <a:cs typeface="Arial"/>
                        </a:rPr>
                        <a:t>Protected-state access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Separate verifier; authenticated controls</a:t>
                      </a:r>
                    </a:p>
                    <a:p>
                      <a:r>
                        <a:rPr sz="1575" b="0">
                          <a:solidFill>
                            <a:srgbClr val="172B3A"/>
                          </a:solidFill>
                          <a:latin typeface="Arial"/>
                          <a:ea typeface="Arial"/>
                          <a:cs typeface="Arial"/>
                        </a:rPr>
                        <a:t>UID 1001 agent / UID 1002 evaluator</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12 live isolation checks</a:t>
                      </a:r>
                    </a:p>
                    <a:p>
                      <a:r>
                        <a:rPr sz="1575" b="0">
                          <a:solidFill>
                            <a:srgbClr val="172B3A"/>
                          </a:solidFill>
                          <a:latin typeface="Arial"/>
                          <a:ea typeface="Arial"/>
                          <a:cs typeface="Arial"/>
                        </a:rPr>
                        <a:t>Trusted Docker and host kernel</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719138">
                <a:tc>
                  <a:txBody>
                    <a:bodyPr/>
                    <a:lstStyle/>
                    <a:p>
                      <a:r>
                        <a:rPr sz="1575" b="0">
                          <a:solidFill>
                            <a:srgbClr val="172B3A"/>
                          </a:solidFill>
                          <a:latin typeface="Arial"/>
                          <a:ea typeface="Arial"/>
                          <a:cs typeface="Arial"/>
                        </a:rPr>
                        <a:t>Fake telemetry / quotas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Grade protected state, not workspace copies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Forged telemetry reward 0.000;</a:t>
                      </a:r>
                    </a:p>
                    <a:p>
                      <a:r>
                        <a:rPr sz="1575" b="0">
                          <a:solidFill>
                            <a:srgbClr val="172B3A"/>
                          </a:solidFill>
                          <a:latin typeface="Arial"/>
                          <a:ea typeface="Arial"/>
                          <a:cs typeface="Arial"/>
                        </a:rPr>
                        <a:t>forged science inventory 0.521</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719138">
                <a:tc>
                  <a:txBody>
                    <a:bodyPr/>
                    <a:lstStyle/>
                    <a:p>
                      <a:r>
                        <a:rPr sz="1575" b="0">
                          <a:solidFill>
                            <a:srgbClr val="172B3A"/>
                          </a:solidFill>
                          <a:latin typeface="Arial"/>
                          <a:ea typeface="Arial"/>
                          <a:cs typeface="Arial"/>
                        </a:rPr>
                        <a:t>Malformed reply / tool call</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Bad reply counts; invalid tool schema</a:t>
                      </a:r>
                    </a:p>
                    <a:p>
                      <a:r>
                        <a:rPr sz="1575" b="0">
                          <a:solidFill>
                            <a:srgbClr val="172B3A"/>
                          </a:solidFill>
                          <a:latin typeface="Arial"/>
                          <a:ea typeface="Arial"/>
                          <a:cs typeface="Arial"/>
                        </a:rPr>
                        <a:t>never executes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Feedback, error log and no tool mutation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719138">
                <a:tc>
                  <a:txBody>
                    <a:bodyPr/>
                    <a:lstStyle/>
                    <a:p>
                      <a:r>
                        <a:rPr sz="1575" b="0">
                          <a:solidFill>
                            <a:srgbClr val="172B3A"/>
                          </a:solidFill>
                          <a:latin typeface="Arial"/>
                          <a:ea typeface="Arial"/>
                          <a:cs typeface="Arial"/>
                        </a:rPr>
                        <a:t>Runaway process / API failure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Bounded resources, descendant cleanup</a:t>
                      </a:r>
                    </a:p>
                    <a:p>
                      <a:r>
                        <a:rPr sz="1575" b="0">
                          <a:solidFill>
                            <a:srgbClr val="172B3A"/>
                          </a:solidFill>
                          <a:latin typeface="Arial"/>
                          <a:ea typeface="Arial"/>
                          <a:cs typeface="Arial"/>
                        </a:rPr>
                        <a:t>At most two transient retries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Retries share the 600-second episode</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719138">
                <a:tc>
                  <a:txBody>
                    <a:bodyPr/>
                    <a:lstStyle/>
                    <a:p>
                      <a:r>
                        <a:rPr sz="1575" b="0">
                          <a:solidFill>
                            <a:srgbClr val="172B3A"/>
                          </a:solidFill>
                          <a:latin typeface="Arial"/>
                          <a:ea typeface="Arial"/>
                          <a:cs typeface="Arial"/>
                        </a:rPr>
                        <a:t>Missed window / data loss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Preserve irreversible mission history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Six scripted failure probes all score below success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BA20FA99-F527-4A16-A8CF-23E9C55EEB99}"/>
              </a:ext>
            </a:extLst>
          </p:cNvPr>
          <p:cNvSpPr>
            <a:spLocks xmlns:a="http://schemas.openxmlformats.org/drawingml/2006/main" noGrp="1"/>
          </p:cNvSpPr>
          <p:nvPr/>
        </p:nvSpPr>
        <p:spPr>
          <a:xfrm xmlns:a="http://schemas.openxmlformats.org/drawingml/2006/main">
            <a:off x="495300" y="5905500"/>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Correctly scoring a model failure is expected. Undeserved success is the failure we guard against.</a:t>
            </a:r>
          </a:p>
        </p:txBody>
      </p:sp>
    </p:spTree>
    <p:extLst>
      <p:ext uri="{BB962C8B-B14F-4D97-AF65-F5344CB8AC3E}">
        <p14:creationId xmlns:p14="http://schemas.microsoft.com/office/powerpoint/2010/main" val="1700046153"/>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C5121B-BCFE-49B3-A6EA-7E5C4176987A}"/>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Reproduce a run from a fresh clone</a:t>
            </a:r>
          </a:p>
        </p:txBody>
      </p:sp>
      <p:sp>
        <p:nvSpPr>
          <p:cNvPr id="2" name="">
            <a:extLst xmlns:a="http://schemas.openxmlformats.org/drawingml/2006/main">
              <a:ext uri="{FF2B5EF4-FFF2-40B4-BE49-F238E27FC236}">
                <a16:creationId xmlns:a16="http://schemas.microsoft.com/office/drawing/2014/main" id="{7F9BBCCA-C5FC-4794-8825-2CD197A7FE05}"/>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39E21276-B3A0-4960-B6F9-D8729CC76294}"/>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C5A946DB-590B-46E7-882A-58BF70CCB305}"/>
              </a:ext>
            </a:extLst>
          </p:cNvPr>
          <p:cNvSpPr>
            <a:spLocks xmlns:a="http://schemas.openxmlformats.org/drawingml/2006/main" noGrp="1"/>
          </p:cNvSpPr>
          <p:nvPr/>
        </p:nvSpPr>
        <p:spPr>
          <a:xfrm xmlns:a="http://schemas.openxmlformats.org/drawingml/2006/main">
            <a:off x="495300" y="123825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72B3A"/>
                </a:solidFill>
                <a:latin typeface="Arial"/>
                <a:ea typeface="Arial"/>
                <a:cs typeface="Arial"/>
              </a:defRPr>
            </a:defPPr>
            <a:lvl1pPr>
              <a:defRPr sz="1950" b="1">
                <a:solidFill>
                  <a:srgbClr val="172B3A"/>
                </a:solidFill>
                <a:latin typeface="Arial"/>
                <a:ea typeface="Arial"/>
                <a:cs typeface="Arial"/>
              </a:defRPr>
            </a:lvl1pPr>
            <a:lvl2pPr>
              <a:defRPr sz="1950" b="1">
                <a:solidFill>
                  <a:srgbClr val="172B3A"/>
                </a:solidFill>
                <a:latin typeface="Arial"/>
                <a:ea typeface="Arial"/>
                <a:cs typeface="Arial"/>
              </a:defRPr>
            </a:lvl2pPr>
            <a:lvl3pPr>
              <a:defRPr sz="1950" b="1">
                <a:solidFill>
                  <a:srgbClr val="172B3A"/>
                </a:solidFill>
                <a:latin typeface="Arial"/>
                <a:ea typeface="Arial"/>
                <a:cs typeface="Arial"/>
              </a:defRPr>
            </a:lvl3pPr>
            <a:lvl4pPr>
              <a:defRPr sz="1950" b="1">
                <a:solidFill>
                  <a:srgbClr val="172B3A"/>
                </a:solidFill>
                <a:latin typeface="Arial"/>
                <a:ea typeface="Arial"/>
                <a:cs typeface="Arial"/>
              </a:defRPr>
            </a:lvl4pPr>
            <a:lvl5pPr>
              <a:defRPr sz="1950" b="1">
                <a:solidFill>
                  <a:srgbClr val="172B3A"/>
                </a:solidFill>
                <a:latin typeface="Arial"/>
                <a:ea typeface="Arial"/>
                <a:cs typeface="Arial"/>
              </a:defRPr>
            </a:lvl5pPr>
            <a:lvl6pPr>
              <a:defRPr sz="1950" b="1">
                <a:solidFill>
                  <a:srgbClr val="172B3A"/>
                </a:solidFill>
                <a:latin typeface="Arial"/>
                <a:ea typeface="Arial"/>
                <a:cs typeface="Arial"/>
              </a:defRPr>
            </a:lvl6pPr>
            <a:lvl7pPr>
              <a:defRPr sz="1950" b="1">
                <a:solidFill>
                  <a:srgbClr val="172B3A"/>
                </a:solidFill>
                <a:latin typeface="Arial"/>
                <a:ea typeface="Arial"/>
                <a:cs typeface="Arial"/>
              </a:defRPr>
            </a:lvl7pPr>
            <a:lvl8pPr>
              <a:defRPr sz="1950" b="1">
                <a:solidFill>
                  <a:srgbClr val="172B3A"/>
                </a:solidFill>
                <a:latin typeface="Arial"/>
                <a:ea typeface="Arial"/>
                <a:cs typeface="Arial"/>
              </a:defRPr>
            </a:lvl8pPr>
            <a:lvl9pPr>
              <a:defRPr sz="1950" b="1">
                <a:solidFill>
                  <a:srgbClr val="172B3A"/>
                </a:solidFill>
                <a:latin typeface="Arial"/>
                <a:ea typeface="Arial"/>
                <a:cs typeface="Arial"/>
              </a:defRPr>
            </a:lvl9pPr>
          </a:lstStyle>
          <a:p xmlns:a="http://schemas.openxmlformats.org/drawingml/2006/main">
            <a:pPr>
              <a:defRPr sz="1950" b="1">
                <a:solidFill>
                  <a:srgbClr val="172B3A"/>
                </a:solidFill>
                <a:latin typeface="Arial"/>
                <a:ea typeface="Arial"/>
                <a:cs typeface="Arial"/>
              </a:defRPr>
            </a:pPr>
            <a:r>
              <a:rPr sz="1950" b="1">
                <a:solidFill>
                  <a:srgbClr val="172B3A"/>
                </a:solidFill>
                <a:latin typeface="Arial"/>
                <a:ea typeface="Arial"/>
                <a:cs typeface="Arial"/>
              </a:rPr>
              <a:t>Linux + Docker Compose</a:t>
            </a:r>
          </a:p>
        </p:txBody>
      </p:sp>
      <p:sp>
        <p:nvSpPr>
          <p:cNvPr id="5" name="">
            <a:extLst xmlns:a="http://schemas.openxmlformats.org/drawingml/2006/main">
              <a:ext uri="{FF2B5EF4-FFF2-40B4-BE49-F238E27FC236}">
                <a16:creationId xmlns:a16="http://schemas.microsoft.com/office/drawing/2014/main" id="{C048F3B3-DC6A-492F-963E-D2F2E0C32A91}"/>
              </a:ext>
            </a:extLst>
          </p:cNvPr>
          <p:cNvSpPr>
            <a:spLocks xmlns:a="http://schemas.openxmlformats.org/drawingml/2006/main" noGrp="1"/>
          </p:cNvSpPr>
          <p:nvPr/>
        </p:nvSpPr>
        <p:spPr>
          <a:xfrm xmlns:a="http://schemas.openxmlformats.org/drawingml/2006/main">
            <a:off x="495300" y="1781175"/>
            <a:ext cx="11201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B3A"/>
                </a:solidFill>
                <a:latin typeface="Arial"/>
                <a:ea typeface="Arial"/>
                <a:cs typeface="Arial"/>
              </a:defRPr>
            </a:defPPr>
            <a:lvl1pPr>
              <a:defRPr sz="1725" b="0">
                <a:solidFill>
                  <a:srgbClr val="172B3A"/>
                </a:solidFill>
                <a:latin typeface="Arial"/>
                <a:ea typeface="Arial"/>
                <a:cs typeface="Arial"/>
              </a:defRPr>
            </a:lvl1pPr>
            <a:lvl2pPr>
              <a:defRPr sz="1725" b="0">
                <a:solidFill>
                  <a:srgbClr val="172B3A"/>
                </a:solidFill>
                <a:latin typeface="Arial"/>
                <a:ea typeface="Arial"/>
                <a:cs typeface="Arial"/>
              </a:defRPr>
            </a:lvl2pPr>
            <a:lvl3pPr>
              <a:defRPr sz="1725" b="0">
                <a:solidFill>
                  <a:srgbClr val="172B3A"/>
                </a:solidFill>
                <a:latin typeface="Arial"/>
                <a:ea typeface="Arial"/>
                <a:cs typeface="Arial"/>
              </a:defRPr>
            </a:lvl3pPr>
            <a:lvl4pPr>
              <a:defRPr sz="1725" b="0">
                <a:solidFill>
                  <a:srgbClr val="172B3A"/>
                </a:solidFill>
                <a:latin typeface="Arial"/>
                <a:ea typeface="Arial"/>
                <a:cs typeface="Arial"/>
              </a:defRPr>
            </a:lvl4pPr>
            <a:lvl5pPr>
              <a:defRPr sz="1725" b="0">
                <a:solidFill>
                  <a:srgbClr val="172B3A"/>
                </a:solidFill>
                <a:latin typeface="Arial"/>
                <a:ea typeface="Arial"/>
                <a:cs typeface="Arial"/>
              </a:defRPr>
            </a:lvl5pPr>
            <a:lvl6pPr>
              <a:defRPr sz="1725" b="0">
                <a:solidFill>
                  <a:srgbClr val="172B3A"/>
                </a:solidFill>
                <a:latin typeface="Arial"/>
                <a:ea typeface="Arial"/>
                <a:cs typeface="Arial"/>
              </a:defRPr>
            </a:lvl6pPr>
            <a:lvl7pPr>
              <a:defRPr sz="1725" b="0">
                <a:solidFill>
                  <a:srgbClr val="172B3A"/>
                </a:solidFill>
                <a:latin typeface="Arial"/>
                <a:ea typeface="Arial"/>
                <a:cs typeface="Arial"/>
              </a:defRPr>
            </a:lvl7pPr>
            <a:lvl8pPr>
              <a:defRPr sz="1725" b="0">
                <a:solidFill>
                  <a:srgbClr val="172B3A"/>
                </a:solidFill>
                <a:latin typeface="Arial"/>
                <a:ea typeface="Arial"/>
                <a:cs typeface="Arial"/>
              </a:defRPr>
            </a:lvl8pPr>
            <a:lvl9pPr>
              <a:defRPr sz="1725" b="0">
                <a:solidFill>
                  <a:srgbClr val="172B3A"/>
                </a:solidFill>
                <a:latin typeface="Arial"/>
                <a:ea typeface="Arial"/>
                <a:cs typeface="Arial"/>
              </a:defRPr>
            </a:lvl9pPr>
          </a:lstStyle>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git clone https://github.com/devesh3001/ASTRO.git</a:t>
            </a:r>
          </a:p>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cd ASTRO</a:t>
            </a:r>
          </a:p>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cp .env.example .env</a:t>
            </a:r>
          </a:p>
        </p:txBody>
      </p:sp>
      <p:sp>
        <p:nvSpPr>
          <p:cNvPr id="6" name="">
            <a:extLst xmlns:a="http://schemas.openxmlformats.org/drawingml/2006/main">
              <a:ext uri="{FF2B5EF4-FFF2-40B4-BE49-F238E27FC236}">
                <a16:creationId xmlns:a16="http://schemas.microsoft.com/office/drawing/2014/main" id="{504CCA4D-32B0-4B79-A619-FF1B166FD064}"/>
              </a:ext>
            </a:extLst>
          </p:cNvPr>
          <p:cNvSpPr>
            <a:spLocks xmlns:a="http://schemas.openxmlformats.org/drawingml/2006/main" noGrp="1"/>
          </p:cNvSpPr>
          <p:nvPr/>
        </p:nvSpPr>
        <p:spPr>
          <a:xfrm xmlns:a="http://schemas.openxmlformats.org/drawingml/2006/main">
            <a:off x="495300" y="30289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85D37"/>
                </a:solidFill>
                <a:latin typeface="Arial"/>
                <a:ea typeface="Arial"/>
                <a:cs typeface="Arial"/>
              </a:defRPr>
            </a:defPPr>
            <a:lvl1pPr>
              <a:defRPr sz="1875" b="1">
                <a:solidFill>
                  <a:srgbClr val="C85D37"/>
                </a:solidFill>
                <a:latin typeface="Arial"/>
                <a:ea typeface="Arial"/>
                <a:cs typeface="Arial"/>
              </a:defRPr>
            </a:lvl1pPr>
            <a:lvl2pPr>
              <a:defRPr sz="1875" b="1">
                <a:solidFill>
                  <a:srgbClr val="C85D37"/>
                </a:solidFill>
                <a:latin typeface="Arial"/>
                <a:ea typeface="Arial"/>
                <a:cs typeface="Arial"/>
              </a:defRPr>
            </a:lvl2pPr>
            <a:lvl3pPr>
              <a:defRPr sz="1875" b="1">
                <a:solidFill>
                  <a:srgbClr val="C85D37"/>
                </a:solidFill>
                <a:latin typeface="Arial"/>
                <a:ea typeface="Arial"/>
                <a:cs typeface="Arial"/>
              </a:defRPr>
            </a:lvl3pPr>
            <a:lvl4pPr>
              <a:defRPr sz="1875" b="1">
                <a:solidFill>
                  <a:srgbClr val="C85D37"/>
                </a:solidFill>
                <a:latin typeface="Arial"/>
                <a:ea typeface="Arial"/>
                <a:cs typeface="Arial"/>
              </a:defRPr>
            </a:lvl4pPr>
            <a:lvl5pPr>
              <a:defRPr sz="1875" b="1">
                <a:solidFill>
                  <a:srgbClr val="C85D37"/>
                </a:solidFill>
                <a:latin typeface="Arial"/>
                <a:ea typeface="Arial"/>
                <a:cs typeface="Arial"/>
              </a:defRPr>
            </a:lvl5pPr>
            <a:lvl6pPr>
              <a:defRPr sz="1875" b="1">
                <a:solidFill>
                  <a:srgbClr val="C85D37"/>
                </a:solidFill>
                <a:latin typeface="Arial"/>
                <a:ea typeface="Arial"/>
                <a:cs typeface="Arial"/>
              </a:defRPr>
            </a:lvl6pPr>
            <a:lvl7pPr>
              <a:defRPr sz="1875" b="1">
                <a:solidFill>
                  <a:srgbClr val="C85D37"/>
                </a:solidFill>
                <a:latin typeface="Arial"/>
                <a:ea typeface="Arial"/>
                <a:cs typeface="Arial"/>
              </a:defRPr>
            </a:lvl7pPr>
            <a:lvl8pPr>
              <a:defRPr sz="1875" b="1">
                <a:solidFill>
                  <a:srgbClr val="C85D37"/>
                </a:solidFill>
                <a:latin typeface="Arial"/>
                <a:ea typeface="Arial"/>
                <a:cs typeface="Arial"/>
              </a:defRPr>
            </a:lvl8pPr>
            <a:lvl9pPr>
              <a:defRPr sz="1875" b="1">
                <a:solidFill>
                  <a:srgbClr val="C85D37"/>
                </a:solidFill>
                <a:latin typeface="Arial"/>
                <a:ea typeface="Arial"/>
                <a:cs typeface="Arial"/>
              </a:defRPr>
            </a:lvl9pPr>
          </a:lstStyle>
          <a:p xmlns:a="http://schemas.openxmlformats.org/drawingml/2006/main">
            <a:pPr>
              <a:defRPr sz="1875" b="1">
                <a:solidFill>
                  <a:srgbClr val="C85D37"/>
                </a:solidFill>
                <a:latin typeface="Arial"/>
                <a:ea typeface="Arial"/>
                <a:cs typeface="Arial"/>
              </a:defRPr>
            </a:pPr>
            <a:r>
              <a:rPr sz="1875" b="1">
                <a:solidFill>
                  <a:srgbClr val="C85D37"/>
                </a:solidFill>
                <a:latin typeface="Arial"/>
                <a:ea typeface="Arial"/>
                <a:cs typeface="Arial"/>
              </a:rPr>
              <a:t>Edit .env for the organizer demo</a:t>
            </a:r>
          </a:p>
        </p:txBody>
      </p:sp>
      <p:sp>
        <p:nvSpPr>
          <p:cNvPr id="7" name="">
            <a:extLst xmlns:a="http://schemas.openxmlformats.org/drawingml/2006/main">
              <a:ext uri="{FF2B5EF4-FFF2-40B4-BE49-F238E27FC236}">
                <a16:creationId xmlns:a16="http://schemas.microsoft.com/office/drawing/2014/main" id="{55D6E9CA-1DB3-4372-896E-865679FABCD1}"/>
              </a:ext>
            </a:extLst>
          </p:cNvPr>
          <p:cNvSpPr>
            <a:spLocks xmlns:a="http://schemas.openxmlformats.org/drawingml/2006/main" noGrp="1"/>
          </p:cNvSpPr>
          <p:nvPr/>
        </p:nvSpPr>
        <p:spPr>
          <a:xfrm xmlns:a="http://schemas.openxmlformats.org/drawingml/2006/main">
            <a:off x="495300" y="3533775"/>
            <a:ext cx="63912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72B3A"/>
                </a:solidFill>
                <a:latin typeface="Arial"/>
                <a:ea typeface="Arial"/>
                <a:cs typeface="Arial"/>
              </a:defRPr>
            </a:defPPr>
            <a:lvl1pPr>
              <a:defRPr sz="1650" b="0">
                <a:solidFill>
                  <a:srgbClr val="172B3A"/>
                </a:solidFill>
                <a:latin typeface="Arial"/>
                <a:ea typeface="Arial"/>
                <a:cs typeface="Arial"/>
              </a:defRPr>
            </a:lvl1pPr>
            <a:lvl2pPr>
              <a:defRPr sz="1650" b="0">
                <a:solidFill>
                  <a:srgbClr val="172B3A"/>
                </a:solidFill>
                <a:latin typeface="Arial"/>
                <a:ea typeface="Arial"/>
                <a:cs typeface="Arial"/>
              </a:defRPr>
            </a:lvl2pPr>
            <a:lvl3pPr>
              <a:defRPr sz="1650" b="0">
                <a:solidFill>
                  <a:srgbClr val="172B3A"/>
                </a:solidFill>
                <a:latin typeface="Arial"/>
                <a:ea typeface="Arial"/>
                <a:cs typeface="Arial"/>
              </a:defRPr>
            </a:lvl3pPr>
            <a:lvl4pPr>
              <a:defRPr sz="1650" b="0">
                <a:solidFill>
                  <a:srgbClr val="172B3A"/>
                </a:solidFill>
                <a:latin typeface="Arial"/>
                <a:ea typeface="Arial"/>
                <a:cs typeface="Arial"/>
              </a:defRPr>
            </a:lvl4pPr>
            <a:lvl5pPr>
              <a:defRPr sz="1650" b="0">
                <a:solidFill>
                  <a:srgbClr val="172B3A"/>
                </a:solidFill>
                <a:latin typeface="Arial"/>
                <a:ea typeface="Arial"/>
                <a:cs typeface="Arial"/>
              </a:defRPr>
            </a:lvl5pPr>
            <a:lvl6pPr>
              <a:defRPr sz="1650" b="0">
                <a:solidFill>
                  <a:srgbClr val="172B3A"/>
                </a:solidFill>
                <a:latin typeface="Arial"/>
                <a:ea typeface="Arial"/>
                <a:cs typeface="Arial"/>
              </a:defRPr>
            </a:lvl6pPr>
            <a:lvl7pPr>
              <a:defRPr sz="1650" b="0">
                <a:solidFill>
                  <a:srgbClr val="172B3A"/>
                </a:solidFill>
                <a:latin typeface="Arial"/>
                <a:ea typeface="Arial"/>
                <a:cs typeface="Arial"/>
              </a:defRPr>
            </a:lvl7pPr>
            <a:lvl8pPr>
              <a:defRPr sz="1650" b="0">
                <a:solidFill>
                  <a:srgbClr val="172B3A"/>
                </a:solidFill>
                <a:latin typeface="Arial"/>
                <a:ea typeface="Arial"/>
                <a:cs typeface="Arial"/>
              </a:defRPr>
            </a:lvl8pPr>
            <a:lvl9pPr>
              <a:defRPr sz="1650" b="0">
                <a:solidFill>
                  <a:srgbClr val="172B3A"/>
                </a:solidFill>
                <a:latin typeface="Arial"/>
                <a:ea typeface="Arial"/>
                <a:cs typeface="Arial"/>
              </a:defRPr>
            </a:lvl9pPr>
          </a:lstStyle>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MODEL=gpt-6-luna</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API_KEY=&lt;organizer key, kept private&gt;</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BASE_URL=https://litellm-hackathon.penpencil.guru</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TASK_ID=eps_eclipse_recovery</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SEED=0</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MODE=full</a:t>
            </a:r>
          </a:p>
          <a:p xmlns:a="http://schemas.openxmlformats.org/drawingml/2006/main">
            <a:pPr>
              <a:defRPr sz="1650" b="0">
                <a:solidFill>
                  <a:srgbClr val="172B3A"/>
                </a:solidFill>
                <a:latin typeface="Arial"/>
                <a:ea typeface="Arial"/>
                <a:cs typeface="Arial"/>
              </a:defRPr>
            </a:pPr>
            <a:r>
              <a:rPr sz="1650" b="0">
                <a:solidFill>
                  <a:srgbClr val="172B3A"/>
                </a:solidFill>
                <a:latin typeface="Arial"/>
                <a:ea typeface="Arial"/>
                <a:cs typeface="Arial"/>
              </a:rPr>
              <a:t>APPEND_FILE=</a:t>
            </a:r>
          </a:p>
        </p:txBody>
      </p:sp>
      <p:sp>
        <p:nvSpPr>
          <p:cNvPr id="8" name="">
            <a:extLst xmlns:a="http://schemas.openxmlformats.org/drawingml/2006/main">
              <a:ext uri="{FF2B5EF4-FFF2-40B4-BE49-F238E27FC236}">
                <a16:creationId xmlns:a16="http://schemas.microsoft.com/office/drawing/2014/main" id="{BAEBA36A-075C-4546-B9AD-4B43A5835EDA}"/>
              </a:ext>
            </a:extLst>
          </p:cNvPr>
          <p:cNvSpPr>
            <a:spLocks xmlns:a="http://schemas.openxmlformats.org/drawingml/2006/main" noGrp="1"/>
          </p:cNvSpPr>
          <p:nvPr/>
        </p:nvSpPr>
        <p:spPr>
          <a:xfrm xmlns:a="http://schemas.openxmlformats.org/drawingml/2006/main">
            <a:off x="7381875" y="3028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85D37"/>
                </a:solidFill>
                <a:latin typeface="Arial"/>
                <a:ea typeface="Arial"/>
                <a:cs typeface="Arial"/>
              </a:defRPr>
            </a:defPPr>
            <a:lvl1pPr>
              <a:defRPr sz="1875" b="1">
                <a:solidFill>
                  <a:srgbClr val="C85D37"/>
                </a:solidFill>
                <a:latin typeface="Arial"/>
                <a:ea typeface="Arial"/>
                <a:cs typeface="Arial"/>
              </a:defRPr>
            </a:lvl1pPr>
            <a:lvl2pPr>
              <a:defRPr sz="1875" b="1">
                <a:solidFill>
                  <a:srgbClr val="C85D37"/>
                </a:solidFill>
                <a:latin typeface="Arial"/>
                <a:ea typeface="Arial"/>
                <a:cs typeface="Arial"/>
              </a:defRPr>
            </a:lvl2pPr>
            <a:lvl3pPr>
              <a:defRPr sz="1875" b="1">
                <a:solidFill>
                  <a:srgbClr val="C85D37"/>
                </a:solidFill>
                <a:latin typeface="Arial"/>
                <a:ea typeface="Arial"/>
                <a:cs typeface="Arial"/>
              </a:defRPr>
            </a:lvl3pPr>
            <a:lvl4pPr>
              <a:defRPr sz="1875" b="1">
                <a:solidFill>
                  <a:srgbClr val="C85D37"/>
                </a:solidFill>
                <a:latin typeface="Arial"/>
                <a:ea typeface="Arial"/>
                <a:cs typeface="Arial"/>
              </a:defRPr>
            </a:lvl4pPr>
            <a:lvl5pPr>
              <a:defRPr sz="1875" b="1">
                <a:solidFill>
                  <a:srgbClr val="C85D37"/>
                </a:solidFill>
                <a:latin typeface="Arial"/>
                <a:ea typeface="Arial"/>
                <a:cs typeface="Arial"/>
              </a:defRPr>
            </a:lvl5pPr>
            <a:lvl6pPr>
              <a:defRPr sz="1875" b="1">
                <a:solidFill>
                  <a:srgbClr val="C85D37"/>
                </a:solidFill>
                <a:latin typeface="Arial"/>
                <a:ea typeface="Arial"/>
                <a:cs typeface="Arial"/>
              </a:defRPr>
            </a:lvl6pPr>
            <a:lvl7pPr>
              <a:defRPr sz="1875" b="1">
                <a:solidFill>
                  <a:srgbClr val="C85D37"/>
                </a:solidFill>
                <a:latin typeface="Arial"/>
                <a:ea typeface="Arial"/>
                <a:cs typeface="Arial"/>
              </a:defRPr>
            </a:lvl7pPr>
            <a:lvl8pPr>
              <a:defRPr sz="1875" b="1">
                <a:solidFill>
                  <a:srgbClr val="C85D37"/>
                </a:solidFill>
                <a:latin typeface="Arial"/>
                <a:ea typeface="Arial"/>
                <a:cs typeface="Arial"/>
              </a:defRPr>
            </a:lvl8pPr>
            <a:lvl9pPr>
              <a:defRPr sz="1875" b="1">
                <a:solidFill>
                  <a:srgbClr val="C85D37"/>
                </a:solidFill>
                <a:latin typeface="Arial"/>
                <a:ea typeface="Arial"/>
                <a:cs typeface="Arial"/>
              </a:defRPr>
            </a:lvl9pPr>
          </a:lstStyle>
          <a:p xmlns:a="http://schemas.openxmlformats.org/drawingml/2006/main">
            <a:pPr>
              <a:defRPr sz="1875" b="1">
                <a:solidFill>
                  <a:srgbClr val="C85D37"/>
                </a:solidFill>
                <a:latin typeface="Arial"/>
                <a:ea typeface="Arial"/>
                <a:cs typeface="Arial"/>
              </a:defRPr>
            </a:pPr>
            <a:r>
              <a:rPr sz="1875" b="1">
                <a:solidFill>
                  <a:srgbClr val="C85D37"/>
                </a:solidFill>
                <a:latin typeface="Arial"/>
                <a:ea typeface="Arial"/>
                <a:cs typeface="Arial"/>
              </a:rPr>
              <a:t>Run once</a:t>
            </a:r>
          </a:p>
        </p:txBody>
      </p:sp>
      <p:sp>
        <p:nvSpPr>
          <p:cNvPr id="9" name="">
            <a:extLst xmlns:a="http://schemas.openxmlformats.org/drawingml/2006/main">
              <a:ext uri="{FF2B5EF4-FFF2-40B4-BE49-F238E27FC236}">
                <a16:creationId xmlns:a16="http://schemas.microsoft.com/office/drawing/2014/main" id="{BDB0EE67-E409-4792-A419-DE60C598C3F0}"/>
              </a:ext>
            </a:extLst>
          </p:cNvPr>
          <p:cNvSpPr>
            <a:spLocks xmlns:a="http://schemas.openxmlformats.org/drawingml/2006/main" noGrp="1"/>
          </p:cNvSpPr>
          <p:nvPr/>
        </p:nvSpPr>
        <p:spPr>
          <a:xfrm xmlns:a="http://schemas.openxmlformats.org/drawingml/2006/main">
            <a:off x="7381875" y="3562350"/>
            <a:ext cx="4286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B3A"/>
                </a:solidFill>
                <a:latin typeface="Arial"/>
                <a:ea typeface="Arial"/>
                <a:cs typeface="Arial"/>
              </a:defRPr>
            </a:defPPr>
            <a:lvl1pPr>
              <a:defRPr sz="1725" b="0">
                <a:solidFill>
                  <a:srgbClr val="172B3A"/>
                </a:solidFill>
                <a:latin typeface="Arial"/>
                <a:ea typeface="Arial"/>
                <a:cs typeface="Arial"/>
              </a:defRPr>
            </a:lvl1pPr>
            <a:lvl2pPr>
              <a:defRPr sz="1725" b="0">
                <a:solidFill>
                  <a:srgbClr val="172B3A"/>
                </a:solidFill>
                <a:latin typeface="Arial"/>
                <a:ea typeface="Arial"/>
                <a:cs typeface="Arial"/>
              </a:defRPr>
            </a:lvl2pPr>
            <a:lvl3pPr>
              <a:defRPr sz="1725" b="0">
                <a:solidFill>
                  <a:srgbClr val="172B3A"/>
                </a:solidFill>
                <a:latin typeface="Arial"/>
                <a:ea typeface="Arial"/>
                <a:cs typeface="Arial"/>
              </a:defRPr>
            </a:lvl3pPr>
            <a:lvl4pPr>
              <a:defRPr sz="1725" b="0">
                <a:solidFill>
                  <a:srgbClr val="172B3A"/>
                </a:solidFill>
                <a:latin typeface="Arial"/>
                <a:ea typeface="Arial"/>
                <a:cs typeface="Arial"/>
              </a:defRPr>
            </a:lvl4pPr>
            <a:lvl5pPr>
              <a:defRPr sz="1725" b="0">
                <a:solidFill>
                  <a:srgbClr val="172B3A"/>
                </a:solidFill>
                <a:latin typeface="Arial"/>
                <a:ea typeface="Arial"/>
                <a:cs typeface="Arial"/>
              </a:defRPr>
            </a:lvl5pPr>
            <a:lvl6pPr>
              <a:defRPr sz="1725" b="0">
                <a:solidFill>
                  <a:srgbClr val="172B3A"/>
                </a:solidFill>
                <a:latin typeface="Arial"/>
                <a:ea typeface="Arial"/>
                <a:cs typeface="Arial"/>
              </a:defRPr>
            </a:lvl6pPr>
            <a:lvl7pPr>
              <a:defRPr sz="1725" b="0">
                <a:solidFill>
                  <a:srgbClr val="172B3A"/>
                </a:solidFill>
                <a:latin typeface="Arial"/>
                <a:ea typeface="Arial"/>
                <a:cs typeface="Arial"/>
              </a:defRPr>
            </a:lvl7pPr>
            <a:lvl8pPr>
              <a:defRPr sz="1725" b="0">
                <a:solidFill>
                  <a:srgbClr val="172B3A"/>
                </a:solidFill>
                <a:latin typeface="Arial"/>
                <a:ea typeface="Arial"/>
                <a:cs typeface="Arial"/>
              </a:defRPr>
            </a:lvl8pPr>
            <a:lvl9pPr>
              <a:defRPr sz="1725" b="0">
                <a:solidFill>
                  <a:srgbClr val="172B3A"/>
                </a:solidFill>
                <a:latin typeface="Arial"/>
                <a:ea typeface="Arial"/>
                <a:cs typeface="Arial"/>
              </a:defRPr>
            </a:lvl9pPr>
          </a:lstStyle>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docker compose up --build \</a:t>
            </a:r>
          </a:p>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  --abort-on-container-exit \</a:t>
            </a:r>
          </a:p>
          <a:p xmlns:a="http://schemas.openxmlformats.org/drawingml/2006/main">
            <a:pPr>
              <a:defRPr sz="1725" b="0">
                <a:solidFill>
                  <a:srgbClr val="172B3A"/>
                </a:solidFill>
                <a:latin typeface="Arial"/>
                <a:ea typeface="Arial"/>
                <a:cs typeface="Arial"/>
              </a:defRPr>
            </a:pPr>
            <a:r>
              <a:rPr sz="1725" b="0">
                <a:solidFill>
                  <a:srgbClr val="172B3A"/>
                </a:solidFill>
                <a:latin typeface="Arial"/>
                <a:ea typeface="Arial"/>
                <a:cs typeface="Arial"/>
              </a:rPr>
              <a:t>  --exit-code-from harness</a:t>
            </a:r>
          </a:p>
        </p:txBody>
      </p:sp>
      <p:sp>
        <p:nvSpPr>
          <p:cNvPr id="10" name="">
            <a:extLst xmlns:a="http://schemas.openxmlformats.org/drawingml/2006/main">
              <a:ext uri="{FF2B5EF4-FFF2-40B4-BE49-F238E27FC236}">
                <a16:creationId xmlns:a16="http://schemas.microsoft.com/office/drawing/2014/main" id="{22E6A143-CD3D-40C3-BDDB-0856860D071E}"/>
              </a:ext>
            </a:extLst>
          </p:cNvPr>
          <p:cNvSpPr>
            <a:spLocks xmlns:a="http://schemas.openxmlformats.org/drawingml/2006/main" noGrp="1"/>
          </p:cNvSpPr>
          <p:nvPr/>
        </p:nvSpPr>
        <p:spPr>
          <a:xfrm xmlns:a="http://schemas.openxmlformats.org/drawingml/2006/main">
            <a:off x="7381875" y="5095875"/>
            <a:ext cx="428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0776D"/>
                </a:solidFill>
                <a:latin typeface="Arial"/>
                <a:ea typeface="Arial"/>
                <a:cs typeface="Arial"/>
              </a:defRPr>
            </a:defPPr>
            <a:lvl1pPr>
              <a:defRPr sz="1800" b="1">
                <a:solidFill>
                  <a:srgbClr val="20776D"/>
                </a:solidFill>
                <a:latin typeface="Arial"/>
                <a:ea typeface="Arial"/>
                <a:cs typeface="Arial"/>
              </a:defRPr>
            </a:lvl1pPr>
            <a:lvl2pPr>
              <a:defRPr sz="1800" b="1">
                <a:solidFill>
                  <a:srgbClr val="20776D"/>
                </a:solidFill>
                <a:latin typeface="Arial"/>
                <a:ea typeface="Arial"/>
                <a:cs typeface="Arial"/>
              </a:defRPr>
            </a:lvl2pPr>
            <a:lvl3pPr>
              <a:defRPr sz="1800" b="1">
                <a:solidFill>
                  <a:srgbClr val="20776D"/>
                </a:solidFill>
                <a:latin typeface="Arial"/>
                <a:ea typeface="Arial"/>
                <a:cs typeface="Arial"/>
              </a:defRPr>
            </a:lvl3pPr>
            <a:lvl4pPr>
              <a:defRPr sz="1800" b="1">
                <a:solidFill>
                  <a:srgbClr val="20776D"/>
                </a:solidFill>
                <a:latin typeface="Arial"/>
                <a:ea typeface="Arial"/>
                <a:cs typeface="Arial"/>
              </a:defRPr>
            </a:lvl4pPr>
            <a:lvl5pPr>
              <a:defRPr sz="1800" b="1">
                <a:solidFill>
                  <a:srgbClr val="20776D"/>
                </a:solidFill>
                <a:latin typeface="Arial"/>
                <a:ea typeface="Arial"/>
                <a:cs typeface="Arial"/>
              </a:defRPr>
            </a:lvl5pPr>
            <a:lvl6pPr>
              <a:defRPr sz="1800" b="1">
                <a:solidFill>
                  <a:srgbClr val="20776D"/>
                </a:solidFill>
                <a:latin typeface="Arial"/>
                <a:ea typeface="Arial"/>
                <a:cs typeface="Arial"/>
              </a:defRPr>
            </a:lvl6pPr>
            <a:lvl7pPr>
              <a:defRPr sz="1800" b="1">
                <a:solidFill>
                  <a:srgbClr val="20776D"/>
                </a:solidFill>
                <a:latin typeface="Arial"/>
                <a:ea typeface="Arial"/>
                <a:cs typeface="Arial"/>
              </a:defRPr>
            </a:lvl7pPr>
            <a:lvl8pPr>
              <a:defRPr sz="1800" b="1">
                <a:solidFill>
                  <a:srgbClr val="20776D"/>
                </a:solidFill>
                <a:latin typeface="Arial"/>
                <a:ea typeface="Arial"/>
                <a:cs typeface="Arial"/>
              </a:defRPr>
            </a:lvl8pPr>
            <a:lvl9pPr>
              <a:defRPr sz="1800" b="1">
                <a:solidFill>
                  <a:srgbClr val="20776D"/>
                </a:solidFill>
                <a:latin typeface="Arial"/>
                <a:ea typeface="Arial"/>
                <a:cs typeface="Arial"/>
              </a:defRPr>
            </a:lvl9pPr>
          </a:lstStyle>
          <a:p xmlns:a="http://schemas.openxmlformats.org/drawingml/2006/main">
            <a:pPr>
              <a:defRPr sz="1800" b="1">
                <a:solidFill>
                  <a:srgbClr val="20776D"/>
                </a:solidFill>
                <a:latin typeface="Arial"/>
                <a:ea typeface="Arial"/>
                <a:cs typeface="Arial"/>
              </a:defRPr>
            </a:pPr>
            <a:r>
              <a:rPr sz="1800" b="1">
                <a:solidFill>
                  <a:srgbClr val="20776D"/>
                </a:solidFill>
                <a:latin typeface="Arial"/>
                <a:ea typeface="Arial"/>
                <a:cs typeface="Arial"/>
              </a:rPr>
              <a:t>Expected: baseline gate, model loop,</a:t>
            </a:r>
          </a:p>
          <a:p xmlns:a="http://schemas.openxmlformats.org/drawingml/2006/main">
            <a:pPr>
              <a:defRPr sz="1800" b="1">
                <a:solidFill>
                  <a:srgbClr val="20776D"/>
                </a:solidFill>
                <a:latin typeface="Arial"/>
                <a:ea typeface="Arial"/>
                <a:cs typeface="Arial"/>
              </a:defRPr>
            </a:pPr>
            <a:r>
              <a:rPr sz="1800" b="1">
                <a:solidFill>
                  <a:srgbClr val="20776D"/>
                </a:solidFill>
                <a:latin typeface="Arial"/>
                <a:ea typeface="Arial"/>
                <a:cs typeface="Arial"/>
              </a:rPr>
              <a:t>final score and a new logs/&lt;run_id&gt;/.</a:t>
            </a:r>
          </a:p>
        </p:txBody>
      </p:sp>
      <p:sp>
        <p:nvSpPr>
          <p:cNvPr id="11" name="">
            <a:extLst xmlns:a="http://schemas.openxmlformats.org/drawingml/2006/main">
              <a:ext uri="{FF2B5EF4-FFF2-40B4-BE49-F238E27FC236}">
                <a16:creationId xmlns:a16="http://schemas.microsoft.com/office/drawing/2014/main" id="{C74CD5B4-2DB3-4065-B102-3E927EE95059}"/>
              </a:ext>
            </a:extLst>
          </p:cNvPr>
          <p:cNvSpPr>
            <a:spLocks xmlns:a="http://schemas.openxmlformats.org/drawingml/2006/main" noGrp="1"/>
          </p:cNvSpPr>
          <p:nvPr/>
        </p:nvSpPr>
        <p:spPr>
          <a:xfrm xmlns:a="http://schemas.openxmlformats.org/drawingml/2006/main">
            <a:off x="495300" y="5943600"/>
            <a:ext cx="1120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66A73"/>
                </a:solidFill>
                <a:latin typeface="Arial"/>
                <a:ea typeface="Arial"/>
                <a:cs typeface="Arial"/>
              </a:defRPr>
            </a:defPPr>
            <a:lvl1pPr>
              <a:defRPr sz="1500" b="0">
                <a:solidFill>
                  <a:srgbClr val="566A73"/>
                </a:solidFill>
                <a:latin typeface="Arial"/>
                <a:ea typeface="Arial"/>
                <a:cs typeface="Arial"/>
              </a:defRPr>
            </a:lvl1pPr>
            <a:lvl2pPr>
              <a:defRPr sz="1500" b="0">
                <a:solidFill>
                  <a:srgbClr val="566A73"/>
                </a:solidFill>
                <a:latin typeface="Arial"/>
                <a:ea typeface="Arial"/>
                <a:cs typeface="Arial"/>
              </a:defRPr>
            </a:lvl2pPr>
            <a:lvl3pPr>
              <a:defRPr sz="1500" b="0">
                <a:solidFill>
                  <a:srgbClr val="566A73"/>
                </a:solidFill>
                <a:latin typeface="Arial"/>
                <a:ea typeface="Arial"/>
                <a:cs typeface="Arial"/>
              </a:defRPr>
            </a:lvl3pPr>
            <a:lvl4pPr>
              <a:defRPr sz="1500" b="0">
                <a:solidFill>
                  <a:srgbClr val="566A73"/>
                </a:solidFill>
                <a:latin typeface="Arial"/>
                <a:ea typeface="Arial"/>
                <a:cs typeface="Arial"/>
              </a:defRPr>
            </a:lvl4pPr>
            <a:lvl5pPr>
              <a:defRPr sz="1500" b="0">
                <a:solidFill>
                  <a:srgbClr val="566A73"/>
                </a:solidFill>
                <a:latin typeface="Arial"/>
                <a:ea typeface="Arial"/>
                <a:cs typeface="Arial"/>
              </a:defRPr>
            </a:lvl5pPr>
            <a:lvl6pPr>
              <a:defRPr sz="1500" b="0">
                <a:solidFill>
                  <a:srgbClr val="566A73"/>
                </a:solidFill>
                <a:latin typeface="Arial"/>
                <a:ea typeface="Arial"/>
                <a:cs typeface="Arial"/>
              </a:defRPr>
            </a:lvl6pPr>
            <a:lvl7pPr>
              <a:defRPr sz="1500" b="0">
                <a:solidFill>
                  <a:srgbClr val="566A73"/>
                </a:solidFill>
                <a:latin typeface="Arial"/>
                <a:ea typeface="Arial"/>
                <a:cs typeface="Arial"/>
              </a:defRPr>
            </a:lvl7pPr>
            <a:lvl8pPr>
              <a:defRPr sz="1500" b="0">
                <a:solidFill>
                  <a:srgbClr val="566A73"/>
                </a:solidFill>
                <a:latin typeface="Arial"/>
                <a:ea typeface="Arial"/>
                <a:cs typeface="Arial"/>
              </a:defRPr>
            </a:lvl8pPr>
            <a:lvl9pPr>
              <a:defRPr sz="1500" b="0">
                <a:solidFill>
                  <a:srgbClr val="566A73"/>
                </a:solidFill>
                <a:latin typeface="Arial"/>
                <a:ea typeface="Arial"/>
                <a:cs typeface="Arial"/>
              </a:defRPr>
            </a:lvl9pPr>
          </a:lstStyle>
          <a:p xmlns:a="http://schemas.openxmlformats.org/drawingml/2006/main">
            <a:pPr>
              <a:defRPr sz="1500" b="0">
                <a:solidFill>
                  <a:srgbClr val="566A73"/>
                </a:solidFill>
                <a:latin typeface="Arial"/>
                <a:ea typeface="Arial"/>
                <a:cs typeface="Arial"/>
              </a:defRPr>
            </a:pPr>
            <a:r>
              <a:rPr sz="1500" b="0">
                <a:solidFill>
                  <a:srgbClr val="566A73"/>
                </a:solidFill>
                <a:latin typeface="Arial"/>
                <a:ea typeface="Arial"/>
                <a:cs typeface="Arial"/>
              </a:rPr>
              <a:t>Offline smoke test: leave MODEL=mock/solver and credentials blank. All-task gates: MODE=baselines. Keep inputs/append.txt absent for Run A.</a:t>
            </a:r>
          </a:p>
        </p:txBody>
      </p:sp>
    </p:spTree>
    <p:extLst>
      <p:ext uri="{BB962C8B-B14F-4D97-AF65-F5344CB8AC3E}">
        <p14:creationId xmlns:p14="http://schemas.microsoft.com/office/powerpoint/2010/main" val="1732494048"/>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74F4E6-4102-4DA0-AE05-C6A5EE4D07D8}"/>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Measured results and preserved evidence</a:t>
            </a:r>
          </a:p>
        </p:txBody>
      </p:sp>
      <p:sp>
        <p:nvSpPr>
          <p:cNvPr id="2" name="">
            <a:extLst xmlns:a="http://schemas.openxmlformats.org/drawingml/2006/main">
              <a:ext uri="{FF2B5EF4-FFF2-40B4-BE49-F238E27FC236}">
                <a16:creationId xmlns:a16="http://schemas.microsoft.com/office/drawing/2014/main" id="{6E9303DC-2CCA-4673-BE9B-227AC92470C4}"/>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CB6466F6-26D4-4790-958A-9070DF2FC958}"/>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DCF0E0C-F7FD-4EB9-82AB-D69AB3DB8C0C}"/>
              </a:ext>
            </a:extLst>
          </p:cNvPr>
          <p:cNvSpPr>
            <a:spLocks xmlns:a="http://schemas.openxmlformats.org/drawingml/2006/main" noGrp="1"/>
          </p:cNvSpPr>
          <p:nvPr/>
        </p:nvSpPr>
        <p:spPr>
          <a:xfrm xmlns:a="http://schemas.openxmlformats.org/drawingml/2006/main">
            <a:off x="495300" y="1257300"/>
            <a:ext cx="11201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76D"/>
                </a:solidFill>
                <a:latin typeface="Arial"/>
                <a:ea typeface="Arial"/>
                <a:cs typeface="Arial"/>
              </a:defRPr>
            </a:defPPr>
            <a:lvl1pPr>
              <a:defRPr sz="2025" b="1">
                <a:solidFill>
                  <a:srgbClr val="20776D"/>
                </a:solidFill>
                <a:latin typeface="Arial"/>
                <a:ea typeface="Arial"/>
                <a:cs typeface="Arial"/>
              </a:defRPr>
            </a:lvl1pPr>
            <a:lvl2pPr>
              <a:defRPr sz="2025" b="1">
                <a:solidFill>
                  <a:srgbClr val="20776D"/>
                </a:solidFill>
                <a:latin typeface="Arial"/>
                <a:ea typeface="Arial"/>
                <a:cs typeface="Arial"/>
              </a:defRPr>
            </a:lvl2pPr>
            <a:lvl3pPr>
              <a:defRPr sz="2025" b="1">
                <a:solidFill>
                  <a:srgbClr val="20776D"/>
                </a:solidFill>
                <a:latin typeface="Arial"/>
                <a:ea typeface="Arial"/>
                <a:cs typeface="Arial"/>
              </a:defRPr>
            </a:lvl3pPr>
            <a:lvl4pPr>
              <a:defRPr sz="2025" b="1">
                <a:solidFill>
                  <a:srgbClr val="20776D"/>
                </a:solidFill>
                <a:latin typeface="Arial"/>
                <a:ea typeface="Arial"/>
                <a:cs typeface="Arial"/>
              </a:defRPr>
            </a:lvl4pPr>
            <a:lvl5pPr>
              <a:defRPr sz="2025" b="1">
                <a:solidFill>
                  <a:srgbClr val="20776D"/>
                </a:solidFill>
                <a:latin typeface="Arial"/>
                <a:ea typeface="Arial"/>
                <a:cs typeface="Arial"/>
              </a:defRPr>
            </a:lvl5pPr>
            <a:lvl6pPr>
              <a:defRPr sz="2025" b="1">
                <a:solidFill>
                  <a:srgbClr val="20776D"/>
                </a:solidFill>
                <a:latin typeface="Arial"/>
                <a:ea typeface="Arial"/>
                <a:cs typeface="Arial"/>
              </a:defRPr>
            </a:lvl6pPr>
            <a:lvl7pPr>
              <a:defRPr sz="2025" b="1">
                <a:solidFill>
                  <a:srgbClr val="20776D"/>
                </a:solidFill>
                <a:latin typeface="Arial"/>
                <a:ea typeface="Arial"/>
                <a:cs typeface="Arial"/>
              </a:defRPr>
            </a:lvl7pPr>
            <a:lvl8pPr>
              <a:defRPr sz="2025" b="1">
                <a:solidFill>
                  <a:srgbClr val="20776D"/>
                </a:solidFill>
                <a:latin typeface="Arial"/>
                <a:ea typeface="Arial"/>
                <a:cs typeface="Arial"/>
              </a:defRPr>
            </a:lvl8pPr>
            <a:lvl9pPr>
              <a:defRPr sz="2025" b="1">
                <a:solidFill>
                  <a:srgbClr val="20776D"/>
                </a:solidFill>
                <a:latin typeface="Arial"/>
                <a:ea typeface="Arial"/>
                <a:cs typeface="Arial"/>
              </a:defRPr>
            </a:lvl9pPr>
          </a:lstStyle>
          <a:p xmlns:a="http://schemas.openxmlformats.org/drawingml/2006/main">
            <a:pPr>
              <a:defRPr sz="2025" b="1">
                <a:solidFill>
                  <a:srgbClr val="20776D"/>
                </a:solidFill>
                <a:latin typeface="Arial"/>
                <a:ea typeface="Arial"/>
                <a:cs typeface="Arial"/>
              </a:defRPr>
            </a:pPr>
            <a:r>
              <a:rPr sz="2025" b="1">
                <a:solidFill>
                  <a:srgbClr val="20776D"/>
                </a:solidFill>
                <a:latin typeface="Arial"/>
                <a:ea typeface="Arial"/>
                <a:cs typeface="Arial"/>
              </a:rPr>
              <a:t>150 Linux tests   /   12 live isolation checks   /   9 reference-no-op gates passed</a:t>
            </a:r>
          </a:p>
        </p:txBody>
      </p:sp>
      <p:graphicFrame>
        <p:nvGraphicFramePr>
          <p:cNvPr id="5" name="">
            <a:extLst xmlns:a="http://schemas.openxmlformats.org/drawingml/2006/main">
              <a:ext uri="{FF2B5EF4-FFF2-40B4-BE49-F238E27FC236}">
                <a16:creationId xmlns:a16="http://schemas.microsoft.com/office/drawing/2014/main" id="{909DC945-80EF-4C86-9C82-DF13130937BD}"/>
              </a:ext>
            </a:extLst>
          </p:cNvPr>
          <p:cNvGraphicFramePr/>
          <p:nvPr/>
        </p:nvGraphicFramePr>
        <p:xfrm>
          <a:off xmlns:a="http://schemas.openxmlformats.org/drawingml/2006/main" x="495300" y="1990725"/>
          <a:ext xmlns:a="http://schemas.openxmlformats.org/drawingml/2006/main" cx="11201400" cy="2924175"/>
        </p:xfrm>
        <a:graphic xmlns:a="http://schemas.openxmlformats.org/drawingml/2006/main">
          <a:graphicData uri="http://schemas.openxmlformats.org/drawingml/2006/table">
            <a:tbl>
              <a:tblPr/>
              <a:tblGrid>
                <a:gridCol w="5486400"/>
                <a:gridCol w="2247900"/>
                <a:gridCol w="1733550"/>
                <a:gridCol w="1733550"/>
              </a:tblGrid>
              <a:tr h="584835">
                <a:tc>
                  <a:txBody>
                    <a:bodyPr/>
                    <a:lstStyle/>
                    <a:p>
                      <a:r>
                        <a:rPr sz="1425" b="1">
                          <a:solidFill>
                            <a:srgbClr val="FFFFFF"/>
                          </a:solidFill>
                          <a:latin typeface="Arial"/>
                          <a:ea typeface="Arial"/>
                          <a:cs typeface="Arial"/>
                        </a:rPr>
                        <a:t>Genuine gpt-6-luna attempt</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Outcome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Reward</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Replies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584835">
                <a:tc>
                  <a:txBody>
                    <a:bodyPr/>
                    <a:lstStyle/>
                    <a:p>
                      <a:r>
                        <a:rPr sz="1725" b="0">
                          <a:solidFill>
                            <a:srgbClr val="172B3A"/>
                          </a:solidFill>
                          <a:latin typeface="Arial"/>
                          <a:ea typeface="Arial"/>
                          <a:cs typeface="Arial"/>
                        </a:rPr>
                        <a:t>EPS, seed 0, no append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success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1</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11</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84835">
                <a:tc>
                  <a:txBody>
                    <a:bodyPr/>
                    <a:lstStyle/>
                    <a:p>
                      <a:r>
                        <a:rPr sz="1725" b="0">
                          <a:solidFill>
                            <a:srgbClr val="172B3A"/>
                          </a:solidFill>
                          <a:latin typeface="Arial"/>
                          <a:ea typeface="Arial"/>
                          <a:cs typeface="Arial"/>
                        </a:rPr>
                        <a:t>RF energy, seed 101</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success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1</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11</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84835">
                <a:tc>
                  <a:txBody>
                    <a:bodyPr/>
                    <a:lstStyle/>
                    <a:p>
                      <a:r>
                        <a:rPr sz="1725" b="0">
                          <a:solidFill>
                            <a:srgbClr val="172B3A"/>
                          </a:solidFill>
                          <a:latin typeface="Arial"/>
                          <a:ea typeface="Arial"/>
                          <a:cs typeface="Arial"/>
                        </a:rPr>
                        <a:t>Science, seed 101</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success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1</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725" b="0">
                          <a:solidFill>
                            <a:srgbClr val="172B3A"/>
                          </a:solidFill>
                          <a:latin typeface="Arial"/>
                          <a:ea typeface="Arial"/>
                          <a:cs typeface="Arial"/>
                        </a:rPr>
                        <a:t>28</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84835">
                <a:tc>
                  <a:txBody>
                    <a:bodyPr/>
                    <a:lstStyle/>
                    <a:p>
                      <a:r>
                        <a:rPr sz="1725" b="0">
                          <a:solidFill>
                            <a:srgbClr val="172B3A"/>
                          </a:solidFill>
                          <a:latin typeface="Arial"/>
                          <a:ea typeface="Arial"/>
                          <a:cs typeface="Arial"/>
                        </a:rPr>
                        <a:t>Observation, seed 101</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failure</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0.8</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725" b="0">
                          <a:solidFill>
                            <a:srgbClr val="172B3A"/>
                          </a:solidFill>
                          <a:latin typeface="Arial"/>
                          <a:ea typeface="Arial"/>
                          <a:cs typeface="Arial"/>
                        </a:rPr>
                        <a:t>12</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6" name="">
            <a:extLst xmlns:a="http://schemas.openxmlformats.org/drawingml/2006/main">
              <a:ext uri="{FF2B5EF4-FFF2-40B4-BE49-F238E27FC236}">
                <a16:creationId xmlns:a16="http://schemas.microsoft.com/office/drawing/2014/main" id="{82FE9737-3B37-4EAC-AA4C-0A3228086EEC}"/>
              </a:ext>
            </a:extLst>
          </p:cNvPr>
          <p:cNvSpPr>
            <a:spLocks xmlns:a="http://schemas.openxmlformats.org/drawingml/2006/main" noGrp="1"/>
          </p:cNvSpPr>
          <p:nvPr/>
        </p:nvSpPr>
        <p:spPr>
          <a:xfrm xmlns:a="http://schemas.openxmlformats.org/drawingml/2006/main">
            <a:off x="495300" y="52006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72B3A"/>
                </a:solidFill>
                <a:latin typeface="Arial"/>
                <a:ea typeface="Arial"/>
                <a:cs typeface="Arial"/>
              </a:defRPr>
            </a:defPPr>
            <a:lvl1pPr>
              <a:defRPr sz="1950" b="1">
                <a:solidFill>
                  <a:srgbClr val="172B3A"/>
                </a:solidFill>
                <a:latin typeface="Arial"/>
                <a:ea typeface="Arial"/>
                <a:cs typeface="Arial"/>
              </a:defRPr>
            </a:lvl1pPr>
            <a:lvl2pPr>
              <a:defRPr sz="1950" b="1">
                <a:solidFill>
                  <a:srgbClr val="172B3A"/>
                </a:solidFill>
                <a:latin typeface="Arial"/>
                <a:ea typeface="Arial"/>
                <a:cs typeface="Arial"/>
              </a:defRPr>
            </a:lvl2pPr>
            <a:lvl3pPr>
              <a:defRPr sz="1950" b="1">
                <a:solidFill>
                  <a:srgbClr val="172B3A"/>
                </a:solidFill>
                <a:latin typeface="Arial"/>
                <a:ea typeface="Arial"/>
                <a:cs typeface="Arial"/>
              </a:defRPr>
            </a:lvl3pPr>
            <a:lvl4pPr>
              <a:defRPr sz="1950" b="1">
                <a:solidFill>
                  <a:srgbClr val="172B3A"/>
                </a:solidFill>
                <a:latin typeface="Arial"/>
                <a:ea typeface="Arial"/>
                <a:cs typeface="Arial"/>
              </a:defRPr>
            </a:lvl4pPr>
            <a:lvl5pPr>
              <a:defRPr sz="1950" b="1">
                <a:solidFill>
                  <a:srgbClr val="172B3A"/>
                </a:solidFill>
                <a:latin typeface="Arial"/>
                <a:ea typeface="Arial"/>
                <a:cs typeface="Arial"/>
              </a:defRPr>
            </a:lvl5pPr>
            <a:lvl6pPr>
              <a:defRPr sz="1950" b="1">
                <a:solidFill>
                  <a:srgbClr val="172B3A"/>
                </a:solidFill>
                <a:latin typeface="Arial"/>
                <a:ea typeface="Arial"/>
                <a:cs typeface="Arial"/>
              </a:defRPr>
            </a:lvl6pPr>
            <a:lvl7pPr>
              <a:defRPr sz="1950" b="1">
                <a:solidFill>
                  <a:srgbClr val="172B3A"/>
                </a:solidFill>
                <a:latin typeface="Arial"/>
                <a:ea typeface="Arial"/>
                <a:cs typeface="Arial"/>
              </a:defRPr>
            </a:lvl7pPr>
            <a:lvl8pPr>
              <a:defRPr sz="1950" b="1">
                <a:solidFill>
                  <a:srgbClr val="172B3A"/>
                </a:solidFill>
                <a:latin typeface="Arial"/>
                <a:ea typeface="Arial"/>
                <a:cs typeface="Arial"/>
              </a:defRPr>
            </a:lvl8pPr>
            <a:lvl9pPr>
              <a:defRPr sz="1950" b="1">
                <a:solidFill>
                  <a:srgbClr val="172B3A"/>
                </a:solidFill>
                <a:latin typeface="Arial"/>
                <a:ea typeface="Arial"/>
                <a:cs typeface="Arial"/>
              </a:defRPr>
            </a:lvl9pPr>
          </a:lstStyle>
          <a:p xmlns:a="http://schemas.openxmlformats.org/drawingml/2006/main">
            <a:pPr>
              <a:defRPr sz="1950" b="1">
                <a:solidFill>
                  <a:srgbClr val="172B3A"/>
                </a:solidFill>
                <a:latin typeface="Arial"/>
                <a:ea typeface="Arial"/>
                <a:cs typeface="Arial"/>
              </a:defRPr>
            </a:pPr>
            <a:r>
              <a:rPr sz="1950" b="1">
                <a:solidFill>
                  <a:srgbClr val="172B3A"/>
                </a:solidFill>
                <a:latin typeface="Arial"/>
                <a:ea typeface="Arial"/>
                <a:cs typeface="Arial"/>
              </a:rPr>
              <a:t>474 / 474 stress expectations: 80 feasible plans succeed; 394 invalid choices are correctly rejected.</a:t>
            </a:r>
          </a:p>
        </p:txBody>
      </p:sp>
      <p:sp>
        <p:nvSpPr>
          <p:cNvPr id="7" name="">
            <a:extLst xmlns:a="http://schemas.openxmlformats.org/drawingml/2006/main">
              <a:ext uri="{FF2B5EF4-FFF2-40B4-BE49-F238E27FC236}">
                <a16:creationId xmlns:a16="http://schemas.microsoft.com/office/drawing/2014/main" id="{8B7A7FBD-B173-4A72-B6EC-7538868FFA5E}"/>
              </a:ext>
            </a:extLst>
          </p:cNvPr>
          <p:cNvSpPr>
            <a:spLocks xmlns:a="http://schemas.openxmlformats.org/drawingml/2006/main" noGrp="1"/>
          </p:cNvSpPr>
          <p:nvPr/>
        </p:nvSpPr>
        <p:spPr>
          <a:xfrm xmlns:a="http://schemas.openxmlformats.org/drawingml/2006/main">
            <a:off x="495300" y="5924550"/>
            <a:ext cx="11201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66A73"/>
                </a:solidFill>
                <a:latin typeface="Arial"/>
                <a:ea typeface="Arial"/>
                <a:cs typeface="Arial"/>
              </a:defRPr>
            </a:defPPr>
            <a:lvl1pPr>
              <a:defRPr sz="1575" b="0">
                <a:solidFill>
                  <a:srgbClr val="566A73"/>
                </a:solidFill>
                <a:latin typeface="Arial"/>
                <a:ea typeface="Arial"/>
                <a:cs typeface="Arial"/>
              </a:defRPr>
            </a:lvl1pPr>
            <a:lvl2pPr>
              <a:defRPr sz="1575" b="0">
                <a:solidFill>
                  <a:srgbClr val="566A73"/>
                </a:solidFill>
                <a:latin typeface="Arial"/>
                <a:ea typeface="Arial"/>
                <a:cs typeface="Arial"/>
              </a:defRPr>
            </a:lvl2pPr>
            <a:lvl3pPr>
              <a:defRPr sz="1575" b="0">
                <a:solidFill>
                  <a:srgbClr val="566A73"/>
                </a:solidFill>
                <a:latin typeface="Arial"/>
                <a:ea typeface="Arial"/>
                <a:cs typeface="Arial"/>
              </a:defRPr>
            </a:lvl3pPr>
            <a:lvl4pPr>
              <a:defRPr sz="1575" b="0">
                <a:solidFill>
                  <a:srgbClr val="566A73"/>
                </a:solidFill>
                <a:latin typeface="Arial"/>
                <a:ea typeface="Arial"/>
                <a:cs typeface="Arial"/>
              </a:defRPr>
            </a:lvl4pPr>
            <a:lvl5pPr>
              <a:defRPr sz="1575" b="0">
                <a:solidFill>
                  <a:srgbClr val="566A73"/>
                </a:solidFill>
                <a:latin typeface="Arial"/>
                <a:ea typeface="Arial"/>
                <a:cs typeface="Arial"/>
              </a:defRPr>
            </a:lvl5pPr>
            <a:lvl6pPr>
              <a:defRPr sz="1575" b="0">
                <a:solidFill>
                  <a:srgbClr val="566A73"/>
                </a:solidFill>
                <a:latin typeface="Arial"/>
                <a:ea typeface="Arial"/>
                <a:cs typeface="Arial"/>
              </a:defRPr>
            </a:lvl6pPr>
            <a:lvl7pPr>
              <a:defRPr sz="1575" b="0">
                <a:solidFill>
                  <a:srgbClr val="566A73"/>
                </a:solidFill>
                <a:latin typeface="Arial"/>
                <a:ea typeface="Arial"/>
                <a:cs typeface="Arial"/>
              </a:defRPr>
            </a:lvl7pPr>
            <a:lvl8pPr>
              <a:defRPr sz="1575" b="0">
                <a:solidFill>
                  <a:srgbClr val="566A73"/>
                </a:solidFill>
                <a:latin typeface="Arial"/>
                <a:ea typeface="Arial"/>
                <a:cs typeface="Arial"/>
              </a:defRPr>
            </a:lvl8pPr>
            <a:lvl9pPr>
              <a:defRPr sz="1575" b="0">
                <a:solidFill>
                  <a:srgbClr val="566A73"/>
                </a:solidFill>
                <a:latin typeface="Arial"/>
                <a:ea typeface="Arial"/>
                <a:cs typeface="Arial"/>
              </a:defRPr>
            </a:lvl9pPr>
          </a:lstStyle>
          <a:p xmlns:a="http://schemas.openxmlformats.org/drawingml/2006/main">
            <a:pPr>
              <a:defRPr sz="1575" b="0">
                <a:solidFill>
                  <a:srgbClr val="566A73"/>
                </a:solidFill>
                <a:latin typeface="Arial"/>
                <a:ea typeface="Arial"/>
                <a:cs typeface="Arial"/>
              </a:defRPr>
            </a:pPr>
            <a:r>
              <a:rPr sz="1575" b="0">
                <a:solidFill>
                  <a:srgbClr val="566A73"/>
                </a:solidFill>
                <a:latin typeface="Arial"/>
                <a:ea typeface="Arial"/>
                <a:cs typeface="Arial"/>
              </a:rPr>
              <a:t>13 interface tests / 32 local HTTP requests are synthetic, not extra model runs. Four real attempts do not establish a general success rate.</a:t>
            </a:r>
          </a:p>
        </p:txBody>
      </p:sp>
    </p:spTree>
    <p:extLst>
      <p:ext uri="{BB962C8B-B14F-4D97-AF65-F5344CB8AC3E}">
        <p14:creationId xmlns:p14="http://schemas.microsoft.com/office/powerpoint/2010/main" val="1401950114"/>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E4ADD2-4232-4FFE-A7C9-00BE1D1E2A45}"/>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Live Run A, Run B and the judge view</a:t>
            </a:r>
          </a:p>
        </p:txBody>
      </p:sp>
      <p:sp>
        <p:nvSpPr>
          <p:cNvPr id="2" name="">
            <a:extLst xmlns:a="http://schemas.openxmlformats.org/drawingml/2006/main">
              <a:ext uri="{FF2B5EF4-FFF2-40B4-BE49-F238E27FC236}">
                <a16:creationId xmlns:a16="http://schemas.microsoft.com/office/drawing/2014/main" id="{B384D554-68BA-4AA3-8E47-C1E46129FF7C}"/>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a:t>
            </a:r>
          </a:p>
        </p:txBody>
      </p:sp>
      <p:sp>
        <p:nvSpPr>
          <p:cNvPr id="3" name="">
            <a:extLst xmlns:a="http://schemas.openxmlformats.org/drawingml/2006/main">
              <a:ext uri="{FF2B5EF4-FFF2-40B4-BE49-F238E27FC236}">
                <a16:creationId xmlns:a16="http://schemas.microsoft.com/office/drawing/2014/main" id="{07187D22-740D-4C8B-AA39-65047D9451D2}"/>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6C6E30E4-ABBA-4D2D-81BA-F4539A26ADFE}"/>
              </a:ext>
            </a:extLst>
          </p:cNvPr>
          <p:cNvGraphicFramePr/>
          <p:nvPr/>
        </p:nvGraphicFramePr>
        <p:xfrm>
          <a:off xmlns:a="http://schemas.openxmlformats.org/drawingml/2006/main" x="495300" y="1390650"/>
          <a:ext xmlns:a="http://schemas.openxmlformats.org/drawingml/2006/main" cx="11201400" cy="2181225"/>
        </p:xfrm>
        <a:graphic xmlns:a="http://schemas.openxmlformats.org/drawingml/2006/main">
          <a:graphicData uri="http://schemas.openxmlformats.org/drawingml/2006/table">
            <a:tbl>
              <a:tblPr/>
              <a:tblGrid>
                <a:gridCol w="2571750"/>
                <a:gridCol w="4486275"/>
                <a:gridCol w="4143375"/>
              </a:tblGrid>
              <a:tr h="727075">
                <a:tc>
                  <a:txBody>
                    <a:bodyPr/>
                    <a:lstStyle/>
                    <a:p>
                      <a:r>
                        <a:rPr sz="1425" b="1">
                          <a:solidFill>
                            <a:srgbClr val="FFFFFF"/>
                          </a:solidFill>
                          <a:latin typeface="Arial"/>
                          <a:ea typeface="Arial"/>
                          <a:cs typeface="Arial"/>
                        </a:rPr>
                        <a:t>Run</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Inputs judges select</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stays the same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727075">
                <a:tc>
                  <a:txBody>
                    <a:bodyPr/>
                    <a:lstStyle/>
                    <a:p>
                      <a:r>
                        <a:rPr sz="1800" b="0">
                          <a:solidFill>
                            <a:srgbClr val="172B3A"/>
                          </a:solidFill>
                          <a:latin typeface="Arial"/>
                          <a:ea typeface="Arial"/>
                          <a:cs typeface="Arial"/>
                        </a:rPr>
                        <a:t>A: named demo</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800" b="0">
                          <a:solidFill>
                            <a:srgbClr val="172B3A"/>
                          </a:solidFill>
                          <a:latin typeface="Arial"/>
                          <a:ea typeface="Arial"/>
                          <a:cs typeface="Arial"/>
                        </a:rPr>
                        <a:t>EPS eclipse recovery, seed 0; no append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800" b="0">
                          <a:solidFill>
                            <a:srgbClr val="172B3A"/>
                          </a:solidFill>
                          <a:latin typeface="Arial"/>
                          <a:ea typeface="Arial"/>
                          <a:cs typeface="Arial"/>
                        </a:rPr>
                        <a:t>Same command, tools and verifier</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727075">
                <a:tc>
                  <a:txBody>
                    <a:bodyPr/>
                    <a:lstStyle/>
                    <a:p>
                      <a:r>
                        <a:rPr sz="1800" b="0">
                          <a:solidFill>
                            <a:srgbClr val="172B3A"/>
                          </a:solidFill>
                          <a:latin typeface="Arial"/>
                          <a:ea typeface="Arial"/>
                          <a:cs typeface="Arial"/>
                        </a:rPr>
                        <a:t>B: unseen challenge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800" b="0">
                          <a:solidFill>
                            <a:srgbClr val="172B3A"/>
                          </a:solidFill>
                          <a:latin typeface="Arial"/>
                          <a:ea typeface="Arial"/>
                          <a:cs typeface="Arial"/>
                        </a:rPr>
                        <a:t>Judge-picked task and model; exact append file</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800" b="0">
                          <a:solidFill>
                            <a:srgbClr val="172B3A"/>
                          </a:solidFill>
                          <a:latin typeface="Arial"/>
                          <a:ea typeface="Arial"/>
                          <a:cs typeface="Arial"/>
                        </a:rPr>
                        <a:t>Same interface, schemas and scoring</a:t>
                      </a:r>
                    </a:p>
                    <a:p>
                      <a:r>
                        <a:rPr sz="1800" b="0">
                          <a:solidFill>
                            <a:srgbClr val="172B3A"/>
                          </a:solidFill>
                          <a:latin typeface="Arial"/>
                          <a:ea typeface="Arial"/>
                          <a:cs typeface="Arial"/>
                        </a:rPr>
                        <a:t>No model-specific rules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D7E8E17E-1E26-49C4-AA4F-B350426D4866}"/>
              </a:ext>
            </a:extLst>
          </p:cNvPr>
          <p:cNvSpPr>
            <a:spLocks xmlns:a="http://schemas.openxmlformats.org/drawingml/2006/main" noGrp="1"/>
          </p:cNvSpPr>
          <p:nvPr/>
        </p:nvSpPr>
        <p:spPr>
          <a:xfrm xmlns:a="http://schemas.openxmlformats.org/drawingml/2006/main">
            <a:off x="495300" y="3905250"/>
            <a:ext cx="11201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72B3A"/>
                </a:solidFill>
                <a:latin typeface="Arial"/>
                <a:ea typeface="Arial"/>
                <a:cs typeface="Arial"/>
              </a:defRPr>
            </a:defPPr>
            <a:lvl1pPr>
              <a:defRPr sz="1950" b="1">
                <a:solidFill>
                  <a:srgbClr val="172B3A"/>
                </a:solidFill>
                <a:latin typeface="Arial"/>
                <a:ea typeface="Arial"/>
                <a:cs typeface="Arial"/>
              </a:defRPr>
            </a:lvl1pPr>
            <a:lvl2pPr>
              <a:defRPr sz="1950" b="1">
                <a:solidFill>
                  <a:srgbClr val="172B3A"/>
                </a:solidFill>
                <a:latin typeface="Arial"/>
                <a:ea typeface="Arial"/>
                <a:cs typeface="Arial"/>
              </a:defRPr>
            </a:lvl2pPr>
            <a:lvl3pPr>
              <a:defRPr sz="1950" b="1">
                <a:solidFill>
                  <a:srgbClr val="172B3A"/>
                </a:solidFill>
                <a:latin typeface="Arial"/>
                <a:ea typeface="Arial"/>
                <a:cs typeface="Arial"/>
              </a:defRPr>
            </a:lvl3pPr>
            <a:lvl4pPr>
              <a:defRPr sz="1950" b="1">
                <a:solidFill>
                  <a:srgbClr val="172B3A"/>
                </a:solidFill>
                <a:latin typeface="Arial"/>
                <a:ea typeface="Arial"/>
                <a:cs typeface="Arial"/>
              </a:defRPr>
            </a:lvl4pPr>
            <a:lvl5pPr>
              <a:defRPr sz="1950" b="1">
                <a:solidFill>
                  <a:srgbClr val="172B3A"/>
                </a:solidFill>
                <a:latin typeface="Arial"/>
                <a:ea typeface="Arial"/>
                <a:cs typeface="Arial"/>
              </a:defRPr>
            </a:lvl5pPr>
            <a:lvl6pPr>
              <a:defRPr sz="1950" b="1">
                <a:solidFill>
                  <a:srgbClr val="172B3A"/>
                </a:solidFill>
                <a:latin typeface="Arial"/>
                <a:ea typeface="Arial"/>
                <a:cs typeface="Arial"/>
              </a:defRPr>
            </a:lvl6pPr>
            <a:lvl7pPr>
              <a:defRPr sz="1950" b="1">
                <a:solidFill>
                  <a:srgbClr val="172B3A"/>
                </a:solidFill>
                <a:latin typeface="Arial"/>
                <a:ea typeface="Arial"/>
                <a:cs typeface="Arial"/>
              </a:defRPr>
            </a:lvl7pPr>
            <a:lvl8pPr>
              <a:defRPr sz="1950" b="1">
                <a:solidFill>
                  <a:srgbClr val="172B3A"/>
                </a:solidFill>
                <a:latin typeface="Arial"/>
                <a:ea typeface="Arial"/>
                <a:cs typeface="Arial"/>
              </a:defRPr>
            </a:lvl8pPr>
            <a:lvl9pPr>
              <a:defRPr sz="1950" b="1">
                <a:solidFill>
                  <a:srgbClr val="172B3A"/>
                </a:solidFill>
                <a:latin typeface="Arial"/>
                <a:ea typeface="Arial"/>
                <a:cs typeface="Arial"/>
              </a:defRPr>
            </a:lvl9pPr>
          </a:lstStyle>
          <a:p xmlns:a="http://schemas.openxmlformats.org/drawingml/2006/main">
            <a:pPr>
              <a:defRPr sz="1950" b="1">
                <a:solidFill>
                  <a:srgbClr val="172B3A"/>
                </a:solidFill>
                <a:latin typeface="Arial"/>
                <a:ea typeface="Arial"/>
                <a:cs typeface="Arial"/>
              </a:defRPr>
            </a:pPr>
            <a:r>
              <a:rPr sz="1950" b="1">
                <a:solidFill>
                  <a:srgbClr val="172B3A"/>
                </a:solidFill>
                <a:latin typeface="Arial"/>
                <a:ea typeface="Arial"/>
                <a:cs typeface="Arial"/>
              </a:rPr>
              <a:t>Limits: build 180 s; baseline pair 120 s; 40 replies / 600 s; 10 tools per reply.</a:t>
            </a:r>
          </a:p>
          <a:p xmlns:a="http://schemas.openxmlformats.org/drawingml/2006/main">
            <a:pPr>
              <a:defRPr sz="1950" b="1">
                <a:solidFill>
                  <a:srgbClr val="172B3A"/>
                </a:solidFill>
                <a:latin typeface="Arial"/>
                <a:ea typeface="Arial"/>
                <a:cs typeface="Arial"/>
              </a:defRPr>
            </a:pPr>
            <a:r>
              <a:rPr sz="1950" b="1">
                <a:solidFill>
                  <a:srgbClr val="172B3A"/>
                </a:solidFill>
                <a:latin typeface="Arial"/>
                <a:ea typeface="Arial"/>
                <a:cs typeface="Arial"/>
              </a:rPr>
              <a:t>Tool operation 60 s; final verification has a separate 120 s.</a:t>
            </a:r>
          </a:p>
        </p:txBody>
      </p:sp>
      <p:sp>
        <p:nvSpPr>
          <p:cNvPr id="6" name="">
            <a:extLst xmlns:a="http://schemas.openxmlformats.org/drawingml/2006/main">
              <a:ext uri="{FF2B5EF4-FFF2-40B4-BE49-F238E27FC236}">
                <a16:creationId xmlns:a16="http://schemas.microsoft.com/office/drawing/2014/main" id="{7DE2B1B0-9A89-4CCF-95B1-76F3A82924F0}"/>
              </a:ext>
            </a:extLst>
          </p:cNvPr>
          <p:cNvSpPr>
            <a:spLocks xmlns:a="http://schemas.openxmlformats.org/drawingml/2006/main" noGrp="1"/>
          </p:cNvSpPr>
          <p:nvPr/>
        </p:nvSpPr>
        <p:spPr>
          <a:xfrm xmlns:a="http://schemas.openxmlformats.org/drawingml/2006/main">
            <a:off x="495300" y="5048250"/>
            <a:ext cx="11201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76D"/>
                </a:solidFill>
                <a:latin typeface="Arial"/>
                <a:ea typeface="Arial"/>
                <a:cs typeface="Arial"/>
              </a:defRPr>
            </a:defPPr>
            <a:lvl1pPr>
              <a:defRPr sz="1950" b="1">
                <a:solidFill>
                  <a:srgbClr val="20776D"/>
                </a:solidFill>
                <a:latin typeface="Arial"/>
                <a:ea typeface="Arial"/>
                <a:cs typeface="Arial"/>
              </a:defRPr>
            </a:lvl1pPr>
            <a:lvl2pPr>
              <a:defRPr sz="1950" b="1">
                <a:solidFill>
                  <a:srgbClr val="20776D"/>
                </a:solidFill>
                <a:latin typeface="Arial"/>
                <a:ea typeface="Arial"/>
                <a:cs typeface="Arial"/>
              </a:defRPr>
            </a:lvl2pPr>
            <a:lvl3pPr>
              <a:defRPr sz="1950" b="1">
                <a:solidFill>
                  <a:srgbClr val="20776D"/>
                </a:solidFill>
                <a:latin typeface="Arial"/>
                <a:ea typeface="Arial"/>
                <a:cs typeface="Arial"/>
              </a:defRPr>
            </a:lvl3pPr>
            <a:lvl4pPr>
              <a:defRPr sz="1950" b="1">
                <a:solidFill>
                  <a:srgbClr val="20776D"/>
                </a:solidFill>
                <a:latin typeface="Arial"/>
                <a:ea typeface="Arial"/>
                <a:cs typeface="Arial"/>
              </a:defRPr>
            </a:lvl4pPr>
            <a:lvl5pPr>
              <a:defRPr sz="1950" b="1">
                <a:solidFill>
                  <a:srgbClr val="20776D"/>
                </a:solidFill>
                <a:latin typeface="Arial"/>
                <a:ea typeface="Arial"/>
                <a:cs typeface="Arial"/>
              </a:defRPr>
            </a:lvl5pPr>
            <a:lvl6pPr>
              <a:defRPr sz="1950" b="1">
                <a:solidFill>
                  <a:srgbClr val="20776D"/>
                </a:solidFill>
                <a:latin typeface="Arial"/>
                <a:ea typeface="Arial"/>
                <a:cs typeface="Arial"/>
              </a:defRPr>
            </a:lvl6pPr>
            <a:lvl7pPr>
              <a:defRPr sz="1950" b="1">
                <a:solidFill>
                  <a:srgbClr val="20776D"/>
                </a:solidFill>
                <a:latin typeface="Arial"/>
                <a:ea typeface="Arial"/>
                <a:cs typeface="Arial"/>
              </a:defRPr>
            </a:lvl7pPr>
            <a:lvl8pPr>
              <a:defRPr sz="1950" b="1">
                <a:solidFill>
                  <a:srgbClr val="20776D"/>
                </a:solidFill>
                <a:latin typeface="Arial"/>
                <a:ea typeface="Arial"/>
                <a:cs typeface="Arial"/>
              </a:defRPr>
            </a:lvl8pPr>
            <a:lvl9pPr>
              <a:defRPr sz="1950" b="1">
                <a:solidFill>
                  <a:srgbClr val="20776D"/>
                </a:solidFill>
                <a:latin typeface="Arial"/>
                <a:ea typeface="Arial"/>
                <a:cs typeface="Arial"/>
              </a:defRPr>
            </a:lvl9pPr>
          </a:lstStyle>
          <a:p xmlns:a="http://schemas.openxmlformats.org/drawingml/2006/main">
            <a:pPr>
              <a:defRPr sz="1950" b="1">
                <a:solidFill>
                  <a:srgbClr val="20776D"/>
                </a:solidFill>
                <a:latin typeface="Arial"/>
                <a:ea typeface="Arial"/>
                <a:cs typeface="Arial"/>
              </a:defRPr>
            </a:pPr>
            <a:r>
              <a:rPr sz="1950" b="1">
                <a:solidFill>
                  <a:srgbClr val="20776D"/>
                </a:solidFill>
                <a:latin typeface="Arial"/>
                <a:ea typeface="Arial"/>
                <a:cs typeface="Arial"/>
              </a:rPr>
              <a:t>Judge view: tools, reward, state hash and errors per reply.</a:t>
            </a:r>
          </a:p>
          <a:p xmlns:a="http://schemas.openxmlformats.org/drawingml/2006/main">
            <a:pPr>
              <a:defRPr sz="1950" b="1">
                <a:solidFill>
                  <a:srgbClr val="20776D"/>
                </a:solidFill>
                <a:latin typeface="Arial"/>
                <a:ea typeface="Arial"/>
                <a:cs typeface="Arial"/>
              </a:defRPr>
            </a:pPr>
            <a:r>
              <a:rPr sz="1950" b="1">
                <a:solidFill>
                  <a:srgbClr val="20776D"/>
                </a:solidFill>
                <a:latin typeface="Arial"/>
                <a:ea typeface="Arial"/>
                <a:cs typeface="Arial"/>
              </a:rPr>
              <a:t>Terminal reason: success / failure / step cap / time cap / crash.</a:t>
            </a:r>
          </a:p>
        </p:txBody>
      </p:sp>
      <p:sp>
        <p:nvSpPr>
          <p:cNvPr id="7" name="">
            <a:extLst xmlns:a="http://schemas.openxmlformats.org/drawingml/2006/main">
              <a:ext uri="{FF2B5EF4-FFF2-40B4-BE49-F238E27FC236}">
                <a16:creationId xmlns:a16="http://schemas.microsoft.com/office/drawing/2014/main" id="{F6451DC6-88A3-47E9-925D-D02A2602DA30}"/>
              </a:ext>
            </a:extLst>
          </p:cNvPr>
          <p:cNvSpPr>
            <a:spLocks xmlns:a="http://schemas.openxmlformats.org/drawingml/2006/main" noGrp="1"/>
          </p:cNvSpPr>
          <p:nvPr/>
        </p:nvSpPr>
        <p:spPr>
          <a:xfrm xmlns:a="http://schemas.openxmlformats.org/drawingml/2006/main">
            <a:off x="495300" y="6057900"/>
            <a:ext cx="1120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66A73"/>
                </a:solidFill>
                <a:latin typeface="Arial"/>
                <a:ea typeface="Arial"/>
                <a:cs typeface="Arial"/>
              </a:defRPr>
            </a:defPPr>
            <a:lvl1pPr>
              <a:defRPr sz="1500" b="0">
                <a:solidFill>
                  <a:srgbClr val="566A73"/>
                </a:solidFill>
                <a:latin typeface="Arial"/>
                <a:ea typeface="Arial"/>
                <a:cs typeface="Arial"/>
              </a:defRPr>
            </a:lvl1pPr>
            <a:lvl2pPr>
              <a:defRPr sz="1500" b="0">
                <a:solidFill>
                  <a:srgbClr val="566A73"/>
                </a:solidFill>
                <a:latin typeface="Arial"/>
                <a:ea typeface="Arial"/>
                <a:cs typeface="Arial"/>
              </a:defRPr>
            </a:lvl2pPr>
            <a:lvl3pPr>
              <a:defRPr sz="1500" b="0">
                <a:solidFill>
                  <a:srgbClr val="566A73"/>
                </a:solidFill>
                <a:latin typeface="Arial"/>
                <a:ea typeface="Arial"/>
                <a:cs typeface="Arial"/>
              </a:defRPr>
            </a:lvl3pPr>
            <a:lvl4pPr>
              <a:defRPr sz="1500" b="0">
                <a:solidFill>
                  <a:srgbClr val="566A73"/>
                </a:solidFill>
                <a:latin typeface="Arial"/>
                <a:ea typeface="Arial"/>
                <a:cs typeface="Arial"/>
              </a:defRPr>
            </a:lvl4pPr>
            <a:lvl5pPr>
              <a:defRPr sz="1500" b="0">
                <a:solidFill>
                  <a:srgbClr val="566A73"/>
                </a:solidFill>
                <a:latin typeface="Arial"/>
                <a:ea typeface="Arial"/>
                <a:cs typeface="Arial"/>
              </a:defRPr>
            </a:lvl5pPr>
            <a:lvl6pPr>
              <a:defRPr sz="1500" b="0">
                <a:solidFill>
                  <a:srgbClr val="566A73"/>
                </a:solidFill>
                <a:latin typeface="Arial"/>
                <a:ea typeface="Arial"/>
                <a:cs typeface="Arial"/>
              </a:defRPr>
            </a:lvl6pPr>
            <a:lvl7pPr>
              <a:defRPr sz="1500" b="0">
                <a:solidFill>
                  <a:srgbClr val="566A73"/>
                </a:solidFill>
                <a:latin typeface="Arial"/>
                <a:ea typeface="Arial"/>
                <a:cs typeface="Arial"/>
              </a:defRPr>
            </a:lvl7pPr>
            <a:lvl8pPr>
              <a:defRPr sz="1500" b="0">
                <a:solidFill>
                  <a:srgbClr val="566A73"/>
                </a:solidFill>
                <a:latin typeface="Arial"/>
                <a:ea typeface="Arial"/>
                <a:cs typeface="Arial"/>
              </a:defRPr>
            </a:lvl8pPr>
            <a:lvl9pPr>
              <a:defRPr sz="1500" b="0">
                <a:solidFill>
                  <a:srgbClr val="566A73"/>
                </a:solidFill>
                <a:latin typeface="Arial"/>
                <a:ea typeface="Arial"/>
                <a:cs typeface="Arial"/>
              </a:defRPr>
            </a:lvl9pPr>
          </a:lstStyle>
          <a:p xmlns:a="http://schemas.openxmlformats.org/drawingml/2006/main">
            <a:pPr>
              <a:defRPr sz="1500" b="0">
                <a:solidFill>
                  <a:srgbClr val="566A73"/>
                </a:solidFill>
                <a:latin typeface="Arial"/>
                <a:ea typeface="Arial"/>
                <a:cs typeface="Arial"/>
              </a:defRPr>
            </a:pPr>
            <a:r>
              <a:rPr sz="1500" b="0">
                <a:solidFill>
                  <a:srgbClr val="566A73"/>
                </a:solidFill>
                <a:latin typeface="Arial"/>
                <a:ea typeface="Arial"/>
                <a:cs typeface="Arial"/>
              </a:rPr>
              <a:t>10-minute talk and runs occur in parallel, then 6-minute Q&amp;A. No intervention after a run starts.</a:t>
            </a:r>
          </a:p>
        </p:txBody>
      </p:sp>
    </p:spTree>
    <p:extLst>
      <p:ext uri="{BB962C8B-B14F-4D97-AF65-F5344CB8AC3E}">
        <p14:creationId xmlns:p14="http://schemas.microsoft.com/office/powerpoint/2010/main" val="2100601490"/>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45D820-4B06-4141-AB46-36D69A6CC8CE}"/>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Reference: exact task IDs</a:t>
            </a:r>
          </a:p>
        </p:txBody>
      </p:sp>
      <p:sp>
        <p:nvSpPr>
          <p:cNvPr id="2" name="">
            <a:extLst xmlns:a="http://schemas.openxmlformats.org/drawingml/2006/main">
              <a:ext uri="{FF2B5EF4-FFF2-40B4-BE49-F238E27FC236}">
                <a16:creationId xmlns:a16="http://schemas.microsoft.com/office/drawing/2014/main" id="{8AC65639-1DD5-4072-A248-24CC8D6A53E4}"/>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 / Reference</a:t>
            </a:r>
          </a:p>
        </p:txBody>
      </p:sp>
      <p:sp>
        <p:nvSpPr>
          <p:cNvPr id="3" name="">
            <a:extLst xmlns:a="http://schemas.openxmlformats.org/drawingml/2006/main">
              <a:ext uri="{FF2B5EF4-FFF2-40B4-BE49-F238E27FC236}">
                <a16:creationId xmlns:a16="http://schemas.microsoft.com/office/drawing/2014/main" id="{EB543611-8DBF-4EF4-88BD-4E2B664A1164}"/>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30BF14CD-E6B1-4728-8308-D8638396D8D1}"/>
              </a:ext>
            </a:extLst>
          </p:cNvPr>
          <p:cNvGraphicFramePr/>
          <p:nvPr/>
        </p:nvGraphicFramePr>
        <p:xfrm>
          <a:off xmlns:a="http://schemas.openxmlformats.org/drawingml/2006/main" x="495300" y="1333500"/>
          <a:ext xmlns:a="http://schemas.openxmlformats.org/drawingml/2006/main" cx="11201400" cy="4676775"/>
        </p:xfrm>
        <a:graphic xmlns:a="http://schemas.openxmlformats.org/drawingml/2006/main">
          <a:graphicData uri="http://schemas.openxmlformats.org/drawingml/2006/table">
            <a:tbl>
              <a:tblPr/>
              <a:tblGrid>
                <a:gridCol w="5505450"/>
                <a:gridCol w="1543050"/>
                <a:gridCol w="4152900"/>
              </a:tblGrid>
              <a:tr h="467678">
                <a:tc>
                  <a:txBody>
                    <a:bodyPr/>
                    <a:lstStyle/>
                    <a:p>
                      <a:r>
                        <a:rPr sz="1425" b="1">
                          <a:solidFill>
                            <a:srgbClr val="FFFFFF"/>
                          </a:solidFill>
                          <a:latin typeface="Arial"/>
                          <a:ea typeface="Arial"/>
                          <a:cs typeface="Arial"/>
                        </a:rPr>
                        <a:t>TASK_ID</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Difficulty</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Task objective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467678">
                <a:tc>
                  <a:txBody>
                    <a:bodyPr/>
                    <a:lstStyle/>
                    <a:p>
                      <a:r>
                        <a:rPr sz="1575" b="0">
                          <a:solidFill>
                            <a:srgbClr val="172B3A"/>
                          </a:solidFill>
                          <a:latin typeface="Arial"/>
                          <a:ea typeface="Arial"/>
                          <a:cs typeface="Arial"/>
                        </a:rPr>
                        <a:t>eps_eclipse_recovery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Easy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Recover eclipse energy reserve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67678">
                <a:tc>
                  <a:txBody>
                    <a:bodyPr/>
                    <a:lstStyle/>
                    <a:p>
                      <a:r>
                        <a:rPr sz="1575" b="0">
                          <a:solidFill>
                            <a:srgbClr val="172B3A"/>
                          </a:solidFill>
                          <a:latin typeface="Arial"/>
                          <a:ea typeface="Arial"/>
                          <a:cs typeface="Arial"/>
                        </a:rPr>
                        <a:t>adcs_detumble_pointing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Easy</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Meet protected pointing target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67678">
                <a:tc>
                  <a:txBody>
                    <a:bodyPr/>
                    <a:lstStyle/>
                    <a:p>
                      <a:r>
                        <a:rPr sz="1575" b="0">
                          <a:solidFill>
                            <a:srgbClr val="172B3A"/>
                          </a:solidFill>
                          <a:latin typeface="Arial"/>
                          <a:ea typeface="Arial"/>
                          <a:cs typeface="Arial"/>
                        </a:rPr>
                        <a:t>thermal_battery_preservation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Recover safe temperature control</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67678">
                <a:tc>
                  <a:txBody>
                    <a:bodyPr/>
                    <a:lstStyle/>
                    <a:p>
                      <a:r>
                        <a:rPr sz="1575" b="0">
                          <a:solidFill>
                            <a:srgbClr val="172B3A"/>
                          </a:solidFill>
                          <a:latin typeface="Arial"/>
                          <a:ea typeface="Arial"/>
                          <a:cs typeface="Arial"/>
                        </a:rPr>
                        <a:t>rf_downlink_closure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Repair radio link and calculation</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67678">
                <a:tc>
                  <a:txBody>
                    <a:bodyPr/>
                    <a:lstStyle/>
                    <a:p>
                      <a:r>
                        <a:rPr sz="1575" b="0">
                          <a:solidFill>
                            <a:srgbClr val="172B3A"/>
                          </a:solidFill>
                          <a:latin typeface="Arial"/>
                          <a:ea typeface="Arial"/>
                          <a:cs typeface="Arial"/>
                        </a:rPr>
                        <a:t>safe_mode_cascade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Medium</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Recover two subsystem faults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67678">
                <a:tc>
                  <a:txBody>
                    <a:bodyPr/>
                    <a:lstStyle/>
                    <a:p>
                      <a:r>
                        <a:rPr sz="1575" b="0">
                          <a:solidFill>
                            <a:srgbClr val="172B3A"/>
                          </a:solidFill>
                          <a:latin typeface="Arial"/>
                          <a:ea typeface="Arial"/>
                          <a:cs typeface="Arial"/>
                        </a:rPr>
                        <a:t>rf_energy_tradeoff</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Meet contact delivery and RF energy</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67678">
                <a:tc>
                  <a:txBody>
                    <a:bodyPr/>
                    <a:lstStyle/>
                    <a:p>
                      <a:r>
                        <a:rPr sz="1575" b="0">
                          <a:solidFill>
                            <a:srgbClr val="172B3A"/>
                          </a:solidFill>
                          <a:latin typeface="Arial"/>
                          <a:ea typeface="Arial"/>
                          <a:cs typeface="Arial"/>
                        </a:rPr>
                        <a:t>early_pass_recovery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Repair before early contact</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467678">
                <a:tc>
                  <a:txBody>
                    <a:bodyPr/>
                    <a:lstStyle/>
                    <a:p>
                      <a:r>
                        <a:rPr sz="1575" b="0">
                          <a:solidFill>
                            <a:srgbClr val="172B3A"/>
                          </a:solidFill>
                          <a:latin typeface="Arial"/>
                          <a:ea typeface="Arial"/>
                          <a:cs typeface="Arial"/>
                        </a:rPr>
                        <a:t>observation_window_scheduling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Meet exposure and payload energy</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467678">
                <a:tc>
                  <a:txBody>
                    <a:bodyPr/>
                    <a:lstStyle/>
                    <a:p>
                      <a:r>
                        <a:rPr sz="1575" b="0">
                          <a:solidFill>
                            <a:srgbClr val="172B3A"/>
                          </a:solidFill>
                          <a:latin typeface="Arial"/>
                          <a:ea typeface="Arial"/>
                          <a:cs typeface="Arial"/>
                        </a:rPr>
                        <a:t>science_store_forward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Hard</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Two acquisitions, finite buffer, two contacts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277CFDB6-B441-4023-9153-8DE33D38355E}"/>
              </a:ext>
            </a:extLst>
          </p:cNvPr>
          <p:cNvSpPr>
            <a:spLocks xmlns:a="http://schemas.openxmlformats.org/drawingml/2006/main" noGrp="1"/>
          </p:cNvSpPr>
          <p:nvPr/>
        </p:nvSpPr>
        <p:spPr>
          <a:xfrm xmlns:a="http://schemas.openxmlformats.org/drawingml/2006/main">
            <a:off x="495300" y="6115050"/>
            <a:ext cx="1120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76D"/>
                </a:solidFill>
                <a:latin typeface="Arial"/>
                <a:ea typeface="Arial"/>
                <a:cs typeface="Arial"/>
              </a:defRPr>
            </a:defPPr>
            <a:lvl1pPr>
              <a:defRPr sz="1650" b="1">
                <a:solidFill>
                  <a:srgbClr val="20776D"/>
                </a:solidFill>
                <a:latin typeface="Arial"/>
                <a:ea typeface="Arial"/>
                <a:cs typeface="Arial"/>
              </a:defRPr>
            </a:lvl1pPr>
            <a:lvl2pPr>
              <a:defRPr sz="1650" b="1">
                <a:solidFill>
                  <a:srgbClr val="20776D"/>
                </a:solidFill>
                <a:latin typeface="Arial"/>
                <a:ea typeface="Arial"/>
                <a:cs typeface="Arial"/>
              </a:defRPr>
            </a:lvl2pPr>
            <a:lvl3pPr>
              <a:defRPr sz="1650" b="1">
                <a:solidFill>
                  <a:srgbClr val="20776D"/>
                </a:solidFill>
                <a:latin typeface="Arial"/>
                <a:ea typeface="Arial"/>
                <a:cs typeface="Arial"/>
              </a:defRPr>
            </a:lvl3pPr>
            <a:lvl4pPr>
              <a:defRPr sz="1650" b="1">
                <a:solidFill>
                  <a:srgbClr val="20776D"/>
                </a:solidFill>
                <a:latin typeface="Arial"/>
                <a:ea typeface="Arial"/>
                <a:cs typeface="Arial"/>
              </a:defRPr>
            </a:lvl4pPr>
            <a:lvl5pPr>
              <a:defRPr sz="1650" b="1">
                <a:solidFill>
                  <a:srgbClr val="20776D"/>
                </a:solidFill>
                <a:latin typeface="Arial"/>
                <a:ea typeface="Arial"/>
                <a:cs typeface="Arial"/>
              </a:defRPr>
            </a:lvl5pPr>
            <a:lvl6pPr>
              <a:defRPr sz="1650" b="1">
                <a:solidFill>
                  <a:srgbClr val="20776D"/>
                </a:solidFill>
                <a:latin typeface="Arial"/>
                <a:ea typeface="Arial"/>
                <a:cs typeface="Arial"/>
              </a:defRPr>
            </a:lvl6pPr>
            <a:lvl7pPr>
              <a:defRPr sz="1650" b="1">
                <a:solidFill>
                  <a:srgbClr val="20776D"/>
                </a:solidFill>
                <a:latin typeface="Arial"/>
                <a:ea typeface="Arial"/>
                <a:cs typeface="Arial"/>
              </a:defRPr>
            </a:lvl7pPr>
            <a:lvl8pPr>
              <a:defRPr sz="1650" b="1">
                <a:solidFill>
                  <a:srgbClr val="20776D"/>
                </a:solidFill>
                <a:latin typeface="Arial"/>
                <a:ea typeface="Arial"/>
                <a:cs typeface="Arial"/>
              </a:defRPr>
            </a:lvl8pPr>
            <a:lvl9pPr>
              <a:defRPr sz="1650" b="1">
                <a:solidFill>
                  <a:srgbClr val="20776D"/>
                </a:solidFill>
                <a:latin typeface="Arial"/>
                <a:ea typeface="Arial"/>
                <a:cs typeface="Arial"/>
              </a:defRPr>
            </a:lvl9pPr>
          </a:lstStyle>
          <a:p xmlns:a="http://schemas.openxmlformats.org/drawingml/2006/main">
            <a:pPr>
              <a:defRPr sz="1650" b="1">
                <a:solidFill>
                  <a:srgbClr val="20776D"/>
                </a:solidFill>
                <a:latin typeface="Arial"/>
                <a:ea typeface="Arial"/>
                <a:cs typeface="Arial"/>
              </a:defRPr>
            </a:pPr>
            <a:r>
              <a:rPr sz="1650" b="1">
                <a:solidFill>
                  <a:srgbClr val="20776D"/>
                </a:solidFill>
                <a:latin typeface="Arial"/>
                <a:ea typeface="Arial"/>
                <a:cs typeface="Arial"/>
              </a:rPr>
              <a:t>Change TASK_ID and SEED in .env, then use the same Compose command.</a:t>
            </a:r>
          </a:p>
        </p:txBody>
      </p:sp>
    </p:spTree>
    <p:extLst>
      <p:ext uri="{BB962C8B-B14F-4D97-AF65-F5344CB8AC3E}">
        <p14:creationId xmlns:p14="http://schemas.microsoft.com/office/powerpoint/2010/main" val="1481043437"/>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3FE007-8972-440E-9EB2-D4B1BAB99E12}"/>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Reference: files, logs and reproducibility</a:t>
            </a:r>
          </a:p>
        </p:txBody>
      </p:sp>
      <p:sp>
        <p:nvSpPr>
          <p:cNvPr id="2" name="">
            <a:extLst xmlns:a="http://schemas.openxmlformats.org/drawingml/2006/main">
              <a:ext uri="{FF2B5EF4-FFF2-40B4-BE49-F238E27FC236}">
                <a16:creationId xmlns:a16="http://schemas.microsoft.com/office/drawing/2014/main" id="{1C20DF78-5DAE-435A-885D-B1ABC4B98A6C}"/>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 / Reference</a:t>
            </a:r>
          </a:p>
        </p:txBody>
      </p:sp>
      <p:sp>
        <p:nvSpPr>
          <p:cNvPr id="3" name="">
            <a:extLst xmlns:a="http://schemas.openxmlformats.org/drawingml/2006/main">
              <a:ext uri="{FF2B5EF4-FFF2-40B4-BE49-F238E27FC236}">
                <a16:creationId xmlns:a16="http://schemas.microsoft.com/office/drawing/2014/main" id="{D6042201-2037-4E49-8993-F83DD3BDD94B}"/>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6A364852-683E-4162-ABF2-E317A19B1C07}"/>
              </a:ext>
            </a:extLst>
          </p:cNvPr>
          <p:cNvGraphicFramePr/>
          <p:nvPr/>
        </p:nvGraphicFramePr>
        <p:xfrm>
          <a:off xmlns:a="http://schemas.openxmlformats.org/drawingml/2006/main" x="495300" y="1352550"/>
          <a:ext xmlns:a="http://schemas.openxmlformats.org/drawingml/2006/main" cx="11201400" cy="4419600"/>
        </p:xfrm>
        <a:graphic xmlns:a="http://schemas.openxmlformats.org/drawingml/2006/main">
          <a:graphicData uri="http://schemas.openxmlformats.org/drawingml/2006/table">
            <a:tbl>
              <a:tblPr/>
              <a:tblGrid>
                <a:gridCol w="5524500"/>
                <a:gridCol w="5676900"/>
              </a:tblGrid>
              <a:tr h="552450">
                <a:tc>
                  <a:txBody>
                    <a:bodyPr/>
                    <a:lstStyle/>
                    <a:p>
                      <a:r>
                        <a:rPr sz="1425" b="1">
                          <a:solidFill>
                            <a:srgbClr val="FFFFFF"/>
                          </a:solidFill>
                          <a:latin typeface="Arial"/>
                          <a:ea typeface="Arial"/>
                          <a:cs typeface="Arial"/>
                        </a:rPr>
                        <a:t>Where to look</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Role / contents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552450">
                <a:tc>
                  <a:txBody>
                    <a:bodyPr/>
                    <a:lstStyle/>
                    <a:p>
                      <a:r>
                        <a:rPr sz="1575" b="0">
                          <a:solidFill>
                            <a:srgbClr val="172B3A"/>
                          </a:solidFill>
                          <a:latin typeface="Arial"/>
                          <a:ea typeface="Arial"/>
                          <a:cs typeface="Arial"/>
                        </a:rPr>
                        <a:t>harness/tasks.py; harness/science_mission.py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Seeded task generation, protected mission targets and plans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52450">
                <a:tc>
                  <a:txBody>
                    <a:bodyPr/>
                    <a:lstStyle/>
                    <a:p>
                      <a:r>
                        <a:rPr sz="1575" b="0">
                          <a:solidFill>
                            <a:srgbClr val="172B3A"/>
                          </a:solidFill>
                          <a:latin typeface="Arial"/>
                          <a:ea typeface="Arial"/>
                          <a:cs typeface="Arial"/>
                        </a:rPr>
                        <a:t>harness/tools.py; harness/runner.py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Six tool schemas, model loop, gates, budgets and telemetry</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52450">
                <a:tc>
                  <a:txBody>
                    <a:bodyPr/>
                    <a:lstStyle/>
                    <a:p>
                      <a:r>
                        <a:rPr sz="1575" b="0">
                          <a:solidFill>
                            <a:srgbClr val="172B3A"/>
                          </a:solidFill>
                          <a:latin typeface="Arial"/>
                          <a:ea typeface="Arial"/>
                          <a:cs typeface="Arial"/>
                        </a:rPr>
                        <a:t>harness/env.py; sandbox/server.py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Environment control and sandbox boundary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52450">
                <a:tc>
                  <a:txBody>
                    <a:bodyPr/>
                    <a:lstStyle/>
                    <a:p>
                      <a:r>
                        <a:rPr sz="1575" b="0">
                          <a:solidFill>
                            <a:srgbClr val="172B3A"/>
                          </a:solidFill>
                          <a:latin typeface="Arial"/>
                          <a:ea typeface="Arial"/>
                          <a:cs typeface="Arial"/>
                        </a:rPr>
                        <a:t>logs/&lt;run_id&gt;/gate.json; manifest.json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Per-task reference/no-op results; source/build hashes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52450">
                <a:tc>
                  <a:txBody>
                    <a:bodyPr/>
                    <a:lstStyle/>
                    <a:p>
                      <a:r>
                        <a:rPr sz="1575" b="0">
                          <a:solidFill>
                            <a:srgbClr val="172B3A"/>
                          </a:solidFill>
                          <a:latin typeface="Arial"/>
                          <a:ea typeface="Arial"/>
                          <a:cs typeface="Arial"/>
                        </a:rPr>
                        <a:t>logs/&lt;run_id&gt;/episode*.jsonl</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Inputs, raw replies, parsed actions, tool results, errors,</a:t>
                      </a:r>
                    </a:p>
                    <a:p>
                      <a:r>
                        <a:rPr sz="1575" b="0">
                          <a:solidFill>
                            <a:srgbClr val="172B3A"/>
                          </a:solidFill>
                          <a:latin typeface="Arial"/>
                          <a:ea typeface="Arial"/>
                          <a:cs typeface="Arial"/>
                        </a:rPr>
                        <a:t>state hash, reward, tokens, timings and final checks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552450">
                <a:tc>
                  <a:txBody>
                    <a:bodyPr/>
                    <a:lstStyle/>
                    <a:p>
                      <a:r>
                        <a:rPr sz="1575" b="0">
                          <a:solidFill>
                            <a:srgbClr val="172B3A"/>
                          </a:solidFill>
                          <a:latin typeface="Arial"/>
                          <a:ea typeface="Arial"/>
                          <a:cs typeface="Arial"/>
                        </a:rPr>
                        <a:t>logs/&lt;run_id&gt;/summary.json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Task outcome, termination, reward, reply count and duration</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552450">
                <a:tc>
                  <a:txBody>
                    <a:bodyPr/>
                    <a:lstStyle/>
                    <a:p>
                      <a:r>
                        <a:rPr sz="1575" b="0">
                          <a:solidFill>
                            <a:srgbClr val="172B3A"/>
                          </a:solidFill>
                          <a:latin typeface="Arial"/>
                          <a:ea typeface="Arial"/>
                          <a:cs typeface="Arial"/>
                        </a:rPr>
                        <a:t>ASTRO.zip</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Reference logs, trajectories, gates, design PDF and deck PDF</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48794E66-6190-42FA-A5F4-38F8F181F91B}"/>
              </a:ext>
            </a:extLst>
          </p:cNvPr>
          <p:cNvSpPr>
            <a:spLocks xmlns:a="http://schemas.openxmlformats.org/drawingml/2006/main" noGrp="1"/>
          </p:cNvSpPr>
          <p:nvPr/>
        </p:nvSpPr>
        <p:spPr>
          <a:xfrm xmlns:a="http://schemas.openxmlformats.org/drawingml/2006/main">
            <a:off x="495300" y="5962650"/>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Same task + seed: same initial state. Same actions: same simulation. Model choices can differ.</a:t>
            </a:r>
          </a:p>
        </p:txBody>
      </p:sp>
    </p:spTree>
    <p:extLst>
      <p:ext uri="{BB962C8B-B14F-4D97-AF65-F5344CB8AC3E}">
        <p14:creationId xmlns:p14="http://schemas.microsoft.com/office/powerpoint/2010/main" val="734852637"/>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29042E-5A23-4ED5-BA80-9EF073FCAE38}"/>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Reference: limits, open questions and PS scope</a:t>
            </a:r>
          </a:p>
        </p:txBody>
      </p:sp>
      <p:sp>
        <p:nvSpPr>
          <p:cNvPr id="2" name="">
            <a:extLst xmlns:a="http://schemas.openxmlformats.org/drawingml/2006/main">
              <a:ext uri="{FF2B5EF4-FFF2-40B4-BE49-F238E27FC236}">
                <a16:creationId xmlns:a16="http://schemas.microsoft.com/office/drawing/2014/main" id="{CBA855F9-5834-49EE-958A-B393E63B92E0}"/>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 / Reference</a:t>
            </a:r>
          </a:p>
        </p:txBody>
      </p:sp>
      <p:sp>
        <p:nvSpPr>
          <p:cNvPr id="3" name="">
            <a:extLst xmlns:a="http://schemas.openxmlformats.org/drawingml/2006/main">
              <a:ext uri="{FF2B5EF4-FFF2-40B4-BE49-F238E27FC236}">
                <a16:creationId xmlns:a16="http://schemas.microsoft.com/office/drawing/2014/main" id="{9BE36B56-CD52-4371-8FE1-BA6206E2F1FD}"/>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618D36CA-569D-4972-957F-BB509C9D379D}"/>
              </a:ext>
            </a:extLst>
          </p:cNvPr>
          <p:cNvGraphicFramePr/>
          <p:nvPr/>
        </p:nvGraphicFramePr>
        <p:xfrm>
          <a:off xmlns:a="http://schemas.openxmlformats.org/drawingml/2006/main" x="495300" y="1381125"/>
          <a:ext xmlns:a="http://schemas.openxmlformats.org/drawingml/2006/main" cx="11201400" cy="4419600"/>
        </p:xfrm>
        <a:graphic xmlns:a="http://schemas.openxmlformats.org/drawingml/2006/main">
          <a:graphicData uri="http://schemas.openxmlformats.org/drawingml/2006/table">
            <a:tbl>
              <a:tblPr/>
              <a:tblGrid>
                <a:gridCol w="2571750"/>
                <a:gridCol w="4486275"/>
                <a:gridCol w="4143375"/>
              </a:tblGrid>
              <a:tr h="631371">
                <a:tc>
                  <a:txBody>
                    <a:bodyPr/>
                    <a:lstStyle/>
                    <a:p>
                      <a:r>
                        <a:rPr sz="1425" b="1">
                          <a:solidFill>
                            <a:srgbClr val="FFFFFF"/>
                          </a:solidFill>
                          <a:latin typeface="Arial"/>
                          <a:ea typeface="Arial"/>
                          <a:cs typeface="Arial"/>
                        </a:rPr>
                        <a:t>Topic</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we can defend</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What remains limited</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631371">
                <a:tc>
                  <a:txBody>
                    <a:bodyPr/>
                    <a:lstStyle/>
                    <a:p>
                      <a:r>
                        <a:rPr sz="1575" b="0">
                          <a:solidFill>
                            <a:srgbClr val="172B3A"/>
                          </a:solidFill>
                          <a:latin typeface="Arial"/>
                          <a:ea typeface="Arial"/>
                          <a:cs typeface="Arial"/>
                        </a:rPr>
                        <a:t>Physics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Declared energy, scalar pointing, temperature, link and buffer model</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No orbital propagation, 3-axis attitude or flight validation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31371">
                <a:tc>
                  <a:txBody>
                    <a:bodyPr/>
                    <a:lstStyle/>
                    <a:p>
                      <a:r>
                        <a:rPr sz="1575" b="0">
                          <a:solidFill>
                            <a:srgbClr val="172B3A"/>
                          </a:solidFill>
                          <a:latin typeface="Arial"/>
                          <a:ea typeface="Arial"/>
                          <a:cs typeface="Arial"/>
                        </a:rPr>
                        <a:t>Planning depth</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Four coupled hard missions; independent feasible plans accepted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Five guided introductory tasks remain part of the mix</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31371">
                <a:tc>
                  <a:txBody>
                    <a:bodyPr/>
                    <a:lstStyle/>
                    <a:p>
                      <a:r>
                        <a:rPr sz="1575" b="0">
                          <a:solidFill>
                            <a:srgbClr val="172B3A"/>
                          </a:solidFill>
                          <a:latin typeface="Arial"/>
                          <a:ea typeface="Arial"/>
                          <a:cs typeface="Arial"/>
                        </a:rPr>
                        <a:t>Robustness</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Six negative probes, 12 live tests, bounded interface behavior</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Finite tests do not prove every exploit impossible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31371">
                <a:tc>
                  <a:txBody>
                    <a:bodyPr/>
                    <a:lstStyle/>
                    <a:p>
                      <a:r>
                        <a:rPr sz="1575" b="0">
                          <a:solidFill>
                            <a:srgbClr val="172B3A"/>
                          </a:solidFill>
                          <a:latin typeface="Arial"/>
                          <a:ea typeface="Arial"/>
                          <a:cs typeface="Arial"/>
                        </a:rPr>
                        <a:t>Model portability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One common interface; synthetic protocol checks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One genuine deployment tested; unknown Run B untested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631371">
                <a:tc>
                  <a:txBody>
                    <a:bodyPr/>
                    <a:lstStyle/>
                    <a:p>
                      <a:r>
                        <a:rPr sz="1575" b="0">
                          <a:solidFill>
                            <a:srgbClr val="172B3A"/>
                          </a:solidFill>
                          <a:latin typeface="Arial"/>
                          <a:ea typeface="Arial"/>
                          <a:cs typeface="Arial"/>
                        </a:rPr>
                        <a:t>Reproduction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Pinned inputs, reset hashes, full action and outcome logs</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Model sampling/provider reliability can differ</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631371">
                <a:tc>
                  <a:txBody>
                    <a:bodyPr/>
                    <a:lstStyle/>
                    <a:p>
                      <a:r>
                        <a:rPr sz="1575" b="0">
                          <a:solidFill>
                            <a:srgbClr val="172B3A"/>
                          </a:solidFill>
                          <a:latin typeface="Arial"/>
                          <a:ea typeface="Arial"/>
                          <a:cs typeface="Arial"/>
                        </a:rPr>
                        <a:t>Submission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ASTRO naming; main branch; organizer invitations sent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Public repo conflicts with PS private rule</a:t>
                      </a:r>
                    </a:p>
                    <a:p>
                      <a:r>
                        <a:rPr sz="1575" b="0">
                          <a:solidFill>
                            <a:srgbClr val="172B3A"/>
                          </a:solidFill>
                          <a:latin typeface="Arial"/>
                          <a:ea typeface="Arial"/>
                          <a:cs typeface="Arial"/>
                        </a:rPr>
                        <a:t>Human submission / eligibility required</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265598D3-F2D8-42FA-9879-F1EE6FC05C20}"/>
              </a:ext>
            </a:extLst>
          </p:cNvPr>
          <p:cNvSpPr>
            <a:spLocks xmlns:a="http://schemas.openxmlformats.org/drawingml/2006/main" noGrp="1"/>
          </p:cNvSpPr>
          <p:nvPr/>
        </p:nvSpPr>
        <p:spPr>
          <a:xfrm xmlns:a="http://schemas.openxmlformats.org/drawingml/2006/main">
            <a:off x="495300" y="59531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PS weighting: presentation 30, Run A 30, Run B 40. Honest scoring is the priority.</a:t>
            </a:r>
          </a:p>
        </p:txBody>
      </p:sp>
    </p:spTree>
    <p:extLst>
      <p:ext uri="{BB962C8B-B14F-4D97-AF65-F5344CB8AC3E}">
        <p14:creationId xmlns:p14="http://schemas.microsoft.com/office/powerpoint/2010/main" val="1218785141"/>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C14DAE-4F9C-4785-9B71-3460359CCF49}"/>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Solutions: the five guided recovery tasks</a:t>
            </a:r>
          </a:p>
        </p:txBody>
      </p:sp>
      <p:sp>
        <p:nvSpPr>
          <p:cNvPr id="2" name="">
            <a:extLst xmlns:a="http://schemas.openxmlformats.org/drawingml/2006/main">
              <a:ext uri="{FF2B5EF4-FFF2-40B4-BE49-F238E27FC236}">
                <a16:creationId xmlns:a16="http://schemas.microsoft.com/office/drawing/2014/main" id="{D602469F-6A05-49C8-A622-CD2D02ED9A87}"/>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 / Reference</a:t>
            </a:r>
          </a:p>
        </p:txBody>
      </p:sp>
      <p:sp>
        <p:nvSpPr>
          <p:cNvPr id="3" name="">
            <a:extLst xmlns:a="http://schemas.openxmlformats.org/drawingml/2006/main">
              <a:ext uri="{FF2B5EF4-FFF2-40B4-BE49-F238E27FC236}">
                <a16:creationId xmlns:a16="http://schemas.microsoft.com/office/drawing/2014/main" id="{48794595-9560-4219-B249-AE25A8FDD56B}"/>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2CA66CDE-10E1-4D72-AB55-F29A524FC6E4}"/>
              </a:ext>
            </a:extLst>
          </p:cNvPr>
          <p:cNvGraphicFramePr/>
          <p:nvPr/>
        </p:nvGraphicFramePr>
        <p:xfrm>
          <a:off xmlns:a="http://schemas.openxmlformats.org/drawingml/2006/main" x="495300" y="1390650"/>
          <a:ext xmlns:a="http://schemas.openxmlformats.org/drawingml/2006/main" cx="11201400" cy="4229100"/>
        </p:xfrm>
        <a:graphic xmlns:a="http://schemas.openxmlformats.org/drawingml/2006/main">
          <a:graphicData uri="http://schemas.openxmlformats.org/drawingml/2006/table">
            <a:tbl>
              <a:tblPr/>
              <a:tblGrid>
                <a:gridCol w="2724150"/>
                <a:gridCol w="5619750"/>
                <a:gridCol w="2857500"/>
              </a:tblGrid>
              <a:tr h="704850">
                <a:tc>
                  <a:txBody>
                    <a:bodyPr/>
                    <a:lstStyle/>
                    <a:p>
                      <a:r>
                        <a:rPr sz="1425" b="1">
                          <a:solidFill>
                            <a:srgbClr val="FFFFFF"/>
                          </a:solidFill>
                          <a:latin typeface="Arial"/>
                          <a:ea typeface="Arial"/>
                          <a:cs typeface="Arial"/>
                        </a:rPr>
                        <a:t>Task</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Corrective action / seed-0 reference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Verify before finish</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704850">
                <a:tc>
                  <a:txBody>
                    <a:bodyPr/>
                    <a:lstStyle/>
                    <a:p>
                      <a:r>
                        <a:rPr sz="1650" b="0">
                          <a:solidFill>
                            <a:srgbClr val="172B3A"/>
                          </a:solidFill>
                          <a:latin typeface="Arial"/>
                          <a:ea typeface="Arial"/>
                          <a:cs typeface="Arial"/>
                        </a:rPr>
                        <a:t>EPS eclipse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solar_efficiency = 0.72</a:t>
                      </a:r>
                    </a:p>
                    <a:p>
                      <a:r>
                        <a:rPr sz="1650" b="0">
                          <a:solidFill>
                            <a:srgbClr val="172B3A"/>
                          </a:solidFill>
                          <a:latin typeface="Arial"/>
                          <a:ea typeface="Arial"/>
                          <a:cs typeface="Arial"/>
                        </a:rPr>
                        <a:t>undervoltage_threshold = 3.20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Battery reserve and voltage safety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704850">
                <a:tc>
                  <a:txBody>
                    <a:bodyPr/>
                    <a:lstStyle/>
                    <a:p>
                      <a:r>
                        <a:rPr sz="1650" b="0">
                          <a:solidFill>
                            <a:srgbClr val="172B3A"/>
                          </a:solidFill>
                          <a:latin typeface="Arial"/>
                          <a:ea typeface="Arial"/>
                          <a:cs typeface="Arial"/>
                        </a:rPr>
                        <a:t>ADCS detumble / pointing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wheel_bias_rpm = 0; control_gain = 2.0</a:t>
                      </a:r>
                    </a:p>
                    <a:p>
                      <a:r>
                        <a:rPr sz="1650" b="0">
                          <a:solidFill>
                            <a:srgbClr val="172B3A"/>
                          </a:solidFill>
                          <a:latin typeface="Arial"/>
                          <a:ea typeface="Arial"/>
                          <a:cs typeface="Arial"/>
                        </a:rPr>
                        <a:t>pointing_deadband_deg = 0.05</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Protected pointing requirement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704850">
                <a:tc>
                  <a:txBody>
                    <a:bodyPr/>
                    <a:lstStyle/>
                    <a:p>
                      <a:r>
                        <a:rPr sz="1650" b="0">
                          <a:solidFill>
                            <a:srgbClr val="172B3A"/>
                          </a:solidFill>
                          <a:latin typeface="Arial"/>
                          <a:ea typeface="Arial"/>
                          <a:cs typeface="Arial"/>
                        </a:rPr>
                        <a:t>Thermal preservation</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battery_heater_setpoint = 15.0</a:t>
                      </a:r>
                    </a:p>
                    <a:p>
                      <a:r>
                        <a:rPr sz="1650" b="0">
                          <a:solidFill>
                            <a:srgbClr val="172B3A"/>
                          </a:solidFill>
                          <a:latin typeface="Arial"/>
                          <a:ea typeface="Arial"/>
                          <a:cs typeface="Arial"/>
                        </a:rPr>
                        <a:t>thermal_cutoff_temp = 45.0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Whole trajectory and final temperature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704850">
                <a:tc>
                  <a:txBody>
                    <a:bodyPr/>
                    <a:lstStyle/>
                    <a:p>
                      <a:r>
                        <a:rPr sz="1650" b="0">
                          <a:solidFill>
                            <a:srgbClr val="172B3A"/>
                          </a:solidFill>
                          <a:latin typeface="Arial"/>
                          <a:ea typeface="Arial"/>
                          <a:cs typeface="Arial"/>
                        </a:rPr>
                        <a:t>RF downlink closure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tx_power_dbm = 30.0; repair calc_margin()</a:t>
                      </a:r>
                    </a:p>
                    <a:p>
                      <a:r>
                        <a:rPr sz="1650" b="0">
                          <a:solidFill>
                            <a:srgbClr val="172B3A"/>
                          </a:solidFill>
                          <a:latin typeface="Arial"/>
                          <a:ea typeface="Arial"/>
                          <a:cs typeface="Arial"/>
                        </a:rPr>
                        <a:t>Read baud rate and path loss from comms.cfg</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650" b="0">
                          <a:solidFill>
                            <a:srgbClr val="172B3A"/>
                          </a:solidFill>
                          <a:latin typeface="Arial"/>
                          <a:ea typeface="Arial"/>
                          <a:cs typeface="Arial"/>
                        </a:rPr>
                        <a:t>Live link margin, delivery and script checks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704850">
                <a:tc>
                  <a:txBody>
                    <a:bodyPr/>
                    <a:lstStyle/>
                    <a:p>
                      <a:r>
                        <a:rPr sz="1650" b="0">
                          <a:solidFill>
                            <a:srgbClr val="172B3A"/>
                          </a:solidFill>
                          <a:latin typeface="Arial"/>
                          <a:ea typeface="Arial"/>
                          <a:cs typeface="Arial"/>
                        </a:rPr>
                        <a:t>Safe-mode cascade</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Repair both seeded faults.</a:t>
                      </a:r>
                    </a:p>
                    <a:p>
                      <a:r>
                        <a:rPr sz="1650" b="0">
                          <a:solidFill>
                            <a:srgbClr val="172B3A"/>
                          </a:solidFill>
                          <a:latin typeface="Arial"/>
                          <a:ea typeface="Arial"/>
                          <a:cs typeface="Arial"/>
                        </a:rPr>
                        <a:t>Seed 0: ADCS defaults plus tx_power_dbm = 30.0</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650" b="0">
                          <a:solidFill>
                            <a:srgbClr val="172B3A"/>
                          </a:solidFill>
                          <a:latin typeface="Arial"/>
                          <a:ea typeface="Arial"/>
                          <a:cs typeface="Arial"/>
                        </a:rPr>
                        <a:t>All affected subsystem checks; no safety failure</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bl>
          </a:graphicData>
        </a:graphic>
      </p:graphicFrame>
      <p:sp>
        <p:nvSpPr>
          <p:cNvPr id="5" name="">
            <a:extLst xmlns:a="http://schemas.openxmlformats.org/drawingml/2006/main">
              <a:ext uri="{FF2B5EF4-FFF2-40B4-BE49-F238E27FC236}">
                <a16:creationId xmlns:a16="http://schemas.microsoft.com/office/drawing/2014/main" id="{7FA9EA75-A700-4239-8BD3-761EB7E3705B}"/>
              </a:ext>
            </a:extLst>
          </p:cNvPr>
          <p:cNvSpPr>
            <a:spLocks xmlns:a="http://schemas.openxmlformats.org/drawingml/2006/main" noGrp="1"/>
          </p:cNvSpPr>
          <p:nvPr/>
        </p:nvSpPr>
        <p:spPr>
          <a:xfrm xmlns:a="http://schemas.openxmlformats.org/drawingml/2006/main">
            <a:off x="495300" y="59150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Seed-0 reference values shown. Other seeds must meet their own mission targets; equivalent valid repairs are accepted.</a:t>
            </a:r>
          </a:p>
        </p:txBody>
      </p:sp>
    </p:spTree>
    <p:extLst>
      <p:ext uri="{BB962C8B-B14F-4D97-AF65-F5344CB8AC3E}">
        <p14:creationId xmlns:p14="http://schemas.microsoft.com/office/powerpoint/2010/main" val="261748953"/>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58ABEB-500C-4D6F-B2EF-9B1DAF3CE09C}"/>
              </a:ext>
            </a:extLst>
          </p:cNvPr>
          <p:cNvSpPr>
            <a:spLocks xmlns:a="http://schemas.openxmlformats.org/drawingml/2006/main" noGrp="1"/>
          </p:cNvSpPr>
          <p:nvPr/>
        </p:nvSpPr>
        <p:spPr>
          <a:xfrm xmlns:a="http://schemas.openxmlformats.org/drawingml/2006/main">
            <a:off x="495300" y="381000"/>
            <a:ext cx="11201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2B3A"/>
                </a:solidFill>
                <a:latin typeface="Arial"/>
                <a:ea typeface="Arial"/>
                <a:cs typeface="Arial"/>
              </a:defRPr>
            </a:defPPr>
            <a:lvl1pPr>
              <a:defRPr sz="3000" b="1">
                <a:solidFill>
                  <a:srgbClr val="172B3A"/>
                </a:solidFill>
                <a:latin typeface="Arial"/>
                <a:ea typeface="Arial"/>
                <a:cs typeface="Arial"/>
              </a:defRPr>
            </a:lvl1pPr>
            <a:lvl2pPr>
              <a:defRPr sz="3000" b="1">
                <a:solidFill>
                  <a:srgbClr val="172B3A"/>
                </a:solidFill>
                <a:latin typeface="Arial"/>
                <a:ea typeface="Arial"/>
                <a:cs typeface="Arial"/>
              </a:defRPr>
            </a:lvl2pPr>
            <a:lvl3pPr>
              <a:defRPr sz="3000" b="1">
                <a:solidFill>
                  <a:srgbClr val="172B3A"/>
                </a:solidFill>
                <a:latin typeface="Arial"/>
                <a:ea typeface="Arial"/>
                <a:cs typeface="Arial"/>
              </a:defRPr>
            </a:lvl3pPr>
            <a:lvl4pPr>
              <a:defRPr sz="3000" b="1">
                <a:solidFill>
                  <a:srgbClr val="172B3A"/>
                </a:solidFill>
                <a:latin typeface="Arial"/>
                <a:ea typeface="Arial"/>
                <a:cs typeface="Arial"/>
              </a:defRPr>
            </a:lvl4pPr>
            <a:lvl5pPr>
              <a:defRPr sz="3000" b="1">
                <a:solidFill>
                  <a:srgbClr val="172B3A"/>
                </a:solidFill>
                <a:latin typeface="Arial"/>
                <a:ea typeface="Arial"/>
                <a:cs typeface="Arial"/>
              </a:defRPr>
            </a:lvl5pPr>
            <a:lvl6pPr>
              <a:defRPr sz="3000" b="1">
                <a:solidFill>
                  <a:srgbClr val="172B3A"/>
                </a:solidFill>
                <a:latin typeface="Arial"/>
                <a:ea typeface="Arial"/>
                <a:cs typeface="Arial"/>
              </a:defRPr>
            </a:lvl6pPr>
            <a:lvl7pPr>
              <a:defRPr sz="3000" b="1">
                <a:solidFill>
                  <a:srgbClr val="172B3A"/>
                </a:solidFill>
                <a:latin typeface="Arial"/>
                <a:ea typeface="Arial"/>
                <a:cs typeface="Arial"/>
              </a:defRPr>
            </a:lvl7pPr>
            <a:lvl8pPr>
              <a:defRPr sz="3000" b="1">
                <a:solidFill>
                  <a:srgbClr val="172B3A"/>
                </a:solidFill>
                <a:latin typeface="Arial"/>
                <a:ea typeface="Arial"/>
                <a:cs typeface="Arial"/>
              </a:defRPr>
            </a:lvl8pPr>
            <a:lvl9pPr>
              <a:defRPr sz="3000" b="1">
                <a:solidFill>
                  <a:srgbClr val="172B3A"/>
                </a:solidFill>
                <a:latin typeface="Arial"/>
                <a:ea typeface="Arial"/>
                <a:cs typeface="Arial"/>
              </a:defRPr>
            </a:lvl9pPr>
          </a:lstStyle>
          <a:p xmlns:a="http://schemas.openxmlformats.org/drawingml/2006/main">
            <a:pPr>
              <a:defRPr sz="3000" b="1">
                <a:solidFill>
                  <a:srgbClr val="172B3A"/>
                </a:solidFill>
                <a:latin typeface="Arial"/>
                <a:ea typeface="Arial"/>
                <a:cs typeface="Arial"/>
              </a:defRPr>
            </a:pPr>
            <a:r>
              <a:rPr sz="3000" b="1">
                <a:solidFill>
                  <a:srgbClr val="172B3A"/>
                </a:solidFill>
                <a:latin typeface="Arial"/>
                <a:ea typeface="Arial"/>
                <a:cs typeface="Arial"/>
              </a:rPr>
              <a:t>Solutions: the four hard planning tasks</a:t>
            </a:r>
          </a:p>
        </p:txBody>
      </p:sp>
      <p:sp>
        <p:nvSpPr>
          <p:cNvPr id="2" name="">
            <a:extLst xmlns:a="http://schemas.openxmlformats.org/drawingml/2006/main">
              <a:ext uri="{FF2B5EF4-FFF2-40B4-BE49-F238E27FC236}">
                <a16:creationId xmlns:a16="http://schemas.microsoft.com/office/drawing/2014/main" id="{9A2DD122-F8AC-40F8-AD20-C8FB9E20B72F}"/>
              </a:ext>
            </a:extLst>
          </p:cNvPr>
          <p:cNvSpPr>
            <a:spLocks xmlns:a="http://schemas.openxmlformats.org/drawingml/2006/main" noGrp="1"/>
          </p:cNvSpPr>
          <p:nvPr/>
        </p:nvSpPr>
        <p:spPr>
          <a:xfrm xmlns:a="http://schemas.openxmlformats.org/drawingml/2006/main">
            <a:off x="495300" y="64674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66A73"/>
                </a:solidFill>
                <a:latin typeface="Arial"/>
                <a:ea typeface="Arial"/>
                <a:cs typeface="Arial"/>
              </a:defRPr>
            </a:defPPr>
            <a:lvl1pPr>
              <a:defRPr sz="1050" b="1">
                <a:solidFill>
                  <a:srgbClr val="566A73"/>
                </a:solidFill>
                <a:latin typeface="Arial"/>
                <a:ea typeface="Arial"/>
                <a:cs typeface="Arial"/>
              </a:defRPr>
            </a:lvl1pPr>
            <a:lvl2pPr>
              <a:defRPr sz="1050" b="1">
                <a:solidFill>
                  <a:srgbClr val="566A73"/>
                </a:solidFill>
                <a:latin typeface="Arial"/>
                <a:ea typeface="Arial"/>
                <a:cs typeface="Arial"/>
              </a:defRPr>
            </a:lvl2pPr>
            <a:lvl3pPr>
              <a:defRPr sz="1050" b="1">
                <a:solidFill>
                  <a:srgbClr val="566A73"/>
                </a:solidFill>
                <a:latin typeface="Arial"/>
                <a:ea typeface="Arial"/>
                <a:cs typeface="Arial"/>
              </a:defRPr>
            </a:lvl3pPr>
            <a:lvl4pPr>
              <a:defRPr sz="1050" b="1">
                <a:solidFill>
                  <a:srgbClr val="566A73"/>
                </a:solidFill>
                <a:latin typeface="Arial"/>
                <a:ea typeface="Arial"/>
                <a:cs typeface="Arial"/>
              </a:defRPr>
            </a:lvl4pPr>
            <a:lvl5pPr>
              <a:defRPr sz="1050" b="1">
                <a:solidFill>
                  <a:srgbClr val="566A73"/>
                </a:solidFill>
                <a:latin typeface="Arial"/>
                <a:ea typeface="Arial"/>
                <a:cs typeface="Arial"/>
              </a:defRPr>
            </a:lvl5pPr>
            <a:lvl6pPr>
              <a:defRPr sz="1050" b="1">
                <a:solidFill>
                  <a:srgbClr val="566A73"/>
                </a:solidFill>
                <a:latin typeface="Arial"/>
                <a:ea typeface="Arial"/>
                <a:cs typeface="Arial"/>
              </a:defRPr>
            </a:lvl6pPr>
            <a:lvl7pPr>
              <a:defRPr sz="1050" b="1">
                <a:solidFill>
                  <a:srgbClr val="566A73"/>
                </a:solidFill>
                <a:latin typeface="Arial"/>
                <a:ea typeface="Arial"/>
                <a:cs typeface="Arial"/>
              </a:defRPr>
            </a:lvl7pPr>
            <a:lvl8pPr>
              <a:defRPr sz="1050" b="1">
                <a:solidFill>
                  <a:srgbClr val="566A73"/>
                </a:solidFill>
                <a:latin typeface="Arial"/>
                <a:ea typeface="Arial"/>
                <a:cs typeface="Arial"/>
              </a:defRPr>
            </a:lvl8pPr>
            <a:lvl9pPr>
              <a:defRPr sz="1050" b="1">
                <a:solidFill>
                  <a:srgbClr val="566A73"/>
                </a:solidFill>
                <a:latin typeface="Arial"/>
                <a:ea typeface="Arial"/>
                <a:cs typeface="Arial"/>
              </a:defRPr>
            </a:lvl9pPr>
          </a:lstStyle>
          <a:p xmlns:a="http://schemas.openxmlformats.org/drawingml/2006/main">
            <a:pPr>
              <a:defRPr sz="1050" b="1">
                <a:solidFill>
                  <a:srgbClr val="566A73"/>
                </a:solidFill>
                <a:latin typeface="Arial"/>
                <a:ea typeface="Arial"/>
                <a:cs typeface="Arial"/>
              </a:defRPr>
            </a:pPr>
            <a:r>
              <a:rPr sz="1050" b="1">
                <a:solidFill>
                  <a:srgbClr val="566A73"/>
                </a:solidFill>
                <a:latin typeface="Arial"/>
                <a:ea typeface="Arial"/>
                <a:cs typeface="Arial"/>
              </a:rPr>
              <a:t>ASTRO / Reference</a:t>
            </a:r>
          </a:p>
        </p:txBody>
      </p:sp>
      <p:sp>
        <p:nvSpPr>
          <p:cNvPr id="3" name="">
            <a:extLst xmlns:a="http://schemas.openxmlformats.org/drawingml/2006/main">
              <a:ext uri="{FF2B5EF4-FFF2-40B4-BE49-F238E27FC236}">
                <a16:creationId xmlns:a16="http://schemas.microsoft.com/office/drawing/2014/main" id="{22711B4A-BC67-4F34-A728-43F197C8DD16}"/>
              </a:ext>
            </a:extLst>
          </p:cNvPr>
          <p:cNvSpPr>
            <a:spLocks xmlns:a="http://schemas.openxmlformats.org/drawingml/2006/main" noGrp="1"/>
          </p:cNvSpPr>
          <p:nvPr/>
        </p:nvSpPr>
        <p:spPr>
          <a:xfrm xmlns:a="http://schemas.openxmlformats.org/drawingml/2006/main">
            <a:off x="11334750" y="64674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66A73"/>
                </a:solidFill>
                <a:latin typeface="Arial"/>
                <a:ea typeface="Arial"/>
                <a:cs typeface="Arial"/>
              </a:defRPr>
            </a:defPPr>
            <a:lvl1pPr>
              <a:defRPr sz="1050" b="0">
                <a:solidFill>
                  <a:srgbClr val="566A73"/>
                </a:solidFill>
                <a:latin typeface="Arial"/>
                <a:ea typeface="Arial"/>
                <a:cs typeface="Arial"/>
              </a:defRPr>
            </a:lvl1pPr>
            <a:lvl2pPr>
              <a:defRPr sz="1050" b="0">
                <a:solidFill>
                  <a:srgbClr val="566A73"/>
                </a:solidFill>
                <a:latin typeface="Arial"/>
                <a:ea typeface="Arial"/>
                <a:cs typeface="Arial"/>
              </a:defRPr>
            </a:lvl2pPr>
            <a:lvl3pPr>
              <a:defRPr sz="1050" b="0">
                <a:solidFill>
                  <a:srgbClr val="566A73"/>
                </a:solidFill>
                <a:latin typeface="Arial"/>
                <a:ea typeface="Arial"/>
                <a:cs typeface="Arial"/>
              </a:defRPr>
            </a:lvl3pPr>
            <a:lvl4pPr>
              <a:defRPr sz="1050" b="0">
                <a:solidFill>
                  <a:srgbClr val="566A73"/>
                </a:solidFill>
                <a:latin typeface="Arial"/>
                <a:ea typeface="Arial"/>
                <a:cs typeface="Arial"/>
              </a:defRPr>
            </a:lvl4pPr>
            <a:lvl5pPr>
              <a:defRPr sz="1050" b="0">
                <a:solidFill>
                  <a:srgbClr val="566A73"/>
                </a:solidFill>
                <a:latin typeface="Arial"/>
                <a:ea typeface="Arial"/>
                <a:cs typeface="Arial"/>
              </a:defRPr>
            </a:lvl5pPr>
            <a:lvl6pPr>
              <a:defRPr sz="1050" b="0">
                <a:solidFill>
                  <a:srgbClr val="566A73"/>
                </a:solidFill>
                <a:latin typeface="Arial"/>
                <a:ea typeface="Arial"/>
                <a:cs typeface="Arial"/>
              </a:defRPr>
            </a:lvl6pPr>
            <a:lvl7pPr>
              <a:defRPr sz="1050" b="0">
                <a:solidFill>
                  <a:srgbClr val="566A73"/>
                </a:solidFill>
                <a:latin typeface="Arial"/>
                <a:ea typeface="Arial"/>
                <a:cs typeface="Arial"/>
              </a:defRPr>
            </a:lvl7pPr>
            <a:lvl8pPr>
              <a:defRPr sz="1050" b="0">
                <a:solidFill>
                  <a:srgbClr val="566A73"/>
                </a:solidFill>
                <a:latin typeface="Arial"/>
                <a:ea typeface="Arial"/>
                <a:cs typeface="Arial"/>
              </a:defRPr>
            </a:lvl8pPr>
            <a:lvl9pPr>
              <a:defRPr sz="1050" b="0">
                <a:solidFill>
                  <a:srgbClr val="566A73"/>
                </a:solidFill>
                <a:latin typeface="Arial"/>
                <a:ea typeface="Arial"/>
                <a:cs typeface="Arial"/>
              </a:defRPr>
            </a:lvl9pPr>
          </a:lstStyle>
          <a:p xmlns:a="http://schemas.openxmlformats.org/drawingml/2006/main">
            <a:pPr>
              <a:defRPr sz="1050" b="0">
                <a:solidFill>
                  <a:srgbClr val="566A73"/>
                </a:solidFill>
                <a:latin typeface="Arial"/>
                <a:ea typeface="Arial"/>
                <a:cs typeface="Arial"/>
              </a:defRPr>
            </a:pPr>
            <a:r>
              <a:rPr sz="1050" b="0">
                <a:solidFill>
                  <a:srgbClr val="566A73"/>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C3037F88-97A0-4937-80AF-296DDF86CFCE}"/>
              </a:ext>
            </a:extLst>
          </p:cNvPr>
          <p:cNvGraphicFramePr/>
          <p:nvPr/>
        </p:nvGraphicFramePr>
        <p:xfrm>
          <a:off xmlns:a="http://schemas.openxmlformats.org/drawingml/2006/main" x="495300" y="1390650"/>
          <a:ext xmlns:a="http://schemas.openxmlformats.org/drawingml/2006/main" cx="11201400" cy="4295775"/>
        </p:xfrm>
        <a:graphic xmlns:a="http://schemas.openxmlformats.org/drawingml/2006/main">
          <a:graphicData uri="http://schemas.openxmlformats.org/drawingml/2006/table">
            <a:tbl>
              <a:tblPr/>
              <a:tblGrid>
                <a:gridCol w="2609850"/>
                <a:gridCol w="5391150"/>
                <a:gridCol w="3200400"/>
              </a:tblGrid>
              <a:tr h="859155">
                <a:tc>
                  <a:txBody>
                    <a:bodyPr/>
                    <a:lstStyle/>
                    <a:p>
                      <a:r>
                        <a:rPr sz="1425" b="1">
                          <a:solidFill>
                            <a:srgbClr val="FFFFFF"/>
                          </a:solidFill>
                          <a:latin typeface="Arial"/>
                          <a:ea typeface="Arial"/>
                          <a:cs typeface="Arial"/>
                        </a:rPr>
                        <a:t>Hard task</a:t>
                      </a:r>
                    </a:p>
                  </a:txBody>
                  <a:tcPr marL="123825" marR="114300" marT="57150" marB="57150" anchor="ctr">
                    <a:lnL w="6668">
                      <a:solidFill>
                        <a:srgbClr val="CED7D3"/>
                      </a:solidFill>
                      <a:prstDash val="solid"/>
                    </a:lnL>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Solution sequence</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c>
                  <a:txBody>
                    <a:bodyPr/>
                    <a:lstStyle/>
                    <a:p>
                      <a:r>
                        <a:rPr sz="1425" b="1">
                          <a:solidFill>
                            <a:srgbClr val="FFFFFF"/>
                          </a:solidFill>
                          <a:latin typeface="Arial"/>
                          <a:ea typeface="Arial"/>
                          <a:cs typeface="Arial"/>
                        </a:rPr>
                        <a:t>Required checks</a:t>
                      </a:r>
                    </a:p>
                  </a:txBody>
                  <a:tcPr marL="123825" marR="114300" marT="57150" marB="57150" anchor="ctr">
                    <a:lnR w="6668">
                      <a:solidFill>
                        <a:srgbClr val="CED7D3"/>
                      </a:solidFill>
                      <a:prstDash val="solid"/>
                    </a:lnR>
                    <a:lnT w="6668">
                      <a:solidFill>
                        <a:srgbClr val="CED7D3"/>
                      </a:solidFill>
                      <a:prstDash val="solid"/>
                    </a:lnT>
                    <a:lnB w="6668">
                      <a:solidFill>
                        <a:srgbClr val="CED7D3"/>
                      </a:solidFill>
                      <a:prstDash val="solid"/>
                    </a:lnB>
                    <a:solidFill>
                      <a:srgbClr val="172B3A"/>
                    </a:solidFill>
                  </a:tcPr>
                </a:tc>
              </a:tr>
              <a:tr h="859155">
                <a:tc>
                  <a:txBody>
                    <a:bodyPr/>
                    <a:lstStyle/>
                    <a:p>
                      <a:r>
                        <a:rPr sz="1575" b="0">
                          <a:solidFill>
                            <a:srgbClr val="172B3A"/>
                          </a:solidFill>
                          <a:latin typeface="Arial"/>
                          <a:ea typeface="Arial"/>
                          <a:cs typeface="Arial"/>
                        </a:rPr>
                        <a:t>RF energy tradeoff</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Derive required rate from target / contact time;</a:t>
                      </a:r>
                    </a:p>
                    <a:p>
                      <a:r>
                        <a:rPr sz="1575" b="0">
                          <a:solidFill>
                            <a:srgbClr val="172B3A"/>
                          </a:solidFill>
                          <a:latin typeface="Arial"/>
                          <a:ea typeface="Arial"/>
                          <a:cs typeface="Arial"/>
                        </a:rPr>
                        <a:t>choose feasible baud rate and transmitter power.</a:t>
                      </a:r>
                    </a:p>
                    <a:p>
                      <a:r>
                        <a:rPr sz="1575" b="0">
                          <a:solidFill>
                            <a:srgbClr val="172B3A"/>
                          </a:solidFill>
                          <a:latin typeface="Arial"/>
                          <a:ea typeface="Arial"/>
                          <a:cs typeface="Arial"/>
                        </a:rPr>
                        <a:t>Seed 0: 38,400 bps, 32.0 dBm.</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Delivered data, link margin</a:t>
                      </a:r>
                    </a:p>
                    <a:p>
                      <a:r>
                        <a:rPr sz="1575" b="0">
                          <a:solidFill>
                            <a:srgbClr val="172B3A"/>
                          </a:solidFill>
                          <a:latin typeface="Arial"/>
                          <a:ea typeface="Arial"/>
                          <a:cs typeface="Arial"/>
                        </a:rPr>
                        <a:t>and RF energy allocation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859155">
                <a:tc>
                  <a:txBody>
                    <a:bodyPr/>
                    <a:lstStyle/>
                    <a:p>
                      <a:r>
                        <a:rPr sz="1575" b="0">
                          <a:solidFill>
                            <a:srgbClr val="172B3A"/>
                          </a:solidFill>
                          <a:latin typeface="Arial"/>
                          <a:ea typeface="Arial"/>
                          <a:cs typeface="Arial"/>
                        </a:rPr>
                        <a:t>Early pass recovery</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Repair pointing and radio before contact.</a:t>
                      </a:r>
                    </a:p>
                    <a:p>
                      <a:r>
                        <a:rPr sz="1575" b="0">
                          <a:solidFill>
                            <a:srgbClr val="172B3A"/>
                          </a:solidFill>
                          <a:latin typeface="Arial"/>
                          <a:ea typeface="Arial"/>
                          <a:cs typeface="Arial"/>
                        </a:rPr>
                        <a:t>Seed 0: control_gain 5.5; tx_power_dbm 31.4.</a:t>
                      </a:r>
                    </a:p>
                    <a:p>
                      <a:r>
                        <a:rPr sz="1575" b="0">
                          <a:solidFill>
                            <a:srgbClr val="172B3A"/>
                          </a:solidFill>
                          <a:latin typeface="Arial"/>
                          <a:ea typeface="Arial"/>
                          <a:cs typeface="Arial"/>
                        </a:rPr>
                        <a:t>Respect the protected maximum transmitter power.</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Recover before pass closes;</a:t>
                      </a:r>
                    </a:p>
                    <a:p>
                      <a:r>
                        <a:rPr sz="1575" b="0">
                          <a:solidFill>
                            <a:srgbClr val="172B3A"/>
                          </a:solidFill>
                          <a:latin typeface="Arial"/>
                          <a:ea typeface="Arial"/>
                          <a:cs typeface="Arial"/>
                        </a:rPr>
                        <a:t>delivery and power constraints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r h="859155">
                <a:tc>
                  <a:txBody>
                    <a:bodyPr/>
                    <a:lstStyle/>
                    <a:p>
                      <a:r>
                        <a:rPr sz="1575" b="0">
                          <a:solidFill>
                            <a:srgbClr val="172B3A"/>
                          </a:solidFill>
                          <a:latin typeface="Arial"/>
                          <a:ea typeface="Arial"/>
                          <a:cs typeface="Arial"/>
                        </a:rPr>
                        <a:t>Observation scheduling</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Duty: 0 before window, 1 during, then 0.</a:t>
                      </a:r>
                    </a:p>
                    <a:p>
                      <a:r>
                        <a:rPr sz="1575" b="0">
                          <a:solidFill>
                            <a:srgbClr val="172B3A"/>
                          </a:solidFill>
                          <a:latin typeface="Arial"/>
                          <a:ea typeface="Arial"/>
                          <a:cs typeface="Arial"/>
                        </a:rPr>
                        <a:t>Account for 30-second ordinary tool costs.</a:t>
                      </a:r>
                    </a:p>
                    <a:p>
                      <a:r>
                        <a:rPr sz="1575" b="0">
                          <a:solidFill>
                            <a:srgbClr val="172B3A"/>
                          </a:solidFill>
                          <a:latin typeface="Arial"/>
                          <a:ea typeface="Arial"/>
                          <a:cs typeface="Arial"/>
                        </a:rPr>
                        <a:t>Meet useful exposure and payload energy.</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c>
                  <a:txBody>
                    <a:bodyPr/>
                    <a:lstStyle/>
                    <a:p>
                      <a:r>
                        <a:rPr sz="1575" b="0">
                          <a:solidFill>
                            <a:srgbClr val="172B3A"/>
                          </a:solidFill>
                          <a:latin typeface="Arial"/>
                          <a:ea typeface="Arial"/>
                          <a:cs typeface="Arial"/>
                        </a:rPr>
                        <a:t>Exposure quota and</a:t>
                      </a:r>
                    </a:p>
                    <a:p>
                      <a:r>
                        <a:rPr sz="1575" b="0">
                          <a:solidFill>
                            <a:srgbClr val="172B3A"/>
                          </a:solidFill>
                          <a:latin typeface="Arial"/>
                          <a:ea typeface="Arial"/>
                          <a:cs typeface="Arial"/>
                        </a:rPr>
                        <a:t>payload energy allocation</a:t>
                      </a:r>
                    </a:p>
                  </a:txBody>
                  <a:tcPr marL="123825" marR="114300" marT="57150" marB="57150" anchor="ctr">
                    <a:lnR w="6668">
                      <a:solidFill>
                        <a:srgbClr val="CED7D3"/>
                      </a:solidFill>
                      <a:prstDash val="solid"/>
                    </a:lnR>
                    <a:lnB w="6668">
                      <a:solidFill>
                        <a:srgbClr val="CED7D3"/>
                      </a:solidFill>
                      <a:prstDash val="solid"/>
                    </a:lnB>
                    <a:solidFill>
                      <a:srgbClr val="E9EEEA"/>
                    </a:solidFill>
                  </a:tcPr>
                </a:tc>
              </a:tr>
              <a:tr h="859155">
                <a:tc>
                  <a:txBody>
                    <a:bodyPr/>
                    <a:lstStyle/>
                    <a:p>
                      <a:r>
                        <a:rPr sz="1575" b="0">
                          <a:solidFill>
                            <a:srgbClr val="172B3A"/>
                          </a:solidFill>
                          <a:latin typeface="Arial"/>
                          <a:ea typeface="Arial"/>
                          <a:cs typeface="Arial"/>
                        </a:rPr>
                        <a:t>Science store and forward</a:t>
                      </a:r>
                    </a:p>
                  </a:txBody>
                  <a:tcPr marL="123825" marR="114300" marT="57150" marB="57150" anchor="ctr">
                    <a:lnL w="6668">
                      <a:solidFill>
                        <a:srgbClr val="CED7D3"/>
                      </a:solidFill>
                      <a:prstDash val="solid"/>
                    </a:lnL>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Collect window 1; switch off; drain at contact 1.</a:t>
                      </a:r>
                    </a:p>
                    <a:p>
                      <a:r>
                        <a:rPr sz="1575" b="0">
                          <a:solidFill>
                            <a:srgbClr val="172B3A"/>
                          </a:solidFill>
                          <a:latin typeface="Arial"/>
                          <a:ea typeface="Arial"/>
                          <a:cs typeface="Arial"/>
                        </a:rPr>
                        <a:t>Collect window 2; switch off; drain at contact 2.</a:t>
                      </a:r>
                    </a:p>
                    <a:p>
                      <a:r>
                        <a:rPr sz="1575" b="0">
                          <a:solidFill>
                            <a:srgbClr val="172B3A"/>
                          </a:solidFill>
                          <a:latin typeface="Arial"/>
                          <a:ea typeface="Arial"/>
                          <a:cs typeface="Arial"/>
                        </a:rPr>
                        <a:t>Choose rate/power within the RF energy budget.</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c>
                  <a:txBody>
                    <a:bodyPr/>
                    <a:lstStyle/>
                    <a:p>
                      <a:r>
                        <a:rPr sz="1575" b="0">
                          <a:solidFill>
                            <a:srgbClr val="172B3A"/>
                          </a:solidFill>
                          <a:latin typeface="Arial"/>
                          <a:ea typeface="Arial"/>
                          <a:cs typeface="Arial"/>
                        </a:rPr>
                        <a:t>Every window quota; zero loss;</a:t>
                      </a:r>
                    </a:p>
                    <a:p>
                      <a:r>
                        <a:rPr sz="1575" b="0">
                          <a:solidFill>
                            <a:srgbClr val="172B3A"/>
                          </a:solidFill>
                          <a:latin typeface="Arial"/>
                          <a:ea typeface="Arial"/>
                          <a:cs typeface="Arial"/>
                        </a:rPr>
                        <a:t>delivery, buffer and both</a:t>
                      </a:r>
                    </a:p>
                    <a:p>
                      <a:r>
                        <a:rPr sz="1575" b="0">
                          <a:solidFill>
                            <a:srgbClr val="172B3A"/>
                          </a:solidFill>
                          <a:latin typeface="Arial"/>
                          <a:ea typeface="Arial"/>
                          <a:cs typeface="Arial"/>
                        </a:rPr>
                        <a:t>energy allocations</a:t>
                      </a:r>
                    </a:p>
                  </a:txBody>
                  <a:tcPr marL="123825" marR="114300" marT="57150" marB="57150" anchor="ctr">
                    <a:lnR w="6668">
                      <a:solidFill>
                        <a:srgbClr val="CED7D3"/>
                      </a:solidFill>
                      <a:prstDash val="solid"/>
                    </a:lnR>
                    <a:lnB w="6668">
                      <a:solidFill>
                        <a:srgbClr val="CED7D3"/>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A96A3119-B00A-44EA-9C44-CDDB7FADA3F1}"/>
              </a:ext>
            </a:extLst>
          </p:cNvPr>
          <p:cNvSpPr>
            <a:spLocks xmlns:a="http://schemas.openxmlformats.org/drawingml/2006/main" noGrp="1"/>
          </p:cNvSpPr>
          <p:nvPr/>
        </p:nvSpPr>
        <p:spPr>
          <a:xfrm xmlns:a="http://schemas.openxmlformats.org/drawingml/2006/main">
            <a:off x="495300" y="5915025"/>
            <a:ext cx="11201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76D"/>
                </a:solidFill>
                <a:latin typeface="Arial"/>
                <a:ea typeface="Arial"/>
                <a:cs typeface="Arial"/>
              </a:defRPr>
            </a:defPPr>
            <a:lvl1pPr>
              <a:defRPr sz="1725" b="1">
                <a:solidFill>
                  <a:srgbClr val="20776D"/>
                </a:solidFill>
                <a:latin typeface="Arial"/>
                <a:ea typeface="Arial"/>
                <a:cs typeface="Arial"/>
              </a:defRPr>
            </a:lvl1pPr>
            <a:lvl2pPr>
              <a:defRPr sz="1725" b="1">
                <a:solidFill>
                  <a:srgbClr val="20776D"/>
                </a:solidFill>
                <a:latin typeface="Arial"/>
                <a:ea typeface="Arial"/>
                <a:cs typeface="Arial"/>
              </a:defRPr>
            </a:lvl2pPr>
            <a:lvl3pPr>
              <a:defRPr sz="1725" b="1">
                <a:solidFill>
                  <a:srgbClr val="20776D"/>
                </a:solidFill>
                <a:latin typeface="Arial"/>
                <a:ea typeface="Arial"/>
                <a:cs typeface="Arial"/>
              </a:defRPr>
            </a:lvl3pPr>
            <a:lvl4pPr>
              <a:defRPr sz="1725" b="1">
                <a:solidFill>
                  <a:srgbClr val="20776D"/>
                </a:solidFill>
                <a:latin typeface="Arial"/>
                <a:ea typeface="Arial"/>
                <a:cs typeface="Arial"/>
              </a:defRPr>
            </a:lvl4pPr>
            <a:lvl5pPr>
              <a:defRPr sz="1725" b="1">
                <a:solidFill>
                  <a:srgbClr val="20776D"/>
                </a:solidFill>
                <a:latin typeface="Arial"/>
                <a:ea typeface="Arial"/>
                <a:cs typeface="Arial"/>
              </a:defRPr>
            </a:lvl5pPr>
            <a:lvl6pPr>
              <a:defRPr sz="1725" b="1">
                <a:solidFill>
                  <a:srgbClr val="20776D"/>
                </a:solidFill>
                <a:latin typeface="Arial"/>
                <a:ea typeface="Arial"/>
                <a:cs typeface="Arial"/>
              </a:defRPr>
            </a:lvl6pPr>
            <a:lvl7pPr>
              <a:defRPr sz="1725" b="1">
                <a:solidFill>
                  <a:srgbClr val="20776D"/>
                </a:solidFill>
                <a:latin typeface="Arial"/>
                <a:ea typeface="Arial"/>
                <a:cs typeface="Arial"/>
              </a:defRPr>
            </a:lvl7pPr>
            <a:lvl8pPr>
              <a:defRPr sz="1725" b="1">
                <a:solidFill>
                  <a:srgbClr val="20776D"/>
                </a:solidFill>
                <a:latin typeface="Arial"/>
                <a:ea typeface="Arial"/>
                <a:cs typeface="Arial"/>
              </a:defRPr>
            </a:lvl8pPr>
            <a:lvl9pPr>
              <a:defRPr sz="1725" b="1">
                <a:solidFill>
                  <a:srgbClr val="20776D"/>
                </a:solidFill>
                <a:latin typeface="Arial"/>
                <a:ea typeface="Arial"/>
                <a:cs typeface="Arial"/>
              </a:defRPr>
            </a:lvl9pPr>
          </a:lstStyle>
          <a:p xmlns:a="http://schemas.openxmlformats.org/drawingml/2006/main">
            <a:pPr>
              <a:defRPr sz="1725" b="1">
                <a:solidFill>
                  <a:srgbClr val="20776D"/>
                </a:solidFill>
                <a:latin typeface="Arial"/>
                <a:ea typeface="Arial"/>
                <a:cs typeface="Arial"/>
              </a:defRPr>
            </a:pPr>
            <a:r>
              <a:rPr sz="1725" b="1">
                <a:solidFill>
                  <a:srgbClr val="20776D"/>
                </a:solidFill>
                <a:latin typeface="Arial"/>
                <a:ea typeface="Arial"/>
                <a:cs typeface="Arial"/>
              </a:rPr>
              <a:t>Derive timings and budgets from docs/mission.json for the active seed. Fixed schedules from another seed may fail.</a:t>
            </a:r>
          </a:p>
        </p:txBody>
      </p:sp>
    </p:spTree>
    <p:extLst>
      <p:ext uri="{BB962C8B-B14F-4D97-AF65-F5344CB8AC3E}">
        <p14:creationId xmlns:p14="http://schemas.microsoft.com/office/powerpoint/2010/main" val="964016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2026-10-25T04:35:18.3870000Z</dcterms:created>
  <dcterms:modified xsi:type="dcterms:W3CDTF">2026-10-25T04:35:18.3880000Z</dcterms:modified>
</coreProperties>
</file>