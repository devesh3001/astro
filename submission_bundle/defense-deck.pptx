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c230fcc96f4cff" /><Relationship Type="http://schemas.openxmlformats.org/officeDocument/2006/relationships/extended-properties" Target="/docProps/app.xml" Id="R7e9f57ec8b294e1c" /><Relationship Type="http://schemas.openxmlformats.org/officeDocument/2006/relationships/officeDocument" Target="/ppt/presentation.xml" Id="R7188a848cd7e4de7" /></Relationships>
</file>

<file path=ppt/presentation.xml><?xml version="1.0" encoding="utf-8"?>
<p:presentation xmlns:p="http://schemas.openxmlformats.org/presentationml/2006/main">
  <p:sldMasterIdLst>
    <p:sldMasterId xmlns:r="http://schemas.openxmlformats.org/officeDocument/2006/relationships" id="2147483648" r:id="R8fb77df046ab4ff7"/>
  </p:sldMasterIdLst>
  <p:notesMasterIdLst>
    <p:notesMasterId xmlns:r="http://schemas.openxmlformats.org/officeDocument/2006/relationships" r:id="Rb9b0e81981414f56"/>
  </p:notesMasterIdLst>
  <p:sldIdLst>
    <p:sldId xmlns:r="http://schemas.openxmlformats.org/officeDocument/2006/relationships" id="256" r:id="Ra5a654aefe4b4275"/>
    <p:sldId xmlns:r="http://schemas.openxmlformats.org/officeDocument/2006/relationships" id="257" r:id="R54f41f1189a54c65"/>
    <p:sldId xmlns:r="http://schemas.openxmlformats.org/officeDocument/2006/relationships" id="258" r:id="R7f542a71c3e1442f"/>
    <p:sldId xmlns:r="http://schemas.openxmlformats.org/officeDocument/2006/relationships" id="259" r:id="Ra2b0f1f7fd8b4409"/>
    <p:sldId xmlns:r="http://schemas.openxmlformats.org/officeDocument/2006/relationships" id="260" r:id="Rba1d07b883ec4359"/>
    <p:sldId xmlns:r="http://schemas.openxmlformats.org/officeDocument/2006/relationships" id="261" r:id="Rf93f001f06f9471f"/>
    <p:sldId xmlns:r="http://schemas.openxmlformats.org/officeDocument/2006/relationships" id="262" r:id="R0962de9aadaf4204"/>
    <p:sldId xmlns:r="http://schemas.openxmlformats.org/officeDocument/2006/relationships" id="263" r:id="Rdafa811e4ea84650"/>
    <p:sldId xmlns:r="http://schemas.openxmlformats.org/officeDocument/2006/relationships" id="264" r:id="R0ca6166653334a6b"/>
    <p:sldId xmlns:r="http://schemas.openxmlformats.org/officeDocument/2006/relationships" id="265" r:id="Raf2e7f486f6746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1b29c2299f4859" /><Relationship Type="http://schemas.openxmlformats.org/officeDocument/2006/relationships/slideMaster" Target="/ppt/slideMasters/slideMaster1.xml" Id="R8fb77df046ab4ff7" /><Relationship Type="http://schemas.openxmlformats.org/officeDocument/2006/relationships/notesMaster" Target="/ppt/notesMasters/notesMaster1.xml" Id="Rb9b0e81981414f56" /><Relationship Type="http://schemas.openxmlformats.org/officeDocument/2006/relationships/presProps" Target="/ppt/presProps.xml" Id="Rd1434c4332d944f5" /><Relationship Type="http://schemas.openxmlformats.org/officeDocument/2006/relationships/tableStyles" Target="/ppt/tableStyles.xml" Id="R24463ceab6dd4657" /><Relationship Type="http://schemas.openxmlformats.org/officeDocument/2006/relationships/slide" Target="/ppt/slides/slide1.xml" Id="Ra5a654aefe4b4275" /><Relationship Type="http://schemas.openxmlformats.org/officeDocument/2006/relationships/slide" Target="/ppt/slides/slide2.xml" Id="R54f41f1189a54c65" /><Relationship Type="http://schemas.openxmlformats.org/officeDocument/2006/relationships/slide" Target="/ppt/slides/slide3.xml" Id="R7f542a71c3e1442f" /><Relationship Type="http://schemas.openxmlformats.org/officeDocument/2006/relationships/slide" Target="/ppt/slides/slide4.xml" Id="Ra2b0f1f7fd8b4409" /><Relationship Type="http://schemas.openxmlformats.org/officeDocument/2006/relationships/slide" Target="/ppt/slides/slide5.xml" Id="Rba1d07b883ec4359" /><Relationship Type="http://schemas.openxmlformats.org/officeDocument/2006/relationships/slide" Target="/ppt/slides/slide6.xml" Id="Rf93f001f06f9471f" /><Relationship Type="http://schemas.openxmlformats.org/officeDocument/2006/relationships/slide" Target="/ppt/slides/slide7.xml" Id="R0962de9aadaf4204" /><Relationship Type="http://schemas.openxmlformats.org/officeDocument/2006/relationships/slide" Target="/ppt/slides/slide8.xml" Id="Rdafa811e4ea84650" /><Relationship Type="http://schemas.openxmlformats.org/officeDocument/2006/relationships/slide" Target="/ppt/slides/slide9.xml" Id="R0ca6166653334a6b" /><Relationship Type="http://schemas.openxmlformats.org/officeDocument/2006/relationships/slide" Target="/ppt/slides/slide10.xml" Id="Raf2e7f486f6746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7356753f4b4f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33a14f4b1a4f67" /><Relationship Type="http://schemas.openxmlformats.org/officeDocument/2006/relationships/notesMaster" Target="/ppt/notesMasters/notesMaster1.xml" Id="Rca75ce5e06ef4a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e31f141f154ab8" /><Relationship Type="http://schemas.openxmlformats.org/officeDocument/2006/relationships/notesMaster" Target="/ppt/notesMasters/notesMaster1.xml" Id="R2eeadf7b9fe24b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1ea3dc1f744fb4" /><Relationship Type="http://schemas.openxmlformats.org/officeDocument/2006/relationships/notesMaster" Target="/ppt/notesMasters/notesMaster1.xml" Id="Re27fe8f5642340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ad69ced0694ef4" /><Relationship Type="http://schemas.openxmlformats.org/officeDocument/2006/relationships/notesMaster" Target="/ppt/notesMasters/notesMaster1.xml" Id="R784681f9a30d4f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0569a10f0548de" /><Relationship Type="http://schemas.openxmlformats.org/officeDocument/2006/relationships/notesMaster" Target="/ppt/notesMasters/notesMaster1.xml" Id="Rf50f7a4be2c841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36702d741b4352" /><Relationship Type="http://schemas.openxmlformats.org/officeDocument/2006/relationships/notesMaster" Target="/ppt/notesMasters/notesMaster1.xml" Id="Rb407050c80404f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297b567f6a4eb9" /><Relationship Type="http://schemas.openxmlformats.org/officeDocument/2006/relationships/notesMaster" Target="/ppt/notesMasters/notesMaster1.xml" Id="R1c37740ca0154f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c94f6f77d584457" /><Relationship Type="http://schemas.openxmlformats.org/officeDocument/2006/relationships/notesMaster" Target="/ppt/notesMasters/notesMaster1.xml" Id="Rd708fd4610bf45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6df8a9a9594cf5" /><Relationship Type="http://schemas.openxmlformats.org/officeDocument/2006/relationships/notesMaster" Target="/ppt/notesMasters/notesMaster1.xml" Id="Rb3a8d354f23445b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473d6eb2e84813" /><Relationship Type="http://schemas.openxmlformats.org/officeDocument/2006/relationships/notesMaster" Target="/ppt/notesMasters/notesMaster1.xml" Id="R9d0a5974821f4b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We build an environment in which judges can evaluate an agent. The agent diagnoses and repairs a satellite simulation through tools. A separate verifier scores the actual mission history. We do not train a policy or claim flight certification. Sources: README.md and docs/model-assumptions.md.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0:35–1:25. Explain the transition from files and telemetry through tools to protected physical state. Completed ordinary tool attempts, including tool errors, cost 30 simulated seconds. Schema-rejected calls do not execute or advance time. step_orbit advances 1–30 minutes. Final scoring projects the remaining mission with the current configuration. Distinguish simulated time from the 600-second real execution budget.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1:25–2:20. The first five tasks teach diagnosis and repair. Four hard tasks add interacting constraints: radio energy, an irreversible early contact, one observation window, and two-window science with finite storage. Seeds vary hardware, faults and timing. Sources: harness/tasks.py, harness/science_mission.py and model-assumptions.md.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2:20–3:25. Trace the actual successful science seed 101 run. Window one spans 19–24 minutes and measured exposure is 270 seconds. Contact one at 29–33 minutes delivered 513 kB and freed storage. Window two at 49–53 minutes added 456 kB from 240 seconds of exposure. Contact two at 74–78 minutes delivered that remainder. Final delivery was 969 kB with no loss and peak storage of 513/598.5 kB. Constant duty needs at least 0.90 for exposure, whereas the energy bound is 1.2*540/5700 = 0.1137. The live model selected a valid alternative to the privileged reference. Sources: run 20261024T210515-082614Z-a0efc859 and docs/rehearsal-pack.md.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3:25–4:25. Standard raw weights are power.35, thermal.25, pointing.20 and comms.20. Observation adds exposure. Science scales the standard vector by.6 and adds independent window completion.2 and science delivery.2. Normalized progress is relative to the seeded no-op. Mandatory checks independently cap all failures below.95, and catastrophic failures latch atzero. Invalid fields are rejected instead of silently defaulted.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4:25–5:25. Walk through the harness, agent and behavioral evaluator. Verifier code is not in the sandbox image. Control endpoints require a rotated token. Workers run as UID 1001 and isolated scripts as UID 1002. Read-only root, internal network, bounded workspace, 128-process cgroup and descendant cleanup limit attacks. Docker and the host kernel remain trusted. Twelve real-container regressions passed, but finite tests do not prove absence of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5:25–6:25. These are intentionally wrong scripted policies, never model runs. Telemetry forgery cannot affect protected state. Late repair cannot reverse missed contact or exposure. New science probes separately check missed first contact and forged mission quotas/finalinventory. The underlying logs preserve actual counters and conservation. Finite probes demonstrate tested cases, not proof against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6:25–7:30. The complete suite has 150 tests, including 13 synthetic client-interface tests and 12 independent mission-stress regression tests. Do not add those subgroups to 150 again. The separate 474-case benchmark contains 450 simulator cases and 24 private HTTP cases: 80 independently planned feasible cases pass and 394 invalid decisions fail for their required reasons. Those are expected outcomes, not 474 successful missions. The interface report captures 32 loopback HTTP requests and makes no external model calls. All nine task gates pass. Nominal and maximum-radio policies each fail all 20 hard cases in the separate policy comparison; the privileged reference passes 45 of 45. V3 provenance binds expected build inputs, and supplemental reports additionally bind validation code and HTTP-fixture hashes. Finite checks cannot certify the undisclosed judge model.</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7:30–8:45. Every row is a genuine provider attempt on this source. Report successes and failures exactly as logged. A zero-reply provider failure is diagnostic and does not count toward three completed evidence runs. Failure on a hard task is not by itself a broken environment, but limits model capability claims. All API calls use same interface. The sample append is only a smoke test, not a substitute for unknown judge instructions. Timing uses the harness monotonic clock; host pauses preclude independent external wall-clock certification.</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8:45–10:00. Use Run A unappended EPS seed zero as the named realistic demo. Open source-matched logs if network fails. Show gates, one action, state hash and final checks without showing .env. Defend why planning is necessary using science dutybounds and data conservation. Explain scalar physics and trusted host boundary. Public repository is user requested but conflicts with the private PS rule. ASTRO naming and the 25 October 2026, 10:15 AM IST deadline are confirmed. Organizer invitation acceptance and the team form submission remain pending. No claim of an actual judge score or exhaustive robustness.</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131d7ac9af4d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8fd0618a28548d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a1868e22a1b44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6016901e1c4f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b93ce438e2421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401eefbeec144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12DB88-4CB1-4743-850F-64B898AEC5E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DE26E60-1E07-4DFE-9234-4614DD00A2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D7F8AA-1DF9-44AE-B456-69C446A063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599021-4B40-4E59-8707-22F3160BD0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3288297-E50F-4CA9-8106-B615001A528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036D91-6A99-4E35-B103-C75A0B17CD2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3301FE-8007-4A8D-B27B-D27C2ECFA9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D9AEE74-DEF7-4D60-8C3A-4A0B0684D19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1F2B64-0970-497C-92FB-A33E85FBEA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535338-A5BB-43B2-9864-8EEEC5DED0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f8ccce885c4a45" /><Relationship Type="http://schemas.openxmlformats.org/officeDocument/2006/relationships/slideLayout" Target="/ppt/slideLayouts/slideLayout1.xml" Id="R97c4421ba1aa486b" /><Relationship Type="http://schemas.openxmlformats.org/officeDocument/2006/relationships/slideLayout" Target="/ppt/slideLayouts/slideLayout2.xml" Id="R3a2daffd5a1a4b27" /><Relationship Type="http://schemas.openxmlformats.org/officeDocument/2006/relationships/slideLayout" Target="/ppt/slideLayouts/slideLayout3.xml" Id="Rb8f705e43c1d4e45" /><Relationship Type="http://schemas.openxmlformats.org/officeDocument/2006/relationships/slideLayout" Target="/ppt/slideLayouts/slideLayout4.xml" Id="Rc751b2fa01e649e6" /><Relationship Type="http://schemas.openxmlformats.org/officeDocument/2006/relationships/slideLayout" Target="/ppt/slideLayouts/slideLayout5.xml" Id="R377ae62e170c4419" /><Relationship Type="http://schemas.openxmlformats.org/officeDocument/2006/relationships/slideLayout" Target="/ppt/slideLayouts/slideLayout6.xml" Id="R8bf014d9643d4b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c4421ba1aa486b"/>
    <p:sldLayoutId xmlns:r="http://schemas.openxmlformats.org/officeDocument/2006/relationships" id="2147483650" r:id="R3a2daffd5a1a4b27"/>
    <p:sldLayoutId xmlns:r="http://schemas.openxmlformats.org/officeDocument/2006/relationships" id="2147483651" r:id="Rb8f705e43c1d4e45"/>
    <p:sldLayoutId xmlns:r="http://schemas.openxmlformats.org/officeDocument/2006/relationships" id="2147483652" r:id="Rc751b2fa01e649e6"/>
    <p:sldLayoutId xmlns:r="http://schemas.openxmlformats.org/officeDocument/2006/relationships" id="2147483653" r:id="R377ae62e170c4419"/>
    <p:sldLayoutId xmlns:r="http://schemas.openxmlformats.org/officeDocument/2006/relationships" id="2147483654" r:id="R8bf014d9643d4b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a408dde70394465" /><Relationship Type="http://schemas.openxmlformats.org/officeDocument/2006/relationships/notesSlide" Target="/ppt/notesSlides/notesSlide1.xml" Id="Rfb81f7e0f9e543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bfa7487d7834807" /><Relationship Type="http://schemas.openxmlformats.org/officeDocument/2006/relationships/notesSlide" Target="/ppt/notesSlides/notesSlide2.xml" Id="R89d5fc4aa4684d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e1e0f6c0fe34026" /><Relationship Type="http://schemas.openxmlformats.org/officeDocument/2006/relationships/notesSlide" Target="/ppt/notesSlides/notesSlide3.xml" Id="R0bbc8488336545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fcebd6ed0c47f0" /><Relationship Type="http://schemas.openxmlformats.org/officeDocument/2006/relationships/notesSlide" Target="/ppt/notesSlides/notesSlide4.xml" Id="Raeccb6425f1d40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724bdc6cafb4a86" /><Relationship Type="http://schemas.openxmlformats.org/officeDocument/2006/relationships/notesSlide" Target="/ppt/notesSlides/notesSlide5.xml" Id="R2e56e921f90248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c70378c5ba4f89" /><Relationship Type="http://schemas.openxmlformats.org/officeDocument/2006/relationships/notesSlide" Target="/ppt/notesSlides/notesSlide6.xml" Id="R551c0ef04aa44e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dbb2159c42943f6" /><Relationship Type="http://schemas.openxmlformats.org/officeDocument/2006/relationships/notesSlide" Target="/ppt/notesSlides/notesSlide7.xml" Id="R78bb9b4c564b45e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d564a4d7de546c7" /><Relationship Type="http://schemas.openxmlformats.org/officeDocument/2006/relationships/notesSlide" Target="/ppt/notesSlides/notesSlide8.xml" Id="Rc90542306dd64d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6db7d2b4b684719" /><Relationship Type="http://schemas.openxmlformats.org/officeDocument/2006/relationships/notesSlide" Target="/ppt/notesSlides/notesSlide9.xml" Id="R80e8ed5eb29e4e3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ba5ec8b6cfc4756" /><Relationship Type="http://schemas.openxmlformats.org/officeDocument/2006/relationships/notesSlide" Target="/ppt/notesSlides/notesSlide10.xml" Id="R60d8c92934b947cf" /></Relationships>
</file>

<file path=ppt/slides/slide1.xml><?xml version="1.0" encoding="utf-8"?>
<p:sld xmlns:p="http://schemas.openxmlformats.org/presentationml/2006/main">
  <p:cSld>
    <p:bg>
      <p:bgPr>
        <a:solidFill xmlns:a="http://schemas.openxmlformats.org/drawingml/2006/main">
          <a:srgbClr val="10253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19B8C34-8960-4D3B-A1DF-F9C94FB61442}"/>
              </a:ext>
            </a:extLst>
          </p:cNvPr>
          <p:cNvSpPr>
            <a:spLocks xmlns:a="http://schemas.openxmlformats.org/drawingml/2006/main" noGrp="1"/>
          </p:cNvSpPr>
          <p:nvPr/>
        </p:nvSpPr>
        <p:spPr>
          <a:xfrm xmlns:a="http://schemas.openxmlformats.org/drawingml/2006/main">
            <a:off x="609600" y="6572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5D9CB"/>
                </a:solidFill>
                <a:latin typeface="Arial"/>
                <a:ea typeface="Arial"/>
                <a:cs typeface="Arial"/>
              </a:defRPr>
            </a:defPPr>
            <a:lvl1pPr>
              <a:defRPr sz="1650" b="1">
                <a:solidFill>
                  <a:srgbClr val="55D9CB"/>
                </a:solidFill>
                <a:latin typeface="Arial"/>
                <a:ea typeface="Arial"/>
                <a:cs typeface="Arial"/>
              </a:defRPr>
            </a:lvl1pPr>
            <a:lvl2pPr>
              <a:defRPr sz="1650" b="1">
                <a:solidFill>
                  <a:srgbClr val="55D9CB"/>
                </a:solidFill>
                <a:latin typeface="Arial"/>
                <a:ea typeface="Arial"/>
                <a:cs typeface="Arial"/>
              </a:defRPr>
            </a:lvl2pPr>
            <a:lvl3pPr>
              <a:defRPr sz="1650" b="1">
                <a:solidFill>
                  <a:srgbClr val="55D9CB"/>
                </a:solidFill>
                <a:latin typeface="Arial"/>
                <a:ea typeface="Arial"/>
                <a:cs typeface="Arial"/>
              </a:defRPr>
            </a:lvl3pPr>
            <a:lvl4pPr>
              <a:defRPr sz="1650" b="1">
                <a:solidFill>
                  <a:srgbClr val="55D9CB"/>
                </a:solidFill>
                <a:latin typeface="Arial"/>
                <a:ea typeface="Arial"/>
                <a:cs typeface="Arial"/>
              </a:defRPr>
            </a:lvl4pPr>
            <a:lvl5pPr>
              <a:defRPr sz="1650" b="1">
                <a:solidFill>
                  <a:srgbClr val="55D9CB"/>
                </a:solidFill>
                <a:latin typeface="Arial"/>
                <a:ea typeface="Arial"/>
                <a:cs typeface="Arial"/>
              </a:defRPr>
            </a:lvl5pPr>
            <a:lvl6pPr>
              <a:defRPr sz="1650" b="1">
                <a:solidFill>
                  <a:srgbClr val="55D9CB"/>
                </a:solidFill>
                <a:latin typeface="Arial"/>
                <a:ea typeface="Arial"/>
                <a:cs typeface="Arial"/>
              </a:defRPr>
            </a:lvl6pPr>
            <a:lvl7pPr>
              <a:defRPr sz="1650" b="1">
                <a:solidFill>
                  <a:srgbClr val="55D9CB"/>
                </a:solidFill>
                <a:latin typeface="Arial"/>
                <a:ea typeface="Arial"/>
                <a:cs typeface="Arial"/>
              </a:defRPr>
            </a:lvl7pPr>
            <a:lvl8pPr>
              <a:defRPr sz="1650" b="1">
                <a:solidFill>
                  <a:srgbClr val="55D9CB"/>
                </a:solidFill>
                <a:latin typeface="Arial"/>
                <a:ea typeface="Arial"/>
                <a:cs typeface="Arial"/>
              </a:defRPr>
            </a:lvl8pPr>
            <a:lvl9pPr>
              <a:defRPr sz="1650" b="1">
                <a:solidFill>
                  <a:srgbClr val="55D9CB"/>
                </a:solidFill>
                <a:latin typeface="Arial"/>
                <a:ea typeface="Arial"/>
                <a:cs typeface="Arial"/>
              </a:defRPr>
            </a:lvl9pPr>
          </a:lstStyle>
          <a:p xmlns:a="http://schemas.openxmlformats.org/drawingml/2006/main">
            <a:pPr>
              <a:defRPr sz="1650" b="1">
                <a:solidFill>
                  <a:srgbClr val="55D9CB"/>
                </a:solidFill>
                <a:latin typeface="Arial"/>
                <a:ea typeface="Arial"/>
                <a:cs typeface="Arial"/>
              </a:defRPr>
            </a:pPr>
            <a:r>
              <a:rPr sz="1650" b="1">
                <a:solidFill>
                  <a:srgbClr val="55D9CB"/>
                </a:solidFill>
                <a:latin typeface="Arial"/>
                <a:ea typeface="Arial"/>
                <a:cs typeface="Arial"/>
              </a:rPr>
              <a:t>TEAM ASTRO</a:t>
            </a:r>
          </a:p>
        </p:txBody>
      </p:sp>
      <p:sp>
        <p:nvSpPr>
          <p:cNvPr id="2" name="">
            <a:extLst xmlns:a="http://schemas.openxmlformats.org/drawingml/2006/main">
              <a:ext uri="{FF2B5EF4-FFF2-40B4-BE49-F238E27FC236}">
                <a16:creationId xmlns:a16="http://schemas.microsoft.com/office/drawing/2014/main" id="{768EB49A-4353-49DD-81BC-96426D07A6BC}"/>
              </a:ext>
            </a:extLst>
          </p:cNvPr>
          <p:cNvSpPr>
            <a:spLocks xmlns:a="http://schemas.openxmlformats.org/drawingml/2006/main" noGrp="1"/>
          </p:cNvSpPr>
          <p:nvPr/>
        </p:nvSpPr>
        <p:spPr>
          <a:xfrm xmlns:a="http://schemas.openxmlformats.org/drawingml/2006/main">
            <a:off x="609600" y="1885950"/>
            <a:ext cx="109728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FFFFFF"/>
                </a:solidFill>
                <a:latin typeface="Arial"/>
                <a:ea typeface="Arial"/>
                <a:cs typeface="Arial"/>
              </a:defRPr>
            </a:defPPr>
            <a:lvl1pPr>
              <a:defRPr sz="6150" b="1">
                <a:solidFill>
                  <a:srgbClr val="FFFFFF"/>
                </a:solidFill>
                <a:latin typeface="Arial"/>
                <a:ea typeface="Arial"/>
                <a:cs typeface="Arial"/>
              </a:defRPr>
            </a:lvl1pPr>
            <a:lvl2pPr>
              <a:defRPr sz="6150" b="1">
                <a:solidFill>
                  <a:srgbClr val="FFFFFF"/>
                </a:solidFill>
                <a:latin typeface="Arial"/>
                <a:ea typeface="Arial"/>
                <a:cs typeface="Arial"/>
              </a:defRPr>
            </a:lvl2pPr>
            <a:lvl3pPr>
              <a:defRPr sz="6150" b="1">
                <a:solidFill>
                  <a:srgbClr val="FFFFFF"/>
                </a:solidFill>
                <a:latin typeface="Arial"/>
                <a:ea typeface="Arial"/>
                <a:cs typeface="Arial"/>
              </a:defRPr>
            </a:lvl3pPr>
            <a:lvl4pPr>
              <a:defRPr sz="6150" b="1">
                <a:solidFill>
                  <a:srgbClr val="FFFFFF"/>
                </a:solidFill>
                <a:latin typeface="Arial"/>
                <a:ea typeface="Arial"/>
                <a:cs typeface="Arial"/>
              </a:defRPr>
            </a:lvl4pPr>
            <a:lvl5pPr>
              <a:defRPr sz="6150" b="1">
                <a:solidFill>
                  <a:srgbClr val="FFFFFF"/>
                </a:solidFill>
                <a:latin typeface="Arial"/>
                <a:ea typeface="Arial"/>
                <a:cs typeface="Arial"/>
              </a:defRPr>
            </a:lvl5pPr>
            <a:lvl6pPr>
              <a:defRPr sz="6150" b="1">
                <a:solidFill>
                  <a:srgbClr val="FFFFFF"/>
                </a:solidFill>
                <a:latin typeface="Arial"/>
                <a:ea typeface="Arial"/>
                <a:cs typeface="Arial"/>
              </a:defRPr>
            </a:lvl6pPr>
            <a:lvl7pPr>
              <a:defRPr sz="6150" b="1">
                <a:solidFill>
                  <a:srgbClr val="FFFFFF"/>
                </a:solidFill>
                <a:latin typeface="Arial"/>
                <a:ea typeface="Arial"/>
                <a:cs typeface="Arial"/>
              </a:defRPr>
            </a:lvl7pPr>
            <a:lvl8pPr>
              <a:defRPr sz="6150" b="1">
                <a:solidFill>
                  <a:srgbClr val="FFFFFF"/>
                </a:solidFill>
                <a:latin typeface="Arial"/>
                <a:ea typeface="Arial"/>
                <a:cs typeface="Arial"/>
              </a:defRPr>
            </a:lvl8pPr>
            <a:lvl9pPr>
              <a:defRPr sz="6150" b="1">
                <a:solidFill>
                  <a:srgbClr val="FFFFFF"/>
                </a:solidFill>
                <a:latin typeface="Arial"/>
                <a:ea typeface="Arial"/>
                <a:cs typeface="Arial"/>
              </a:defRPr>
            </a:lvl9pPr>
          </a:lstStyle>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AeroSentinel</a:t>
            </a:r>
          </a:p>
        </p:txBody>
      </p:sp>
      <p:sp>
        <p:nvSpPr>
          <p:cNvPr id="3" name="">
            <a:extLst xmlns:a="http://schemas.openxmlformats.org/drawingml/2006/main">
              <a:ext uri="{FF2B5EF4-FFF2-40B4-BE49-F238E27FC236}">
                <a16:creationId xmlns:a16="http://schemas.microsoft.com/office/drawing/2014/main" id="{1E103C91-2B30-48CD-9332-636DC9AA669C}"/>
              </a:ext>
            </a:extLst>
          </p:cNvPr>
          <p:cNvSpPr>
            <a:spLocks xmlns:a="http://schemas.openxmlformats.org/drawingml/2006/main" noGrp="1"/>
          </p:cNvSpPr>
          <p:nvPr/>
        </p:nvSpPr>
        <p:spPr>
          <a:xfrm xmlns:a="http://schemas.openxmlformats.org/drawingml/2006/main">
            <a:off x="609600" y="3314700"/>
            <a:ext cx="107632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FFFFF"/>
                </a:solidFill>
                <a:latin typeface="Arial"/>
                <a:ea typeface="Arial"/>
                <a:cs typeface="Arial"/>
              </a:defRPr>
            </a:defPPr>
            <a:lvl1pPr>
              <a:defRPr sz="2925" b="0">
                <a:solidFill>
                  <a:srgbClr val="FFFFFF"/>
                </a:solidFill>
                <a:latin typeface="Arial"/>
                <a:ea typeface="Arial"/>
                <a:cs typeface="Arial"/>
              </a:defRPr>
            </a:lvl1pPr>
            <a:lvl2pPr>
              <a:defRPr sz="2925" b="0">
                <a:solidFill>
                  <a:srgbClr val="FFFFFF"/>
                </a:solidFill>
                <a:latin typeface="Arial"/>
                <a:ea typeface="Arial"/>
                <a:cs typeface="Arial"/>
              </a:defRPr>
            </a:lvl2pPr>
            <a:lvl3pPr>
              <a:defRPr sz="2925" b="0">
                <a:solidFill>
                  <a:srgbClr val="FFFFFF"/>
                </a:solidFill>
                <a:latin typeface="Arial"/>
                <a:ea typeface="Arial"/>
                <a:cs typeface="Arial"/>
              </a:defRPr>
            </a:lvl3pPr>
            <a:lvl4pPr>
              <a:defRPr sz="2925" b="0">
                <a:solidFill>
                  <a:srgbClr val="FFFFFF"/>
                </a:solidFill>
                <a:latin typeface="Arial"/>
                <a:ea typeface="Arial"/>
                <a:cs typeface="Arial"/>
              </a:defRPr>
            </a:lvl4pPr>
            <a:lvl5pPr>
              <a:defRPr sz="2925" b="0">
                <a:solidFill>
                  <a:srgbClr val="FFFFFF"/>
                </a:solidFill>
                <a:latin typeface="Arial"/>
                <a:ea typeface="Arial"/>
                <a:cs typeface="Arial"/>
              </a:defRPr>
            </a:lvl5pPr>
            <a:lvl6pPr>
              <a:defRPr sz="2925" b="0">
                <a:solidFill>
                  <a:srgbClr val="FFFFFF"/>
                </a:solidFill>
                <a:latin typeface="Arial"/>
                <a:ea typeface="Arial"/>
                <a:cs typeface="Arial"/>
              </a:defRPr>
            </a:lvl6pPr>
            <a:lvl7pPr>
              <a:defRPr sz="2925" b="0">
                <a:solidFill>
                  <a:srgbClr val="FFFFFF"/>
                </a:solidFill>
                <a:latin typeface="Arial"/>
                <a:ea typeface="Arial"/>
                <a:cs typeface="Arial"/>
              </a:defRPr>
            </a:lvl7pPr>
            <a:lvl8pPr>
              <a:defRPr sz="2925" b="0">
                <a:solidFill>
                  <a:srgbClr val="FFFFFF"/>
                </a:solidFill>
                <a:latin typeface="Arial"/>
                <a:ea typeface="Arial"/>
                <a:cs typeface="Arial"/>
              </a:defRPr>
            </a:lvl8pPr>
            <a:lvl9pPr>
              <a:defRPr sz="2925" b="0">
                <a:solidFill>
                  <a:srgbClr val="FFFFFF"/>
                </a:solidFill>
                <a:latin typeface="Arial"/>
                <a:ea typeface="Arial"/>
                <a:cs typeface="Arial"/>
              </a:defRPr>
            </a:lvl9pPr>
          </a:lstStyle>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Satellite recovery decisions</a:t>
            </a:r>
          </a:p>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with protected mission history</a:t>
            </a:r>
          </a:p>
        </p:txBody>
      </p:sp>
      <p:sp>
        <p:nvSpPr>
          <p:cNvPr id="4" name="">
            <a:extLst xmlns:a="http://schemas.openxmlformats.org/drawingml/2006/main">
              <a:ext uri="{FF2B5EF4-FFF2-40B4-BE49-F238E27FC236}">
                <a16:creationId xmlns:a16="http://schemas.microsoft.com/office/drawing/2014/main" id="{5EF3D28D-F1F9-4B98-B615-49D7D6B63693}"/>
              </a:ext>
            </a:extLst>
          </p:cNvPr>
          <p:cNvSpPr>
            <a:spLocks xmlns:a="http://schemas.openxmlformats.org/drawingml/2006/main" noGrp="1"/>
          </p:cNvSpPr>
          <p:nvPr/>
        </p:nvSpPr>
        <p:spPr>
          <a:xfrm xmlns:a="http://schemas.openxmlformats.org/drawingml/2006/main">
            <a:off x="609600" y="5238750"/>
            <a:ext cx="10906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CD0DB"/>
                </a:solidFill>
                <a:latin typeface="Arial"/>
                <a:ea typeface="Arial"/>
                <a:cs typeface="Arial"/>
              </a:defRPr>
            </a:defPPr>
            <a:lvl1pPr>
              <a:defRPr sz="1800" b="0">
                <a:solidFill>
                  <a:srgbClr val="BCD0DB"/>
                </a:solidFill>
                <a:latin typeface="Arial"/>
                <a:ea typeface="Arial"/>
                <a:cs typeface="Arial"/>
              </a:defRPr>
            </a:lvl1pPr>
            <a:lvl2pPr>
              <a:defRPr sz="1800" b="0">
                <a:solidFill>
                  <a:srgbClr val="BCD0DB"/>
                </a:solidFill>
                <a:latin typeface="Arial"/>
                <a:ea typeface="Arial"/>
                <a:cs typeface="Arial"/>
              </a:defRPr>
            </a:lvl2pPr>
            <a:lvl3pPr>
              <a:defRPr sz="1800" b="0">
                <a:solidFill>
                  <a:srgbClr val="BCD0DB"/>
                </a:solidFill>
                <a:latin typeface="Arial"/>
                <a:ea typeface="Arial"/>
                <a:cs typeface="Arial"/>
              </a:defRPr>
            </a:lvl3pPr>
            <a:lvl4pPr>
              <a:defRPr sz="1800" b="0">
                <a:solidFill>
                  <a:srgbClr val="BCD0DB"/>
                </a:solidFill>
                <a:latin typeface="Arial"/>
                <a:ea typeface="Arial"/>
                <a:cs typeface="Arial"/>
              </a:defRPr>
            </a:lvl4pPr>
            <a:lvl5pPr>
              <a:defRPr sz="1800" b="0">
                <a:solidFill>
                  <a:srgbClr val="BCD0DB"/>
                </a:solidFill>
                <a:latin typeface="Arial"/>
                <a:ea typeface="Arial"/>
                <a:cs typeface="Arial"/>
              </a:defRPr>
            </a:lvl5pPr>
            <a:lvl6pPr>
              <a:defRPr sz="1800" b="0">
                <a:solidFill>
                  <a:srgbClr val="BCD0DB"/>
                </a:solidFill>
                <a:latin typeface="Arial"/>
                <a:ea typeface="Arial"/>
                <a:cs typeface="Arial"/>
              </a:defRPr>
            </a:lvl6pPr>
            <a:lvl7pPr>
              <a:defRPr sz="1800" b="0">
                <a:solidFill>
                  <a:srgbClr val="BCD0DB"/>
                </a:solidFill>
                <a:latin typeface="Arial"/>
                <a:ea typeface="Arial"/>
                <a:cs typeface="Arial"/>
              </a:defRPr>
            </a:lvl7pPr>
            <a:lvl8pPr>
              <a:defRPr sz="1800" b="0">
                <a:solidFill>
                  <a:srgbClr val="BCD0DB"/>
                </a:solidFill>
                <a:latin typeface="Arial"/>
                <a:ea typeface="Arial"/>
                <a:cs typeface="Arial"/>
              </a:defRPr>
            </a:lvl8pPr>
            <a:lvl9pPr>
              <a:defRPr sz="1800" b="0">
                <a:solidFill>
                  <a:srgbClr val="BCD0DB"/>
                </a:solidFill>
                <a:latin typeface="Arial"/>
                <a:ea typeface="Arial"/>
                <a:cs typeface="Arial"/>
              </a:defRPr>
            </a:lvl9pPr>
          </a:lstStyle>
          <a:p xmlns:a="http://schemas.openxmlformats.org/drawingml/2006/main">
            <a:pPr>
              <a:defRPr sz="1800" b="0">
                <a:solidFill>
                  <a:srgbClr val="BCD0DB"/>
                </a:solidFill>
                <a:latin typeface="Arial"/>
                <a:ea typeface="Arial"/>
                <a:cs typeface="Arial"/>
              </a:defRPr>
            </a:pPr>
            <a:r>
              <a:rPr sz="1800" b="0">
                <a:solidFill>
                  <a:srgbClr val="BCD0DB"/>
                </a:solidFill>
                <a:latin typeface="Arial"/>
                <a:ea typeface="Arial"/>
                <a:cs typeface="Arial"/>
              </a:rPr>
              <a:t>9 task families   /   3 difficulty levels   /   tool-using agents</a:t>
            </a:r>
          </a:p>
        </p:txBody>
      </p:sp>
      <p:sp>
        <p:nvSpPr>
          <p:cNvPr id="5" name="">
            <a:extLst xmlns:a="http://schemas.openxmlformats.org/drawingml/2006/main">
              <a:ext uri="{FF2B5EF4-FFF2-40B4-BE49-F238E27FC236}">
                <a16:creationId xmlns:a16="http://schemas.microsoft.com/office/drawing/2014/main" id="{A379CAE0-8DEC-4AC2-869B-3209B4EDF824}"/>
              </a:ext>
            </a:extLst>
          </p:cNvPr>
          <p:cNvSpPr>
            <a:spLocks xmlns:a="http://schemas.openxmlformats.org/drawingml/2006/main" noGrp="1"/>
          </p:cNvSpPr>
          <p:nvPr/>
        </p:nvSpPr>
        <p:spPr>
          <a:xfrm xmlns:a="http://schemas.openxmlformats.org/drawingml/2006/main">
            <a:off x="609600" y="62007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CD0DB"/>
                </a:solidFill>
                <a:latin typeface="Arial"/>
                <a:ea typeface="Arial"/>
                <a:cs typeface="Arial"/>
              </a:defRPr>
            </a:defPPr>
            <a:lvl1pPr>
              <a:defRPr sz="1350" b="0">
                <a:solidFill>
                  <a:srgbClr val="BCD0DB"/>
                </a:solidFill>
                <a:latin typeface="Arial"/>
                <a:ea typeface="Arial"/>
                <a:cs typeface="Arial"/>
              </a:defRPr>
            </a:lvl1pPr>
            <a:lvl2pPr>
              <a:defRPr sz="1350" b="0">
                <a:solidFill>
                  <a:srgbClr val="BCD0DB"/>
                </a:solidFill>
                <a:latin typeface="Arial"/>
                <a:ea typeface="Arial"/>
                <a:cs typeface="Arial"/>
              </a:defRPr>
            </a:lvl2pPr>
            <a:lvl3pPr>
              <a:defRPr sz="1350" b="0">
                <a:solidFill>
                  <a:srgbClr val="BCD0DB"/>
                </a:solidFill>
                <a:latin typeface="Arial"/>
                <a:ea typeface="Arial"/>
                <a:cs typeface="Arial"/>
              </a:defRPr>
            </a:lvl3pPr>
            <a:lvl4pPr>
              <a:defRPr sz="1350" b="0">
                <a:solidFill>
                  <a:srgbClr val="BCD0DB"/>
                </a:solidFill>
                <a:latin typeface="Arial"/>
                <a:ea typeface="Arial"/>
                <a:cs typeface="Arial"/>
              </a:defRPr>
            </a:lvl4pPr>
            <a:lvl5pPr>
              <a:defRPr sz="1350" b="0">
                <a:solidFill>
                  <a:srgbClr val="BCD0DB"/>
                </a:solidFill>
                <a:latin typeface="Arial"/>
                <a:ea typeface="Arial"/>
                <a:cs typeface="Arial"/>
              </a:defRPr>
            </a:lvl5pPr>
            <a:lvl6pPr>
              <a:defRPr sz="1350" b="0">
                <a:solidFill>
                  <a:srgbClr val="BCD0DB"/>
                </a:solidFill>
                <a:latin typeface="Arial"/>
                <a:ea typeface="Arial"/>
                <a:cs typeface="Arial"/>
              </a:defRPr>
            </a:lvl6pPr>
            <a:lvl7pPr>
              <a:defRPr sz="1350" b="0">
                <a:solidFill>
                  <a:srgbClr val="BCD0DB"/>
                </a:solidFill>
                <a:latin typeface="Arial"/>
                <a:ea typeface="Arial"/>
                <a:cs typeface="Arial"/>
              </a:defRPr>
            </a:lvl7pPr>
            <a:lvl8pPr>
              <a:defRPr sz="1350" b="0">
                <a:solidFill>
                  <a:srgbClr val="BCD0DB"/>
                </a:solidFill>
                <a:latin typeface="Arial"/>
                <a:ea typeface="Arial"/>
                <a:cs typeface="Arial"/>
              </a:defRPr>
            </a:lvl8pPr>
            <a:lvl9pPr>
              <a:defRPr sz="1350" b="0">
                <a:solidFill>
                  <a:srgbClr val="BCD0DB"/>
                </a:solidFill>
                <a:latin typeface="Arial"/>
                <a:ea typeface="Arial"/>
                <a:cs typeface="Arial"/>
              </a:defRPr>
            </a:lvl9pPr>
          </a:lstStyle>
          <a:p xmlns:a="http://schemas.openxmlformats.org/drawingml/2006/main">
            <a:pPr>
              <a:defRPr sz="1350" b="0">
                <a:solidFill>
                  <a:srgbClr val="BCD0DB"/>
                </a:solidFill>
                <a:latin typeface="Arial"/>
                <a:ea typeface="Arial"/>
                <a:cs typeface="Arial"/>
              </a:defRPr>
            </a:pPr>
            <a:r>
              <a:rPr sz="1350" b="0">
                <a:solidFill>
                  <a:srgbClr val="BCD0DB"/>
                </a:solidFill>
                <a:latin typeface="Arial"/>
                <a:ea typeface="Arial"/>
                <a:cs typeface="Arial"/>
              </a:rPr>
              <a:t>A declared benchmark simulator</a:t>
            </a:r>
          </a:p>
        </p:txBody>
      </p:sp>
    </p:spTree>
    <p:extLst>
      <p:ext uri="{BB962C8B-B14F-4D97-AF65-F5344CB8AC3E}">
        <p14:creationId xmlns:p14="http://schemas.microsoft.com/office/powerpoint/2010/main" val="10390677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705EF7-8161-423B-8FC7-81B87CE14C0A}"/>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ENVIRONMENT CONTRACT</a:t>
            </a:r>
          </a:p>
        </p:txBody>
      </p:sp>
      <p:sp>
        <p:nvSpPr>
          <p:cNvPr id="2" name="">
            <a:extLst xmlns:a="http://schemas.openxmlformats.org/drawingml/2006/main">
              <a:ext uri="{FF2B5EF4-FFF2-40B4-BE49-F238E27FC236}">
                <a16:creationId xmlns:a16="http://schemas.microsoft.com/office/drawing/2014/main" id="{41020246-8D95-42A7-B264-675D2D1F4D4D}"/>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Each action changes a persistent mission</a:t>
            </a:r>
          </a:p>
        </p:txBody>
      </p:sp>
      <p:sp>
        <p:nvSpPr>
          <p:cNvPr id="3" name="">
            <a:extLst xmlns:a="http://schemas.openxmlformats.org/drawingml/2006/main">
              <a:ext uri="{FF2B5EF4-FFF2-40B4-BE49-F238E27FC236}">
                <a16:creationId xmlns:a16="http://schemas.microsoft.com/office/drawing/2014/main" id="{F1B65B09-FE97-445D-A40A-CBA622FB7FDE}"/>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0A30CC92-6AF1-4017-B921-6430ABA642BD}"/>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02</a:t>
            </a:r>
          </a:p>
        </p:txBody>
      </p:sp>
      <p:graphicFrame>
        <p:nvGraphicFramePr>
          <p:cNvPr id="5" name="">
            <a:extLst xmlns:a="http://schemas.openxmlformats.org/drawingml/2006/main">
              <a:ext uri="{FF2B5EF4-FFF2-40B4-BE49-F238E27FC236}">
                <a16:creationId xmlns:a16="http://schemas.microsoft.com/office/drawing/2014/main" id="{9D774F05-9E90-40FC-95FE-8847DAF8927D}"/>
              </a:ext>
            </a:extLst>
          </p:cNvPr>
          <p:cNvGraphicFramePr/>
          <p:nvPr/>
        </p:nvGraphicFramePr>
        <p:xfrm>
          <a:off xmlns:a="http://schemas.openxmlformats.org/drawingml/2006/main" x="609600" y="2076450"/>
          <a:ext xmlns:a="http://schemas.openxmlformats.org/drawingml/2006/main" cx="10972800" cy="3276600"/>
        </p:xfrm>
        <a:graphic xmlns:a="http://schemas.openxmlformats.org/drawingml/2006/main">
          <a:graphicData uri="http://schemas.openxmlformats.org/drawingml/2006/table">
            <a:tbl>
              <a:tblPr/>
              <a:tblGrid>
                <a:gridCol w="2095500"/>
                <a:gridCol w="4476750"/>
                <a:gridCol w="4400550"/>
              </a:tblGrid>
              <a:tr h="819150">
                <a:tc>
                  <a:txBody>
                    <a:bodyPr/>
                    <a:lstStyle/>
                    <a:p>
                      <a:r>
                        <a:rPr sz="1500" b="1">
                          <a:solidFill>
                            <a:srgbClr val="FFFFFF"/>
                          </a:solidFill>
                          <a:latin typeface="Arial"/>
                          <a:ea typeface="Arial"/>
                          <a:cs typeface="Arial"/>
                        </a:rPr>
                        <a:t>Layer</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Agent sees or controls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Verifier evaluates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19150">
                <a:tc>
                  <a:txBody>
                    <a:bodyPr/>
                    <a:lstStyle/>
                    <a:p>
                      <a:r>
                        <a:rPr sz="1725" b="0">
                          <a:solidFill>
                            <a:srgbClr val="193447"/>
                          </a:solidFill>
                          <a:latin typeface="Arial"/>
                          <a:ea typeface="Arial"/>
                          <a:cs typeface="Arial"/>
                        </a:rPr>
                        <a:t>Observations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Manual, configs, mission targets</a:t>
                      </a:r>
                    </a:p>
                    <a:p>
                      <a:r>
                        <a:rPr sz="1725" b="0">
                          <a:solidFill>
                            <a:srgbClr val="193447"/>
                          </a:solidFill>
                          <a:latin typeface="Arial"/>
                          <a:ea typeface="Arial"/>
                          <a:cs typeface="Arial"/>
                        </a:rPr>
                        <a:t>and live telemetry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Seeded protected facts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19150">
                <a:tc>
                  <a:txBody>
                    <a:bodyPr/>
                    <a:lstStyle/>
                    <a:p>
                      <a:r>
                        <a:rPr sz="1725" b="0">
                          <a:solidFill>
                            <a:srgbClr val="193447"/>
                          </a:solidFill>
                          <a:latin typeface="Arial"/>
                          <a:ea typeface="Arial"/>
                          <a:cs typeface="Arial"/>
                        </a:rPr>
                        <a:t>Actions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Read, write, run Python,</a:t>
                      </a:r>
                    </a:p>
                    <a:p>
                      <a:r>
                        <a:rPr sz="1725" b="0">
                          <a:solidFill>
                            <a:srgbClr val="193447"/>
                          </a:solidFill>
                          <a:latin typeface="Arial"/>
                          <a:ea typeface="Arial"/>
                          <a:cs typeface="Arial"/>
                        </a:rPr>
                        <a:t>advance orbit, finish</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Time, energy, exposure</a:t>
                      </a:r>
                    </a:p>
                    <a:p>
                      <a:r>
                        <a:rPr sz="1725" b="0">
                          <a:solidFill>
                            <a:srgbClr val="193447"/>
                          </a:solidFill>
                          <a:latin typeface="Arial"/>
                          <a:ea typeface="Arial"/>
                          <a:cs typeface="Arial"/>
                        </a:rPr>
                        <a:t>and delivered data</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19150">
                <a:tc>
                  <a:txBody>
                    <a:bodyPr/>
                    <a:lstStyle/>
                    <a:p>
                      <a:r>
                        <a:rPr sz="1725" b="0">
                          <a:solidFill>
                            <a:srgbClr val="193447"/>
                          </a:solidFill>
                          <a:latin typeface="Arial"/>
                          <a:ea typeface="Arial"/>
                          <a:cs typeface="Arial"/>
                        </a:rPr>
                        <a:t>Limits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40 replies and 10 tools per reply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600 seconds plus a separate</a:t>
                      </a:r>
                    </a:p>
                    <a:p>
                      <a:r>
                        <a:rPr sz="1725" b="0">
                          <a:solidFill>
                            <a:srgbClr val="193447"/>
                          </a:solidFill>
                          <a:latin typeface="Arial"/>
                          <a:ea typeface="Arial"/>
                          <a:cs typeface="Arial"/>
                        </a:rPr>
                        <a:t>120-second final check</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EF5946DD-8B9F-4C1F-BA66-7940D1619D2F}"/>
              </a:ext>
            </a:extLst>
          </p:cNvPr>
          <p:cNvSpPr>
            <a:spLocks xmlns:a="http://schemas.openxmlformats.org/drawingml/2006/main" noGrp="1"/>
          </p:cNvSpPr>
          <p:nvPr/>
        </p:nvSpPr>
        <p:spPr>
          <a:xfrm xmlns:a="http://schemas.openxmlformats.org/drawingml/2006/main">
            <a:off x="609600" y="5648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The same tool and reward contract applies to every configured model.</a:t>
            </a:r>
          </a:p>
        </p:txBody>
      </p:sp>
    </p:spTree>
    <p:extLst>
      <p:ext uri="{BB962C8B-B14F-4D97-AF65-F5344CB8AC3E}">
        <p14:creationId xmlns:p14="http://schemas.microsoft.com/office/powerpoint/2010/main" val="913562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C20F2E-A4E8-4F18-B480-653B14D8E582}"/>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TASK PROGRESSION</a:t>
            </a:r>
          </a:p>
        </p:txBody>
      </p:sp>
      <p:sp>
        <p:nvSpPr>
          <p:cNvPr id="2" name="">
            <a:extLst xmlns:a="http://schemas.openxmlformats.org/drawingml/2006/main">
              <a:ext uri="{FF2B5EF4-FFF2-40B4-BE49-F238E27FC236}">
                <a16:creationId xmlns:a16="http://schemas.microsoft.com/office/drawing/2014/main" id="{0E936171-876B-42B0-8B2C-B7893F8C0614}"/>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Nine tasks, four planning challenges</a:t>
            </a:r>
          </a:p>
        </p:txBody>
      </p:sp>
      <p:sp>
        <p:nvSpPr>
          <p:cNvPr id="3" name="">
            <a:extLst xmlns:a="http://schemas.openxmlformats.org/drawingml/2006/main">
              <a:ext uri="{FF2B5EF4-FFF2-40B4-BE49-F238E27FC236}">
                <a16:creationId xmlns:a16="http://schemas.microsoft.com/office/drawing/2014/main" id="{6A3A3D60-6417-466B-B143-5F92DBB777AD}"/>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E405173D-6090-41D2-B3EC-C7CBB29A257E}"/>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03</a:t>
            </a:r>
          </a:p>
        </p:txBody>
      </p:sp>
      <p:graphicFrame>
        <p:nvGraphicFramePr>
          <p:cNvPr id="5" name="">
            <a:extLst xmlns:a="http://schemas.openxmlformats.org/drawingml/2006/main">
              <a:ext uri="{FF2B5EF4-FFF2-40B4-BE49-F238E27FC236}">
                <a16:creationId xmlns:a16="http://schemas.microsoft.com/office/drawing/2014/main" id="{0F9B96CE-D7FE-4F04-B878-1652979A8A8C}"/>
              </a:ext>
            </a:extLst>
          </p:cNvPr>
          <p:cNvGraphicFramePr/>
          <p:nvPr/>
        </p:nvGraphicFramePr>
        <p:xfrm>
          <a:off xmlns:a="http://schemas.openxmlformats.org/drawingml/2006/main" x="609600" y="2076450"/>
          <a:ext xmlns:a="http://schemas.openxmlformats.org/drawingml/2006/main" cx="10972800" cy="3333750"/>
        </p:xfrm>
        <a:graphic xmlns:a="http://schemas.openxmlformats.org/drawingml/2006/main">
          <a:graphicData uri="http://schemas.openxmlformats.org/drawingml/2006/table">
            <a:tbl>
              <a:tblPr/>
              <a:tblGrid>
                <a:gridCol w="2286000"/>
                <a:gridCol w="4476750"/>
                <a:gridCol w="4210050"/>
              </a:tblGrid>
              <a:tr h="833438">
                <a:tc>
                  <a:txBody>
                    <a:bodyPr/>
                    <a:lstStyle/>
                    <a:p>
                      <a:r>
                        <a:rPr sz="1500" b="1">
                          <a:solidFill>
                            <a:srgbClr val="FFFFFF"/>
                          </a:solidFill>
                          <a:latin typeface="Arial"/>
                          <a:ea typeface="Arial"/>
                          <a:cs typeface="Arial"/>
                        </a:rPr>
                        <a:t>Group</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Task families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Decision required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33438">
                <a:tc>
                  <a:txBody>
                    <a:bodyPr/>
                    <a:lstStyle/>
                    <a:p>
                      <a:r>
                        <a:rPr sz="1725" b="0">
                          <a:solidFill>
                            <a:srgbClr val="193447"/>
                          </a:solidFill>
                          <a:latin typeface="Arial"/>
                          <a:ea typeface="Arial"/>
                          <a:cs typeface="Arial"/>
                        </a:rPr>
                        <a:t>5 guided repairs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Power, pointing, thermal,</a:t>
                      </a:r>
                    </a:p>
                    <a:p>
                      <a:r>
                        <a:rPr sz="1725" b="0">
                          <a:solidFill>
                            <a:srgbClr val="193447"/>
                          </a:solidFill>
                          <a:latin typeface="Arial"/>
                          <a:ea typeface="Arial"/>
                          <a:cs typeface="Arial"/>
                        </a:rPr>
                        <a:t>radio and fault cascade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Diagnose seeded faults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33438">
                <a:tc>
                  <a:txBody>
                    <a:bodyPr/>
                    <a:lstStyle/>
                    <a:p>
                      <a:r>
                        <a:rPr sz="1725" b="0">
                          <a:solidFill>
                            <a:srgbClr val="193447"/>
                          </a:solidFill>
                          <a:latin typeface="Arial"/>
                          <a:ea typeface="Arial"/>
                          <a:cs typeface="Arial"/>
                        </a:rPr>
                        <a:t>2 radio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RF energy tradeoff</a:t>
                      </a:r>
                    </a:p>
                    <a:p>
                      <a:r>
                        <a:rPr sz="1725" b="0">
                          <a:solidFill>
                            <a:srgbClr val="193447"/>
                          </a:solidFill>
                          <a:latin typeface="Arial"/>
                          <a:ea typeface="Arial"/>
                          <a:cs typeface="Arial"/>
                        </a:rPr>
                        <a:t>Early pass recovery</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Balance link and energy</a:t>
                      </a:r>
                    </a:p>
                    <a:p>
                      <a:r>
                        <a:rPr sz="1725" b="0">
                          <a:solidFill>
                            <a:srgbClr val="193447"/>
                          </a:solidFill>
                          <a:latin typeface="Arial"/>
                          <a:ea typeface="Arial"/>
                          <a:cs typeface="Arial"/>
                        </a:rPr>
                        <a:t>Meet a contact deadline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33438">
                <a:tc>
                  <a:txBody>
                    <a:bodyPr/>
                    <a:lstStyle/>
                    <a:p>
                      <a:r>
                        <a:rPr sz="1725" b="0">
                          <a:solidFill>
                            <a:srgbClr val="193447"/>
                          </a:solidFill>
                          <a:latin typeface="Arial"/>
                          <a:ea typeface="Arial"/>
                          <a:cs typeface="Arial"/>
                        </a:rPr>
                        <a:t>2 payload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Observation scheduling</a:t>
                      </a:r>
                    </a:p>
                    <a:p>
                      <a:r>
                        <a:rPr sz="1725" b="0">
                          <a:solidFill>
                            <a:srgbClr val="193447"/>
                          </a:solidFill>
                          <a:latin typeface="Arial"/>
                          <a:ea typeface="Arial"/>
                          <a:cs typeface="Arial"/>
                        </a:rPr>
                        <a:t>Science store and forward</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Schedule useful exposure</a:t>
                      </a:r>
                    </a:p>
                    <a:p>
                      <a:r>
                        <a:rPr sz="1725" b="0">
                          <a:solidFill>
                            <a:srgbClr val="193447"/>
                          </a:solidFill>
                          <a:latin typeface="Arial"/>
                          <a:ea typeface="Arial"/>
                          <a:cs typeface="Arial"/>
                        </a:rPr>
                        <a:t>Manage storage and contacts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3AB313B7-7337-4451-A044-57E670CFA7AE}"/>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Static nominal and maximum-radio policies fail all measured hard-task cases.</a:t>
            </a:r>
          </a:p>
        </p:txBody>
      </p:sp>
    </p:spTree>
    <p:extLst>
      <p:ext uri="{BB962C8B-B14F-4D97-AF65-F5344CB8AC3E}">
        <p14:creationId xmlns:p14="http://schemas.microsoft.com/office/powerpoint/2010/main" val="63501164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BBCB118F-ACF0-4D4F-9520-F654A184B2E9}"/>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COUPLED TEMPORAL PLANNING</a:t>
            </a:r>
          </a:p>
        </p:txBody>
      </p:sp>
      <p:sp>
        <p:nvSpPr>
          <p:cNvPr id="2" name="">
            <a:extLst xmlns:a="http://schemas.openxmlformats.org/drawingml/2006/main">
              <a:ext uri="{FF2B5EF4-FFF2-40B4-BE49-F238E27FC236}">
                <a16:creationId xmlns:a16="http://schemas.microsoft.com/office/drawing/2014/main" id="{D8463C48-CFE6-4537-B1EF-D8C5B01C4A0A}"/>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Two science windows, one finite buffer</a:t>
            </a:r>
          </a:p>
        </p:txBody>
      </p:sp>
      <p:sp>
        <p:nvSpPr>
          <p:cNvPr id="3" name="">
            <a:extLst xmlns:a="http://schemas.openxmlformats.org/drawingml/2006/main">
              <a:ext uri="{FF2B5EF4-FFF2-40B4-BE49-F238E27FC236}">
                <a16:creationId xmlns:a16="http://schemas.microsoft.com/office/drawing/2014/main" id="{50EC9363-C6B0-4AC7-9B6D-0AD166198849}"/>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FB102673-F490-4B1B-8E36-2C65CD20FBF8}"/>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96174A1E-3813-4E8C-A872-6C23C60646E5}"/>
              </a:ext>
            </a:extLst>
          </p:cNvPr>
          <p:cNvSpPr>
            <a:spLocks xmlns:a="http://schemas.openxmlformats.org/drawingml/2006/main" noGrp="1"/>
          </p:cNvSpPr>
          <p:nvPr/>
        </p:nvSpPr>
        <p:spPr>
          <a:xfrm xmlns:a="http://schemas.openxmlformats.org/drawingml/2006/main">
            <a:off x="609600" y="18288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E83"/>
                </a:solidFill>
                <a:latin typeface="Arial"/>
                <a:ea typeface="Arial"/>
                <a:cs typeface="Arial"/>
              </a:defRPr>
            </a:defPPr>
            <a:lvl1pPr>
              <a:defRPr sz="1800" b="1">
                <a:solidFill>
                  <a:srgbClr val="007E83"/>
                </a:solidFill>
                <a:latin typeface="Arial"/>
                <a:ea typeface="Arial"/>
                <a:cs typeface="Arial"/>
              </a:defRPr>
            </a:lvl1pPr>
            <a:lvl2pPr>
              <a:defRPr sz="1800" b="1">
                <a:solidFill>
                  <a:srgbClr val="007E83"/>
                </a:solidFill>
                <a:latin typeface="Arial"/>
                <a:ea typeface="Arial"/>
                <a:cs typeface="Arial"/>
              </a:defRPr>
            </a:lvl2pPr>
            <a:lvl3pPr>
              <a:defRPr sz="1800" b="1">
                <a:solidFill>
                  <a:srgbClr val="007E83"/>
                </a:solidFill>
                <a:latin typeface="Arial"/>
                <a:ea typeface="Arial"/>
                <a:cs typeface="Arial"/>
              </a:defRPr>
            </a:lvl3pPr>
            <a:lvl4pPr>
              <a:defRPr sz="1800" b="1">
                <a:solidFill>
                  <a:srgbClr val="007E83"/>
                </a:solidFill>
                <a:latin typeface="Arial"/>
                <a:ea typeface="Arial"/>
                <a:cs typeface="Arial"/>
              </a:defRPr>
            </a:lvl4pPr>
            <a:lvl5pPr>
              <a:defRPr sz="1800" b="1">
                <a:solidFill>
                  <a:srgbClr val="007E83"/>
                </a:solidFill>
                <a:latin typeface="Arial"/>
                <a:ea typeface="Arial"/>
                <a:cs typeface="Arial"/>
              </a:defRPr>
            </a:lvl5pPr>
            <a:lvl6pPr>
              <a:defRPr sz="1800" b="1">
                <a:solidFill>
                  <a:srgbClr val="007E83"/>
                </a:solidFill>
                <a:latin typeface="Arial"/>
                <a:ea typeface="Arial"/>
                <a:cs typeface="Arial"/>
              </a:defRPr>
            </a:lvl6pPr>
            <a:lvl7pPr>
              <a:defRPr sz="1800" b="1">
                <a:solidFill>
                  <a:srgbClr val="007E83"/>
                </a:solidFill>
                <a:latin typeface="Arial"/>
                <a:ea typeface="Arial"/>
                <a:cs typeface="Arial"/>
              </a:defRPr>
            </a:lvl7pPr>
            <a:lvl8pPr>
              <a:defRPr sz="1800" b="1">
                <a:solidFill>
                  <a:srgbClr val="007E83"/>
                </a:solidFill>
                <a:latin typeface="Arial"/>
                <a:ea typeface="Arial"/>
                <a:cs typeface="Arial"/>
              </a:defRPr>
            </a:lvl8pPr>
            <a:lvl9pPr>
              <a:defRPr sz="1800" b="1">
                <a:solidFill>
                  <a:srgbClr val="007E83"/>
                </a:solidFill>
                <a:latin typeface="Arial"/>
                <a:ea typeface="Arial"/>
                <a:cs typeface="Arial"/>
              </a:defRPr>
            </a:lvl9pPr>
          </a:lstStyle>
          <a:p xmlns:a="http://schemas.openxmlformats.org/drawingml/2006/main">
            <a:pPr>
              <a:defRPr sz="1800" b="1">
                <a:solidFill>
                  <a:srgbClr val="007E83"/>
                </a:solidFill>
                <a:latin typeface="Arial"/>
                <a:ea typeface="Arial"/>
                <a:cs typeface="Arial"/>
              </a:defRPr>
            </a:pPr>
            <a:r>
              <a:rPr sz="1800" b="1">
                <a:solidFill>
                  <a:srgbClr val="007E83"/>
                </a:solidFill>
                <a:latin typeface="Arial"/>
                <a:ea typeface="Arial"/>
                <a:cs typeface="Arial"/>
              </a:rPr>
              <a:t>Seed 101: the first contact frees storage for the second acquisition</a:t>
            </a:r>
          </a:p>
        </p:txBody>
      </p:sp>
      <p:sp>
        <p:nvSpPr>
          <p:cNvPr id="6" name="">
            <a:extLst xmlns:a="http://schemas.openxmlformats.org/drawingml/2006/main">
              <a:ext uri="{FF2B5EF4-FFF2-40B4-BE49-F238E27FC236}">
                <a16:creationId xmlns:a16="http://schemas.microsoft.com/office/drawing/2014/main" id="{3E8999C7-CE09-4EFA-A29E-ADDABD28E2E8}"/>
              </a:ext>
            </a:extLst>
          </p:cNvPr>
          <p:cNvSpPr>
            <a:spLocks xmlns:a="http://schemas.openxmlformats.org/drawingml/2006/main" noGrp="1"/>
          </p:cNvSpPr>
          <p:nvPr/>
        </p:nvSpPr>
        <p:spPr>
          <a:xfrm xmlns:a="http://schemas.openxmlformats.org/drawingml/2006/main">
            <a:off x="609600" y="2619375"/>
            <a:ext cx="2047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02539"/>
                </a:solidFill>
                <a:latin typeface="Arial"/>
                <a:ea typeface="Arial"/>
                <a:cs typeface="Arial"/>
              </a:defRPr>
            </a:defPPr>
            <a:lvl1pPr>
              <a:defRPr sz="1875" b="1">
                <a:solidFill>
                  <a:srgbClr val="102539"/>
                </a:solidFill>
                <a:latin typeface="Arial"/>
                <a:ea typeface="Arial"/>
                <a:cs typeface="Arial"/>
              </a:defRPr>
            </a:lvl1pPr>
            <a:lvl2pPr>
              <a:defRPr sz="1875" b="1">
                <a:solidFill>
                  <a:srgbClr val="102539"/>
                </a:solidFill>
                <a:latin typeface="Arial"/>
                <a:ea typeface="Arial"/>
                <a:cs typeface="Arial"/>
              </a:defRPr>
            </a:lvl2pPr>
            <a:lvl3pPr>
              <a:defRPr sz="1875" b="1">
                <a:solidFill>
                  <a:srgbClr val="102539"/>
                </a:solidFill>
                <a:latin typeface="Arial"/>
                <a:ea typeface="Arial"/>
                <a:cs typeface="Arial"/>
              </a:defRPr>
            </a:lvl3pPr>
            <a:lvl4pPr>
              <a:defRPr sz="1875" b="1">
                <a:solidFill>
                  <a:srgbClr val="102539"/>
                </a:solidFill>
                <a:latin typeface="Arial"/>
                <a:ea typeface="Arial"/>
                <a:cs typeface="Arial"/>
              </a:defRPr>
            </a:lvl4pPr>
            <a:lvl5pPr>
              <a:defRPr sz="1875" b="1">
                <a:solidFill>
                  <a:srgbClr val="102539"/>
                </a:solidFill>
                <a:latin typeface="Arial"/>
                <a:ea typeface="Arial"/>
                <a:cs typeface="Arial"/>
              </a:defRPr>
            </a:lvl5pPr>
            <a:lvl6pPr>
              <a:defRPr sz="1875" b="1">
                <a:solidFill>
                  <a:srgbClr val="102539"/>
                </a:solidFill>
                <a:latin typeface="Arial"/>
                <a:ea typeface="Arial"/>
                <a:cs typeface="Arial"/>
              </a:defRPr>
            </a:lvl6pPr>
            <a:lvl7pPr>
              <a:defRPr sz="1875" b="1">
                <a:solidFill>
                  <a:srgbClr val="102539"/>
                </a:solidFill>
                <a:latin typeface="Arial"/>
                <a:ea typeface="Arial"/>
                <a:cs typeface="Arial"/>
              </a:defRPr>
            </a:lvl7pPr>
            <a:lvl8pPr>
              <a:defRPr sz="1875" b="1">
                <a:solidFill>
                  <a:srgbClr val="102539"/>
                </a:solidFill>
                <a:latin typeface="Arial"/>
                <a:ea typeface="Arial"/>
                <a:cs typeface="Arial"/>
              </a:defRPr>
            </a:lvl8pPr>
            <a:lvl9pPr>
              <a:defRPr sz="1875" b="1">
                <a:solidFill>
                  <a:srgbClr val="102539"/>
                </a:solidFill>
                <a:latin typeface="Arial"/>
                <a:ea typeface="Arial"/>
                <a:cs typeface="Arial"/>
              </a:defRPr>
            </a:lvl9pPr>
          </a:lstStyle>
          <a:p xmlns:a="http://schemas.openxmlformats.org/drawingml/2006/main">
            <a:pPr>
              <a:defRPr sz="1875" b="1">
                <a:solidFill>
                  <a:srgbClr val="102539"/>
                </a:solidFill>
                <a:latin typeface="Arial"/>
                <a:ea typeface="Arial"/>
                <a:cs typeface="Arial"/>
              </a:defRPr>
            </a:pPr>
            <a:r>
              <a:rPr sz="1875" b="1">
                <a:solidFill>
                  <a:srgbClr val="102539"/>
                </a:solidFill>
                <a:latin typeface="Arial"/>
                <a:ea typeface="Arial"/>
                <a:cs typeface="Arial"/>
              </a:rPr>
              <a:t>Acquisition</a:t>
            </a:r>
          </a:p>
        </p:txBody>
      </p:sp>
      <p:sp>
        <p:nvSpPr>
          <p:cNvPr id="7" name="">
            <a:extLst xmlns:a="http://schemas.openxmlformats.org/drawingml/2006/main">
              <a:ext uri="{FF2B5EF4-FFF2-40B4-BE49-F238E27FC236}">
                <a16:creationId xmlns:a16="http://schemas.microsoft.com/office/drawing/2014/main" id="{196F74C3-110E-48B1-AAE3-38A999A38418}"/>
              </a:ext>
            </a:extLst>
          </p:cNvPr>
          <p:cNvSpPr>
            <a:spLocks xmlns:a="http://schemas.openxmlformats.org/drawingml/2006/main" noGrp="1"/>
          </p:cNvSpPr>
          <p:nvPr/>
        </p:nvSpPr>
        <p:spPr>
          <a:xfrm xmlns:a="http://schemas.openxmlformats.org/drawingml/2006/main">
            <a:off x="2857500" y="2905125"/>
            <a:ext cx="8477250" cy="19050"/>
          </a:xfrm>
          <a:prstGeom xmlns:a="http://schemas.openxmlformats.org/drawingml/2006/main" prst="rect">
            <a:avLst/>
          </a:prstGeom>
          <a:solidFill xmlns:a="http://schemas.openxmlformats.org/drawingml/2006/main">
            <a:srgbClr val="D6E2E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9CABC80-CCEF-4645-9D1D-8FBF2E712425}"/>
              </a:ext>
            </a:extLst>
          </p:cNvPr>
          <p:cNvSpPr>
            <a:spLocks xmlns:a="http://schemas.openxmlformats.org/drawingml/2006/main" noGrp="1"/>
          </p:cNvSpPr>
          <p:nvPr/>
        </p:nvSpPr>
        <p:spPr>
          <a:xfrm xmlns:a="http://schemas.openxmlformats.org/drawingml/2006/main">
            <a:off x="4552950" y="2686050"/>
            <a:ext cx="446171" cy="238125"/>
          </a:xfrm>
          <a:prstGeom xmlns:a="http://schemas.openxmlformats.org/drawingml/2006/main" prst="rect">
            <a:avLst/>
          </a:prstGeom>
          <a:solidFill xmlns:a="http://schemas.openxmlformats.org/drawingml/2006/main">
            <a:srgbClr val="007E8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C8ACB9-AAEB-489B-8A54-43444CE986D1}"/>
              </a:ext>
            </a:extLst>
          </p:cNvPr>
          <p:cNvSpPr>
            <a:spLocks xmlns:a="http://schemas.openxmlformats.org/drawingml/2006/main" noGrp="1"/>
          </p:cNvSpPr>
          <p:nvPr/>
        </p:nvSpPr>
        <p:spPr>
          <a:xfrm xmlns:a="http://schemas.openxmlformats.org/drawingml/2006/main">
            <a:off x="3966411" y="23431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07E83"/>
                </a:solidFill>
                <a:latin typeface="Arial"/>
                <a:ea typeface="Arial"/>
                <a:cs typeface="Arial"/>
              </a:defRPr>
            </a:defPPr>
            <a:lvl1pPr>
              <a:defRPr sz="1575" b="1">
                <a:solidFill>
                  <a:srgbClr val="007E83"/>
                </a:solidFill>
                <a:latin typeface="Arial"/>
                <a:ea typeface="Arial"/>
                <a:cs typeface="Arial"/>
              </a:defRPr>
            </a:lvl1pPr>
            <a:lvl2pPr>
              <a:defRPr sz="1575" b="1">
                <a:solidFill>
                  <a:srgbClr val="007E83"/>
                </a:solidFill>
                <a:latin typeface="Arial"/>
                <a:ea typeface="Arial"/>
                <a:cs typeface="Arial"/>
              </a:defRPr>
            </a:lvl2pPr>
            <a:lvl3pPr>
              <a:defRPr sz="1575" b="1">
                <a:solidFill>
                  <a:srgbClr val="007E83"/>
                </a:solidFill>
                <a:latin typeface="Arial"/>
                <a:ea typeface="Arial"/>
                <a:cs typeface="Arial"/>
              </a:defRPr>
            </a:lvl3pPr>
            <a:lvl4pPr>
              <a:defRPr sz="1575" b="1">
                <a:solidFill>
                  <a:srgbClr val="007E83"/>
                </a:solidFill>
                <a:latin typeface="Arial"/>
                <a:ea typeface="Arial"/>
                <a:cs typeface="Arial"/>
              </a:defRPr>
            </a:lvl4pPr>
            <a:lvl5pPr>
              <a:defRPr sz="1575" b="1">
                <a:solidFill>
                  <a:srgbClr val="007E83"/>
                </a:solidFill>
                <a:latin typeface="Arial"/>
                <a:ea typeface="Arial"/>
                <a:cs typeface="Arial"/>
              </a:defRPr>
            </a:lvl5pPr>
            <a:lvl6pPr>
              <a:defRPr sz="1575" b="1">
                <a:solidFill>
                  <a:srgbClr val="007E83"/>
                </a:solidFill>
                <a:latin typeface="Arial"/>
                <a:ea typeface="Arial"/>
                <a:cs typeface="Arial"/>
              </a:defRPr>
            </a:lvl6pPr>
            <a:lvl7pPr>
              <a:defRPr sz="1575" b="1">
                <a:solidFill>
                  <a:srgbClr val="007E83"/>
                </a:solidFill>
                <a:latin typeface="Arial"/>
                <a:ea typeface="Arial"/>
                <a:cs typeface="Arial"/>
              </a:defRPr>
            </a:lvl7pPr>
            <a:lvl8pPr>
              <a:defRPr sz="1575" b="1">
                <a:solidFill>
                  <a:srgbClr val="007E83"/>
                </a:solidFill>
                <a:latin typeface="Arial"/>
                <a:ea typeface="Arial"/>
                <a:cs typeface="Arial"/>
              </a:defRPr>
            </a:lvl8pPr>
            <a:lvl9pPr>
              <a:defRPr sz="1575" b="1">
                <a:solidFill>
                  <a:srgbClr val="007E83"/>
                </a:solidFill>
                <a:latin typeface="Arial"/>
                <a:ea typeface="Arial"/>
                <a:cs typeface="Arial"/>
              </a:defRPr>
            </a:lvl9pPr>
          </a:lstStyle>
          <a:p xmlns:a="http://schemas.openxmlformats.org/drawingml/2006/main">
            <a:pPr>
              <a:defRPr sz="1575" b="1">
                <a:solidFill>
                  <a:srgbClr val="007E83"/>
                </a:solidFill>
                <a:latin typeface="Arial"/>
                <a:ea typeface="Arial"/>
                <a:cs typeface="Arial"/>
              </a:defRPr>
            </a:pPr>
            <a:r>
              <a:rPr sz="1575" b="1">
                <a:solidFill>
                  <a:srgbClr val="007E83"/>
                </a:solidFill>
                <a:latin typeface="Arial"/>
                <a:ea typeface="Arial"/>
                <a:cs typeface="Arial"/>
              </a:rPr>
              <a:t>19–24 min</a:t>
            </a:r>
          </a:p>
        </p:txBody>
      </p:sp>
      <p:sp>
        <p:nvSpPr>
          <p:cNvPr id="10" name="">
            <a:extLst xmlns:a="http://schemas.openxmlformats.org/drawingml/2006/main">
              <a:ext uri="{FF2B5EF4-FFF2-40B4-BE49-F238E27FC236}">
                <a16:creationId xmlns:a16="http://schemas.microsoft.com/office/drawing/2014/main" id="{7B6EC9A8-DCEC-4E10-9E0A-2C9D2E50FB94}"/>
              </a:ext>
            </a:extLst>
          </p:cNvPr>
          <p:cNvSpPr>
            <a:spLocks xmlns:a="http://schemas.openxmlformats.org/drawingml/2006/main" noGrp="1"/>
          </p:cNvSpPr>
          <p:nvPr/>
        </p:nvSpPr>
        <p:spPr>
          <a:xfrm xmlns:a="http://schemas.openxmlformats.org/drawingml/2006/main">
            <a:off x="3871161" y="303847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270 s collected</a:t>
            </a:r>
          </a:p>
        </p:txBody>
      </p:sp>
      <p:sp>
        <p:nvSpPr>
          <p:cNvPr id="11" name="">
            <a:extLst xmlns:a="http://schemas.openxmlformats.org/drawingml/2006/main">
              <a:ext uri="{FF2B5EF4-FFF2-40B4-BE49-F238E27FC236}">
                <a16:creationId xmlns:a16="http://schemas.microsoft.com/office/drawing/2014/main" id="{C9B66BA1-EB1E-47FC-BAD4-785715BBA75B}"/>
              </a:ext>
            </a:extLst>
          </p:cNvPr>
          <p:cNvSpPr>
            <a:spLocks xmlns:a="http://schemas.openxmlformats.org/drawingml/2006/main" noGrp="1"/>
          </p:cNvSpPr>
          <p:nvPr/>
        </p:nvSpPr>
        <p:spPr>
          <a:xfrm xmlns:a="http://schemas.openxmlformats.org/drawingml/2006/main">
            <a:off x="7229976" y="2686050"/>
            <a:ext cx="356937" cy="238125"/>
          </a:xfrm>
          <a:prstGeom xmlns:a="http://schemas.openxmlformats.org/drawingml/2006/main" prst="rect">
            <a:avLst/>
          </a:prstGeom>
          <a:solidFill xmlns:a="http://schemas.openxmlformats.org/drawingml/2006/main">
            <a:srgbClr val="007E83"/>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095F05D-6D6C-45EC-B771-A17B20002E6B}"/>
              </a:ext>
            </a:extLst>
          </p:cNvPr>
          <p:cNvSpPr>
            <a:spLocks xmlns:a="http://schemas.openxmlformats.org/drawingml/2006/main" noGrp="1"/>
          </p:cNvSpPr>
          <p:nvPr/>
        </p:nvSpPr>
        <p:spPr>
          <a:xfrm xmlns:a="http://schemas.openxmlformats.org/drawingml/2006/main">
            <a:off x="6598820" y="23431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07E83"/>
                </a:solidFill>
                <a:latin typeface="Arial"/>
                <a:ea typeface="Arial"/>
                <a:cs typeface="Arial"/>
              </a:defRPr>
            </a:defPPr>
            <a:lvl1pPr>
              <a:defRPr sz="1575" b="1">
                <a:solidFill>
                  <a:srgbClr val="007E83"/>
                </a:solidFill>
                <a:latin typeface="Arial"/>
                <a:ea typeface="Arial"/>
                <a:cs typeface="Arial"/>
              </a:defRPr>
            </a:lvl1pPr>
            <a:lvl2pPr>
              <a:defRPr sz="1575" b="1">
                <a:solidFill>
                  <a:srgbClr val="007E83"/>
                </a:solidFill>
                <a:latin typeface="Arial"/>
                <a:ea typeface="Arial"/>
                <a:cs typeface="Arial"/>
              </a:defRPr>
            </a:lvl2pPr>
            <a:lvl3pPr>
              <a:defRPr sz="1575" b="1">
                <a:solidFill>
                  <a:srgbClr val="007E83"/>
                </a:solidFill>
                <a:latin typeface="Arial"/>
                <a:ea typeface="Arial"/>
                <a:cs typeface="Arial"/>
              </a:defRPr>
            </a:lvl3pPr>
            <a:lvl4pPr>
              <a:defRPr sz="1575" b="1">
                <a:solidFill>
                  <a:srgbClr val="007E83"/>
                </a:solidFill>
                <a:latin typeface="Arial"/>
                <a:ea typeface="Arial"/>
                <a:cs typeface="Arial"/>
              </a:defRPr>
            </a:lvl4pPr>
            <a:lvl5pPr>
              <a:defRPr sz="1575" b="1">
                <a:solidFill>
                  <a:srgbClr val="007E83"/>
                </a:solidFill>
                <a:latin typeface="Arial"/>
                <a:ea typeface="Arial"/>
                <a:cs typeface="Arial"/>
              </a:defRPr>
            </a:lvl5pPr>
            <a:lvl6pPr>
              <a:defRPr sz="1575" b="1">
                <a:solidFill>
                  <a:srgbClr val="007E83"/>
                </a:solidFill>
                <a:latin typeface="Arial"/>
                <a:ea typeface="Arial"/>
                <a:cs typeface="Arial"/>
              </a:defRPr>
            </a:lvl6pPr>
            <a:lvl7pPr>
              <a:defRPr sz="1575" b="1">
                <a:solidFill>
                  <a:srgbClr val="007E83"/>
                </a:solidFill>
                <a:latin typeface="Arial"/>
                <a:ea typeface="Arial"/>
                <a:cs typeface="Arial"/>
              </a:defRPr>
            </a:lvl7pPr>
            <a:lvl8pPr>
              <a:defRPr sz="1575" b="1">
                <a:solidFill>
                  <a:srgbClr val="007E83"/>
                </a:solidFill>
                <a:latin typeface="Arial"/>
                <a:ea typeface="Arial"/>
                <a:cs typeface="Arial"/>
              </a:defRPr>
            </a:lvl8pPr>
            <a:lvl9pPr>
              <a:defRPr sz="1575" b="1">
                <a:solidFill>
                  <a:srgbClr val="007E83"/>
                </a:solidFill>
                <a:latin typeface="Arial"/>
                <a:ea typeface="Arial"/>
                <a:cs typeface="Arial"/>
              </a:defRPr>
            </a:lvl9pPr>
          </a:lstStyle>
          <a:p xmlns:a="http://schemas.openxmlformats.org/drawingml/2006/main">
            <a:pPr>
              <a:defRPr sz="1575" b="1">
                <a:solidFill>
                  <a:srgbClr val="007E83"/>
                </a:solidFill>
                <a:latin typeface="Arial"/>
                <a:ea typeface="Arial"/>
                <a:cs typeface="Arial"/>
              </a:defRPr>
            </a:pPr>
            <a:r>
              <a:rPr sz="1575" b="1">
                <a:solidFill>
                  <a:srgbClr val="007E83"/>
                </a:solidFill>
                <a:latin typeface="Arial"/>
                <a:ea typeface="Arial"/>
                <a:cs typeface="Arial"/>
              </a:rPr>
              <a:t>49–53 min</a:t>
            </a:r>
          </a:p>
        </p:txBody>
      </p:sp>
      <p:sp>
        <p:nvSpPr>
          <p:cNvPr id="13" name="">
            <a:extLst xmlns:a="http://schemas.openxmlformats.org/drawingml/2006/main">
              <a:ext uri="{FF2B5EF4-FFF2-40B4-BE49-F238E27FC236}">
                <a16:creationId xmlns:a16="http://schemas.microsoft.com/office/drawing/2014/main" id="{5334BB41-AA59-4EC1-BE8D-5BB46DF57B14}"/>
              </a:ext>
            </a:extLst>
          </p:cNvPr>
          <p:cNvSpPr>
            <a:spLocks xmlns:a="http://schemas.openxmlformats.org/drawingml/2006/main" noGrp="1"/>
          </p:cNvSpPr>
          <p:nvPr/>
        </p:nvSpPr>
        <p:spPr>
          <a:xfrm xmlns:a="http://schemas.openxmlformats.org/drawingml/2006/main">
            <a:off x="6503570" y="303847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240 s collected</a:t>
            </a:r>
          </a:p>
        </p:txBody>
      </p:sp>
      <p:sp>
        <p:nvSpPr>
          <p:cNvPr id="14" name="">
            <a:extLst xmlns:a="http://schemas.openxmlformats.org/drawingml/2006/main">
              <a:ext uri="{FF2B5EF4-FFF2-40B4-BE49-F238E27FC236}">
                <a16:creationId xmlns:a16="http://schemas.microsoft.com/office/drawing/2014/main" id="{18C40541-9B10-4EC9-9E89-DD281AE11011}"/>
              </a:ext>
            </a:extLst>
          </p:cNvPr>
          <p:cNvSpPr>
            <a:spLocks xmlns:a="http://schemas.openxmlformats.org/drawingml/2006/main" noGrp="1"/>
          </p:cNvSpPr>
          <p:nvPr/>
        </p:nvSpPr>
        <p:spPr>
          <a:xfrm xmlns:a="http://schemas.openxmlformats.org/drawingml/2006/main">
            <a:off x="609600" y="3686175"/>
            <a:ext cx="2047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02539"/>
                </a:solidFill>
                <a:latin typeface="Arial"/>
                <a:ea typeface="Arial"/>
                <a:cs typeface="Arial"/>
              </a:defRPr>
            </a:defPPr>
            <a:lvl1pPr>
              <a:defRPr sz="1875" b="1">
                <a:solidFill>
                  <a:srgbClr val="102539"/>
                </a:solidFill>
                <a:latin typeface="Arial"/>
                <a:ea typeface="Arial"/>
                <a:cs typeface="Arial"/>
              </a:defRPr>
            </a:lvl1pPr>
            <a:lvl2pPr>
              <a:defRPr sz="1875" b="1">
                <a:solidFill>
                  <a:srgbClr val="102539"/>
                </a:solidFill>
                <a:latin typeface="Arial"/>
                <a:ea typeface="Arial"/>
                <a:cs typeface="Arial"/>
              </a:defRPr>
            </a:lvl2pPr>
            <a:lvl3pPr>
              <a:defRPr sz="1875" b="1">
                <a:solidFill>
                  <a:srgbClr val="102539"/>
                </a:solidFill>
                <a:latin typeface="Arial"/>
                <a:ea typeface="Arial"/>
                <a:cs typeface="Arial"/>
              </a:defRPr>
            </a:lvl3pPr>
            <a:lvl4pPr>
              <a:defRPr sz="1875" b="1">
                <a:solidFill>
                  <a:srgbClr val="102539"/>
                </a:solidFill>
                <a:latin typeface="Arial"/>
                <a:ea typeface="Arial"/>
                <a:cs typeface="Arial"/>
              </a:defRPr>
            </a:lvl4pPr>
            <a:lvl5pPr>
              <a:defRPr sz="1875" b="1">
                <a:solidFill>
                  <a:srgbClr val="102539"/>
                </a:solidFill>
                <a:latin typeface="Arial"/>
                <a:ea typeface="Arial"/>
                <a:cs typeface="Arial"/>
              </a:defRPr>
            </a:lvl5pPr>
            <a:lvl6pPr>
              <a:defRPr sz="1875" b="1">
                <a:solidFill>
                  <a:srgbClr val="102539"/>
                </a:solidFill>
                <a:latin typeface="Arial"/>
                <a:ea typeface="Arial"/>
                <a:cs typeface="Arial"/>
              </a:defRPr>
            </a:lvl6pPr>
            <a:lvl7pPr>
              <a:defRPr sz="1875" b="1">
                <a:solidFill>
                  <a:srgbClr val="102539"/>
                </a:solidFill>
                <a:latin typeface="Arial"/>
                <a:ea typeface="Arial"/>
                <a:cs typeface="Arial"/>
              </a:defRPr>
            </a:lvl7pPr>
            <a:lvl8pPr>
              <a:defRPr sz="1875" b="1">
                <a:solidFill>
                  <a:srgbClr val="102539"/>
                </a:solidFill>
                <a:latin typeface="Arial"/>
                <a:ea typeface="Arial"/>
                <a:cs typeface="Arial"/>
              </a:defRPr>
            </a:lvl8pPr>
            <a:lvl9pPr>
              <a:defRPr sz="1875" b="1">
                <a:solidFill>
                  <a:srgbClr val="102539"/>
                </a:solidFill>
                <a:latin typeface="Arial"/>
                <a:ea typeface="Arial"/>
                <a:cs typeface="Arial"/>
              </a:defRPr>
            </a:lvl9pPr>
          </a:lstStyle>
          <a:p xmlns:a="http://schemas.openxmlformats.org/drawingml/2006/main">
            <a:pPr>
              <a:defRPr sz="1875" b="1">
                <a:solidFill>
                  <a:srgbClr val="102539"/>
                </a:solidFill>
                <a:latin typeface="Arial"/>
                <a:ea typeface="Arial"/>
                <a:cs typeface="Arial"/>
              </a:defRPr>
            </a:pPr>
            <a:r>
              <a:rPr sz="1875" b="1">
                <a:solidFill>
                  <a:srgbClr val="102539"/>
                </a:solidFill>
                <a:latin typeface="Arial"/>
                <a:ea typeface="Arial"/>
                <a:cs typeface="Arial"/>
              </a:rPr>
              <a:t>Radio contacts</a:t>
            </a:r>
          </a:p>
        </p:txBody>
      </p:sp>
      <p:sp>
        <p:nvSpPr>
          <p:cNvPr id="15" name="">
            <a:extLst xmlns:a="http://schemas.openxmlformats.org/drawingml/2006/main">
              <a:ext uri="{FF2B5EF4-FFF2-40B4-BE49-F238E27FC236}">
                <a16:creationId xmlns:a16="http://schemas.microsoft.com/office/drawing/2014/main" id="{110E938A-775B-4C31-A006-7250B629DA64}"/>
              </a:ext>
            </a:extLst>
          </p:cNvPr>
          <p:cNvSpPr>
            <a:spLocks xmlns:a="http://schemas.openxmlformats.org/drawingml/2006/main" noGrp="1"/>
          </p:cNvSpPr>
          <p:nvPr/>
        </p:nvSpPr>
        <p:spPr>
          <a:xfrm xmlns:a="http://schemas.openxmlformats.org/drawingml/2006/main">
            <a:off x="2857500" y="3971925"/>
            <a:ext cx="8477250" cy="19050"/>
          </a:xfrm>
          <a:prstGeom xmlns:a="http://schemas.openxmlformats.org/drawingml/2006/main" prst="rect">
            <a:avLst/>
          </a:prstGeom>
          <a:solidFill xmlns:a="http://schemas.openxmlformats.org/drawingml/2006/main">
            <a:srgbClr val="D6E2E8"/>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F618207-14A7-4AE1-9253-C101AF510BF3}"/>
              </a:ext>
            </a:extLst>
          </p:cNvPr>
          <p:cNvSpPr>
            <a:spLocks xmlns:a="http://schemas.openxmlformats.org/drawingml/2006/main" noGrp="1"/>
          </p:cNvSpPr>
          <p:nvPr/>
        </p:nvSpPr>
        <p:spPr>
          <a:xfrm xmlns:a="http://schemas.openxmlformats.org/drawingml/2006/main">
            <a:off x="5445292" y="3752850"/>
            <a:ext cx="356937" cy="238125"/>
          </a:xfrm>
          <a:prstGeom xmlns:a="http://schemas.openxmlformats.org/drawingml/2006/main" prst="rect">
            <a:avLst/>
          </a:prstGeom>
          <a:solidFill xmlns:a="http://schemas.openxmlformats.org/drawingml/2006/main">
            <a:srgbClr val="10253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6EC592A-18B2-4921-971D-197634916F74}"/>
              </a:ext>
            </a:extLst>
          </p:cNvPr>
          <p:cNvSpPr>
            <a:spLocks xmlns:a="http://schemas.openxmlformats.org/drawingml/2006/main" noGrp="1"/>
          </p:cNvSpPr>
          <p:nvPr/>
        </p:nvSpPr>
        <p:spPr>
          <a:xfrm xmlns:a="http://schemas.openxmlformats.org/drawingml/2006/main">
            <a:off x="4814136" y="34099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102539"/>
                </a:solidFill>
                <a:latin typeface="Arial"/>
                <a:ea typeface="Arial"/>
                <a:cs typeface="Arial"/>
              </a:defRPr>
            </a:defPPr>
            <a:lvl1pPr>
              <a:defRPr sz="1575" b="1">
                <a:solidFill>
                  <a:srgbClr val="102539"/>
                </a:solidFill>
                <a:latin typeface="Arial"/>
                <a:ea typeface="Arial"/>
                <a:cs typeface="Arial"/>
              </a:defRPr>
            </a:lvl1pPr>
            <a:lvl2pPr>
              <a:defRPr sz="1575" b="1">
                <a:solidFill>
                  <a:srgbClr val="102539"/>
                </a:solidFill>
                <a:latin typeface="Arial"/>
                <a:ea typeface="Arial"/>
                <a:cs typeface="Arial"/>
              </a:defRPr>
            </a:lvl2pPr>
            <a:lvl3pPr>
              <a:defRPr sz="1575" b="1">
                <a:solidFill>
                  <a:srgbClr val="102539"/>
                </a:solidFill>
                <a:latin typeface="Arial"/>
                <a:ea typeface="Arial"/>
                <a:cs typeface="Arial"/>
              </a:defRPr>
            </a:lvl3pPr>
            <a:lvl4pPr>
              <a:defRPr sz="1575" b="1">
                <a:solidFill>
                  <a:srgbClr val="102539"/>
                </a:solidFill>
                <a:latin typeface="Arial"/>
                <a:ea typeface="Arial"/>
                <a:cs typeface="Arial"/>
              </a:defRPr>
            </a:lvl4pPr>
            <a:lvl5pPr>
              <a:defRPr sz="1575" b="1">
                <a:solidFill>
                  <a:srgbClr val="102539"/>
                </a:solidFill>
                <a:latin typeface="Arial"/>
                <a:ea typeface="Arial"/>
                <a:cs typeface="Arial"/>
              </a:defRPr>
            </a:lvl5pPr>
            <a:lvl6pPr>
              <a:defRPr sz="1575" b="1">
                <a:solidFill>
                  <a:srgbClr val="102539"/>
                </a:solidFill>
                <a:latin typeface="Arial"/>
                <a:ea typeface="Arial"/>
                <a:cs typeface="Arial"/>
              </a:defRPr>
            </a:lvl6pPr>
            <a:lvl7pPr>
              <a:defRPr sz="1575" b="1">
                <a:solidFill>
                  <a:srgbClr val="102539"/>
                </a:solidFill>
                <a:latin typeface="Arial"/>
                <a:ea typeface="Arial"/>
                <a:cs typeface="Arial"/>
              </a:defRPr>
            </a:lvl7pPr>
            <a:lvl8pPr>
              <a:defRPr sz="1575" b="1">
                <a:solidFill>
                  <a:srgbClr val="102539"/>
                </a:solidFill>
                <a:latin typeface="Arial"/>
                <a:ea typeface="Arial"/>
                <a:cs typeface="Arial"/>
              </a:defRPr>
            </a:lvl8pPr>
            <a:lvl9pPr>
              <a:defRPr sz="1575" b="1">
                <a:solidFill>
                  <a:srgbClr val="102539"/>
                </a:solidFill>
                <a:latin typeface="Arial"/>
                <a:ea typeface="Arial"/>
                <a:cs typeface="Arial"/>
              </a:defRPr>
            </a:lvl9pPr>
          </a:lstStyle>
          <a:p xmlns:a="http://schemas.openxmlformats.org/drawingml/2006/main">
            <a:pPr>
              <a:defRPr sz="1575" b="1">
                <a:solidFill>
                  <a:srgbClr val="102539"/>
                </a:solidFill>
                <a:latin typeface="Arial"/>
                <a:ea typeface="Arial"/>
                <a:cs typeface="Arial"/>
              </a:defRPr>
            </a:pPr>
            <a:r>
              <a:rPr sz="1575" b="1">
                <a:solidFill>
                  <a:srgbClr val="102539"/>
                </a:solidFill>
                <a:latin typeface="Arial"/>
                <a:ea typeface="Arial"/>
                <a:cs typeface="Arial"/>
              </a:rPr>
              <a:t>29–33 min</a:t>
            </a:r>
          </a:p>
        </p:txBody>
      </p:sp>
      <p:sp>
        <p:nvSpPr>
          <p:cNvPr id="18" name="">
            <a:extLst xmlns:a="http://schemas.openxmlformats.org/drawingml/2006/main">
              <a:ext uri="{FF2B5EF4-FFF2-40B4-BE49-F238E27FC236}">
                <a16:creationId xmlns:a16="http://schemas.microsoft.com/office/drawing/2014/main" id="{86542604-59A8-4145-A13D-9C3008C477C6}"/>
              </a:ext>
            </a:extLst>
          </p:cNvPr>
          <p:cNvSpPr>
            <a:spLocks xmlns:a="http://schemas.openxmlformats.org/drawingml/2006/main" noGrp="1"/>
          </p:cNvSpPr>
          <p:nvPr/>
        </p:nvSpPr>
        <p:spPr>
          <a:xfrm xmlns:a="http://schemas.openxmlformats.org/drawingml/2006/main">
            <a:off x="4661736" y="4105275"/>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513 kB delivered</a:t>
            </a:r>
          </a:p>
        </p:txBody>
      </p:sp>
      <p:sp>
        <p:nvSpPr>
          <p:cNvPr id="19" name="">
            <a:extLst xmlns:a="http://schemas.openxmlformats.org/drawingml/2006/main">
              <a:ext uri="{FF2B5EF4-FFF2-40B4-BE49-F238E27FC236}">
                <a16:creationId xmlns:a16="http://schemas.microsoft.com/office/drawing/2014/main" id="{73D2AB65-9B96-425A-9494-341181020DD5}"/>
              </a:ext>
            </a:extLst>
          </p:cNvPr>
          <p:cNvSpPr>
            <a:spLocks xmlns:a="http://schemas.openxmlformats.org/drawingml/2006/main" noGrp="1"/>
          </p:cNvSpPr>
          <p:nvPr/>
        </p:nvSpPr>
        <p:spPr>
          <a:xfrm xmlns:a="http://schemas.openxmlformats.org/drawingml/2006/main">
            <a:off x="9460832" y="3752850"/>
            <a:ext cx="356937" cy="238125"/>
          </a:xfrm>
          <a:prstGeom xmlns:a="http://schemas.openxmlformats.org/drawingml/2006/main" prst="rect">
            <a:avLst/>
          </a:prstGeom>
          <a:solidFill xmlns:a="http://schemas.openxmlformats.org/drawingml/2006/main">
            <a:srgbClr val="10253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02CA9E0-D16B-4F21-99EC-893C63E3ABB5}"/>
              </a:ext>
            </a:extLst>
          </p:cNvPr>
          <p:cNvSpPr>
            <a:spLocks xmlns:a="http://schemas.openxmlformats.org/drawingml/2006/main" noGrp="1"/>
          </p:cNvSpPr>
          <p:nvPr/>
        </p:nvSpPr>
        <p:spPr>
          <a:xfrm xmlns:a="http://schemas.openxmlformats.org/drawingml/2006/main">
            <a:off x="8829675" y="34099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102539"/>
                </a:solidFill>
                <a:latin typeface="Arial"/>
                <a:ea typeface="Arial"/>
                <a:cs typeface="Arial"/>
              </a:defRPr>
            </a:defPPr>
            <a:lvl1pPr>
              <a:defRPr sz="1575" b="1">
                <a:solidFill>
                  <a:srgbClr val="102539"/>
                </a:solidFill>
                <a:latin typeface="Arial"/>
                <a:ea typeface="Arial"/>
                <a:cs typeface="Arial"/>
              </a:defRPr>
            </a:lvl1pPr>
            <a:lvl2pPr>
              <a:defRPr sz="1575" b="1">
                <a:solidFill>
                  <a:srgbClr val="102539"/>
                </a:solidFill>
                <a:latin typeface="Arial"/>
                <a:ea typeface="Arial"/>
                <a:cs typeface="Arial"/>
              </a:defRPr>
            </a:lvl2pPr>
            <a:lvl3pPr>
              <a:defRPr sz="1575" b="1">
                <a:solidFill>
                  <a:srgbClr val="102539"/>
                </a:solidFill>
                <a:latin typeface="Arial"/>
                <a:ea typeface="Arial"/>
                <a:cs typeface="Arial"/>
              </a:defRPr>
            </a:lvl3pPr>
            <a:lvl4pPr>
              <a:defRPr sz="1575" b="1">
                <a:solidFill>
                  <a:srgbClr val="102539"/>
                </a:solidFill>
                <a:latin typeface="Arial"/>
                <a:ea typeface="Arial"/>
                <a:cs typeface="Arial"/>
              </a:defRPr>
            </a:lvl4pPr>
            <a:lvl5pPr>
              <a:defRPr sz="1575" b="1">
                <a:solidFill>
                  <a:srgbClr val="102539"/>
                </a:solidFill>
                <a:latin typeface="Arial"/>
                <a:ea typeface="Arial"/>
                <a:cs typeface="Arial"/>
              </a:defRPr>
            </a:lvl5pPr>
            <a:lvl6pPr>
              <a:defRPr sz="1575" b="1">
                <a:solidFill>
                  <a:srgbClr val="102539"/>
                </a:solidFill>
                <a:latin typeface="Arial"/>
                <a:ea typeface="Arial"/>
                <a:cs typeface="Arial"/>
              </a:defRPr>
            </a:lvl6pPr>
            <a:lvl7pPr>
              <a:defRPr sz="1575" b="1">
                <a:solidFill>
                  <a:srgbClr val="102539"/>
                </a:solidFill>
                <a:latin typeface="Arial"/>
                <a:ea typeface="Arial"/>
                <a:cs typeface="Arial"/>
              </a:defRPr>
            </a:lvl7pPr>
            <a:lvl8pPr>
              <a:defRPr sz="1575" b="1">
                <a:solidFill>
                  <a:srgbClr val="102539"/>
                </a:solidFill>
                <a:latin typeface="Arial"/>
                <a:ea typeface="Arial"/>
                <a:cs typeface="Arial"/>
              </a:defRPr>
            </a:lvl8pPr>
            <a:lvl9pPr>
              <a:defRPr sz="1575" b="1">
                <a:solidFill>
                  <a:srgbClr val="102539"/>
                </a:solidFill>
                <a:latin typeface="Arial"/>
                <a:ea typeface="Arial"/>
                <a:cs typeface="Arial"/>
              </a:defRPr>
            </a:lvl9pPr>
          </a:lstStyle>
          <a:p xmlns:a="http://schemas.openxmlformats.org/drawingml/2006/main">
            <a:pPr>
              <a:defRPr sz="1575" b="1">
                <a:solidFill>
                  <a:srgbClr val="102539"/>
                </a:solidFill>
                <a:latin typeface="Arial"/>
                <a:ea typeface="Arial"/>
                <a:cs typeface="Arial"/>
              </a:defRPr>
            </a:pPr>
            <a:r>
              <a:rPr sz="1575" b="1">
                <a:solidFill>
                  <a:srgbClr val="102539"/>
                </a:solidFill>
                <a:latin typeface="Arial"/>
                <a:ea typeface="Arial"/>
                <a:cs typeface="Arial"/>
              </a:rPr>
              <a:t>74–78 min</a:t>
            </a:r>
          </a:p>
        </p:txBody>
      </p:sp>
      <p:sp>
        <p:nvSpPr>
          <p:cNvPr id="21" name="">
            <a:extLst xmlns:a="http://schemas.openxmlformats.org/drawingml/2006/main">
              <a:ext uri="{FF2B5EF4-FFF2-40B4-BE49-F238E27FC236}">
                <a16:creationId xmlns:a16="http://schemas.microsoft.com/office/drawing/2014/main" id="{DB51EE77-495B-42C3-8C80-7340C9399B7D}"/>
              </a:ext>
            </a:extLst>
          </p:cNvPr>
          <p:cNvSpPr>
            <a:spLocks xmlns:a="http://schemas.openxmlformats.org/drawingml/2006/main" noGrp="1"/>
          </p:cNvSpPr>
          <p:nvPr/>
        </p:nvSpPr>
        <p:spPr>
          <a:xfrm xmlns:a="http://schemas.openxmlformats.org/drawingml/2006/main">
            <a:off x="8677275" y="4105275"/>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456 kB delivered</a:t>
            </a:r>
          </a:p>
        </p:txBody>
      </p:sp>
      <p:sp>
        <p:nvSpPr>
          <p:cNvPr id="22" name="">
            <a:extLst xmlns:a="http://schemas.openxmlformats.org/drawingml/2006/main">
              <a:ext uri="{FF2B5EF4-FFF2-40B4-BE49-F238E27FC236}">
                <a16:creationId xmlns:a16="http://schemas.microsoft.com/office/drawing/2014/main" id="{2BDE5F31-3719-4303-8D79-01840019330A}"/>
              </a:ext>
            </a:extLst>
          </p:cNvPr>
          <p:cNvSpPr>
            <a:spLocks xmlns:a="http://schemas.openxmlformats.org/drawingml/2006/main" noGrp="1"/>
          </p:cNvSpPr>
          <p:nvPr/>
        </p:nvSpPr>
        <p:spPr>
          <a:xfrm xmlns:a="http://schemas.openxmlformats.org/drawingml/2006/main">
            <a:off x="2857500" y="4667250"/>
            <a:ext cx="8477250" cy="190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D7ABA00-B46E-4942-92B2-6538692F2DC5}"/>
              </a:ext>
            </a:extLst>
          </p:cNvPr>
          <p:cNvSpPr>
            <a:spLocks xmlns:a="http://schemas.openxmlformats.org/drawingml/2006/main" noGrp="1"/>
          </p:cNvSpPr>
          <p:nvPr/>
        </p:nvSpPr>
        <p:spPr>
          <a:xfrm xmlns:a="http://schemas.openxmlformats.org/drawingml/2006/main">
            <a:off x="2857500"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429D3C5-79BB-4F1C-82C3-F65F95D0BAB1}"/>
              </a:ext>
            </a:extLst>
          </p:cNvPr>
          <p:cNvSpPr>
            <a:spLocks xmlns:a="http://schemas.openxmlformats.org/drawingml/2006/main" noGrp="1"/>
          </p:cNvSpPr>
          <p:nvPr/>
        </p:nvSpPr>
        <p:spPr>
          <a:xfrm xmlns:a="http://schemas.openxmlformats.org/drawingml/2006/main">
            <a:off x="2695575"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0</a:t>
            </a:r>
          </a:p>
        </p:txBody>
      </p:sp>
      <p:sp>
        <p:nvSpPr>
          <p:cNvPr id="25" name="">
            <a:extLst xmlns:a="http://schemas.openxmlformats.org/drawingml/2006/main">
              <a:ext uri="{FF2B5EF4-FFF2-40B4-BE49-F238E27FC236}">
                <a16:creationId xmlns:a16="http://schemas.microsoft.com/office/drawing/2014/main" id="{A1E655B5-BA41-4E71-8D91-3EAB741A864D}"/>
              </a:ext>
            </a:extLst>
          </p:cNvPr>
          <p:cNvSpPr>
            <a:spLocks xmlns:a="http://schemas.openxmlformats.org/drawingml/2006/main" noGrp="1"/>
          </p:cNvSpPr>
          <p:nvPr/>
        </p:nvSpPr>
        <p:spPr>
          <a:xfrm xmlns:a="http://schemas.openxmlformats.org/drawingml/2006/main">
            <a:off x="4642184"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2E3377E-4CDF-41FB-80DE-943A61AC617E}"/>
              </a:ext>
            </a:extLst>
          </p:cNvPr>
          <p:cNvSpPr>
            <a:spLocks xmlns:a="http://schemas.openxmlformats.org/drawingml/2006/main" noGrp="1"/>
          </p:cNvSpPr>
          <p:nvPr/>
        </p:nvSpPr>
        <p:spPr>
          <a:xfrm xmlns:a="http://schemas.openxmlformats.org/drawingml/2006/main">
            <a:off x="4480259"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20</a:t>
            </a:r>
          </a:p>
        </p:txBody>
      </p:sp>
      <p:sp>
        <p:nvSpPr>
          <p:cNvPr id="27" name="">
            <a:extLst xmlns:a="http://schemas.openxmlformats.org/drawingml/2006/main">
              <a:ext uri="{FF2B5EF4-FFF2-40B4-BE49-F238E27FC236}">
                <a16:creationId xmlns:a16="http://schemas.microsoft.com/office/drawing/2014/main" id="{8DF9AE9E-EC58-40B9-BBA9-4651D3F1F334}"/>
              </a:ext>
            </a:extLst>
          </p:cNvPr>
          <p:cNvSpPr>
            <a:spLocks xmlns:a="http://schemas.openxmlformats.org/drawingml/2006/main" noGrp="1"/>
          </p:cNvSpPr>
          <p:nvPr/>
        </p:nvSpPr>
        <p:spPr>
          <a:xfrm xmlns:a="http://schemas.openxmlformats.org/drawingml/2006/main">
            <a:off x="6426868"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D9457FD5-805E-4DBB-BD10-4F92D653C2E8}"/>
              </a:ext>
            </a:extLst>
          </p:cNvPr>
          <p:cNvSpPr>
            <a:spLocks xmlns:a="http://schemas.openxmlformats.org/drawingml/2006/main" noGrp="1"/>
          </p:cNvSpPr>
          <p:nvPr/>
        </p:nvSpPr>
        <p:spPr>
          <a:xfrm xmlns:a="http://schemas.openxmlformats.org/drawingml/2006/main">
            <a:off x="6264943"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40</a:t>
            </a:r>
          </a:p>
        </p:txBody>
      </p:sp>
      <p:sp>
        <p:nvSpPr>
          <p:cNvPr id="29" name="">
            <a:extLst xmlns:a="http://schemas.openxmlformats.org/drawingml/2006/main">
              <a:ext uri="{FF2B5EF4-FFF2-40B4-BE49-F238E27FC236}">
                <a16:creationId xmlns:a16="http://schemas.microsoft.com/office/drawing/2014/main" id="{F4238D89-7EE0-4C37-9F3D-8B74FF5D65D9}"/>
              </a:ext>
            </a:extLst>
          </p:cNvPr>
          <p:cNvSpPr>
            <a:spLocks xmlns:a="http://schemas.openxmlformats.org/drawingml/2006/main" noGrp="1"/>
          </p:cNvSpPr>
          <p:nvPr/>
        </p:nvSpPr>
        <p:spPr>
          <a:xfrm xmlns:a="http://schemas.openxmlformats.org/drawingml/2006/main">
            <a:off x="8211553"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921E925-66C8-4116-8297-D7DDE515B3F6}"/>
              </a:ext>
            </a:extLst>
          </p:cNvPr>
          <p:cNvSpPr>
            <a:spLocks xmlns:a="http://schemas.openxmlformats.org/drawingml/2006/main" noGrp="1"/>
          </p:cNvSpPr>
          <p:nvPr/>
        </p:nvSpPr>
        <p:spPr>
          <a:xfrm xmlns:a="http://schemas.openxmlformats.org/drawingml/2006/main">
            <a:off x="8049628"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60</a:t>
            </a:r>
          </a:p>
        </p:txBody>
      </p:sp>
      <p:sp>
        <p:nvSpPr>
          <p:cNvPr id="31" name="">
            <a:extLst xmlns:a="http://schemas.openxmlformats.org/drawingml/2006/main">
              <a:ext uri="{FF2B5EF4-FFF2-40B4-BE49-F238E27FC236}">
                <a16:creationId xmlns:a16="http://schemas.microsoft.com/office/drawing/2014/main" id="{5BC168AA-A8F0-456B-9B00-EEB6EED14563}"/>
              </a:ext>
            </a:extLst>
          </p:cNvPr>
          <p:cNvSpPr>
            <a:spLocks xmlns:a="http://schemas.openxmlformats.org/drawingml/2006/main" noGrp="1"/>
          </p:cNvSpPr>
          <p:nvPr/>
        </p:nvSpPr>
        <p:spPr>
          <a:xfrm xmlns:a="http://schemas.openxmlformats.org/drawingml/2006/main">
            <a:off x="9996237"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ADD2D8E2-3369-4858-BEA3-F0169218F365}"/>
              </a:ext>
            </a:extLst>
          </p:cNvPr>
          <p:cNvSpPr>
            <a:spLocks xmlns:a="http://schemas.openxmlformats.org/drawingml/2006/main" noGrp="1"/>
          </p:cNvSpPr>
          <p:nvPr/>
        </p:nvSpPr>
        <p:spPr>
          <a:xfrm xmlns:a="http://schemas.openxmlformats.org/drawingml/2006/main">
            <a:off x="9834312"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80</a:t>
            </a:r>
          </a:p>
        </p:txBody>
      </p:sp>
      <p:sp>
        <p:nvSpPr>
          <p:cNvPr id="33" name="">
            <a:extLst xmlns:a="http://schemas.openxmlformats.org/drawingml/2006/main">
              <a:ext uri="{FF2B5EF4-FFF2-40B4-BE49-F238E27FC236}">
                <a16:creationId xmlns:a16="http://schemas.microsoft.com/office/drawing/2014/main" id="{F3EA5E49-B157-43D6-A88F-A752E7C70799}"/>
              </a:ext>
            </a:extLst>
          </p:cNvPr>
          <p:cNvSpPr>
            <a:spLocks xmlns:a="http://schemas.openxmlformats.org/drawingml/2006/main" noGrp="1"/>
          </p:cNvSpPr>
          <p:nvPr/>
        </p:nvSpPr>
        <p:spPr>
          <a:xfrm xmlns:a="http://schemas.openxmlformats.org/drawingml/2006/main">
            <a:off x="11334750"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684212F-9929-4F27-9B6D-057E0C5B9815}"/>
              </a:ext>
            </a:extLst>
          </p:cNvPr>
          <p:cNvSpPr>
            <a:spLocks xmlns:a="http://schemas.openxmlformats.org/drawingml/2006/main" noGrp="1"/>
          </p:cNvSpPr>
          <p:nvPr/>
        </p:nvSpPr>
        <p:spPr>
          <a:xfrm xmlns:a="http://schemas.openxmlformats.org/drawingml/2006/main">
            <a:off x="11172825"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95</a:t>
            </a:r>
          </a:p>
        </p:txBody>
      </p:sp>
      <p:sp>
        <p:nvSpPr>
          <p:cNvPr id="35" name="">
            <a:extLst xmlns:a="http://schemas.openxmlformats.org/drawingml/2006/main">
              <a:ext uri="{FF2B5EF4-FFF2-40B4-BE49-F238E27FC236}">
                <a16:creationId xmlns:a16="http://schemas.microsoft.com/office/drawing/2014/main" id="{0E073665-9E69-44C5-A8DF-9FE07A060C85}"/>
              </a:ext>
            </a:extLst>
          </p:cNvPr>
          <p:cNvSpPr>
            <a:spLocks xmlns:a="http://schemas.openxmlformats.org/drawingml/2006/main" noGrp="1"/>
          </p:cNvSpPr>
          <p:nvPr/>
        </p:nvSpPr>
        <p:spPr>
          <a:xfrm xmlns:a="http://schemas.openxmlformats.org/drawingml/2006/main">
            <a:off x="609600" y="4791075"/>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Mission elapsed minutes</a:t>
            </a:r>
          </a:p>
        </p:txBody>
      </p:sp>
      <p:sp>
        <p:nvSpPr>
          <p:cNvPr id="36" name="">
            <a:extLst xmlns:a="http://schemas.openxmlformats.org/drawingml/2006/main">
              <a:ext uri="{FF2B5EF4-FFF2-40B4-BE49-F238E27FC236}">
                <a16:creationId xmlns:a16="http://schemas.microsoft.com/office/drawing/2014/main" id="{7A47CE2E-7FB9-4386-AA01-3461EF743B2B}"/>
              </a:ext>
            </a:extLst>
          </p:cNvPr>
          <p:cNvSpPr>
            <a:spLocks xmlns:a="http://schemas.openxmlformats.org/drawingml/2006/main" noGrp="1"/>
          </p:cNvSpPr>
          <p:nvPr/>
        </p:nvSpPr>
        <p:spPr>
          <a:xfrm xmlns:a="http://schemas.openxmlformats.org/drawingml/2006/main">
            <a:off x="609600" y="52959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07E83"/>
                </a:solidFill>
                <a:latin typeface="Arial"/>
                <a:ea typeface="Arial"/>
                <a:cs typeface="Arial"/>
              </a:defRPr>
            </a:defPPr>
            <a:lvl1pPr>
              <a:defRPr sz="2175" b="1">
                <a:solidFill>
                  <a:srgbClr val="007E83"/>
                </a:solidFill>
                <a:latin typeface="Arial"/>
                <a:ea typeface="Arial"/>
                <a:cs typeface="Arial"/>
              </a:defRPr>
            </a:lvl1pPr>
            <a:lvl2pPr>
              <a:defRPr sz="2175" b="1">
                <a:solidFill>
                  <a:srgbClr val="007E83"/>
                </a:solidFill>
                <a:latin typeface="Arial"/>
                <a:ea typeface="Arial"/>
                <a:cs typeface="Arial"/>
              </a:defRPr>
            </a:lvl2pPr>
            <a:lvl3pPr>
              <a:defRPr sz="2175" b="1">
                <a:solidFill>
                  <a:srgbClr val="007E83"/>
                </a:solidFill>
                <a:latin typeface="Arial"/>
                <a:ea typeface="Arial"/>
                <a:cs typeface="Arial"/>
              </a:defRPr>
            </a:lvl3pPr>
            <a:lvl4pPr>
              <a:defRPr sz="2175" b="1">
                <a:solidFill>
                  <a:srgbClr val="007E83"/>
                </a:solidFill>
                <a:latin typeface="Arial"/>
                <a:ea typeface="Arial"/>
                <a:cs typeface="Arial"/>
              </a:defRPr>
            </a:lvl4pPr>
            <a:lvl5pPr>
              <a:defRPr sz="2175" b="1">
                <a:solidFill>
                  <a:srgbClr val="007E83"/>
                </a:solidFill>
                <a:latin typeface="Arial"/>
                <a:ea typeface="Arial"/>
                <a:cs typeface="Arial"/>
              </a:defRPr>
            </a:lvl5pPr>
            <a:lvl6pPr>
              <a:defRPr sz="2175" b="1">
                <a:solidFill>
                  <a:srgbClr val="007E83"/>
                </a:solidFill>
                <a:latin typeface="Arial"/>
                <a:ea typeface="Arial"/>
                <a:cs typeface="Arial"/>
              </a:defRPr>
            </a:lvl6pPr>
            <a:lvl7pPr>
              <a:defRPr sz="2175" b="1">
                <a:solidFill>
                  <a:srgbClr val="007E83"/>
                </a:solidFill>
                <a:latin typeface="Arial"/>
                <a:ea typeface="Arial"/>
                <a:cs typeface="Arial"/>
              </a:defRPr>
            </a:lvl7pPr>
            <a:lvl8pPr>
              <a:defRPr sz="2175" b="1">
                <a:solidFill>
                  <a:srgbClr val="007E83"/>
                </a:solidFill>
                <a:latin typeface="Arial"/>
                <a:ea typeface="Arial"/>
                <a:cs typeface="Arial"/>
              </a:defRPr>
            </a:lvl8pPr>
            <a:lvl9pPr>
              <a:defRPr sz="2175" b="1">
                <a:solidFill>
                  <a:srgbClr val="007E83"/>
                </a:solidFill>
                <a:latin typeface="Arial"/>
                <a:ea typeface="Arial"/>
                <a:cs typeface="Arial"/>
              </a:defRPr>
            </a:lvl9pPr>
          </a:lstStyle>
          <a:p xmlns:a="http://schemas.openxmlformats.org/drawingml/2006/main">
            <a:pPr>
              <a:defRPr sz="2175" b="1">
                <a:solidFill>
                  <a:srgbClr val="007E83"/>
                </a:solidFill>
                <a:latin typeface="Arial"/>
                <a:ea typeface="Arial"/>
                <a:cs typeface="Arial"/>
              </a:defRPr>
            </a:pPr>
            <a:r>
              <a:rPr sz="2175" b="1">
                <a:solidFill>
                  <a:srgbClr val="007E83"/>
                </a:solidFill>
                <a:latin typeface="Arial"/>
                <a:ea typeface="Arial"/>
                <a:cs typeface="Arial"/>
              </a:rPr>
              <a:t>969 kB delivered   /   0 lost   /   513 of 598.5 kB peak storage</a:t>
            </a:r>
          </a:p>
        </p:txBody>
      </p:sp>
      <p:sp>
        <p:nvSpPr>
          <p:cNvPr id="37" name="">
            <a:extLst xmlns:a="http://schemas.openxmlformats.org/drawingml/2006/main">
              <a:ext uri="{FF2B5EF4-FFF2-40B4-BE49-F238E27FC236}">
                <a16:creationId xmlns:a16="http://schemas.microsoft.com/office/drawing/2014/main" id="{CD83BBC3-717E-498D-9C90-501E73C0A1D7}"/>
              </a:ext>
            </a:extLst>
          </p:cNvPr>
          <p:cNvSpPr>
            <a:spLocks xmlns:a="http://schemas.openxmlformats.org/drawingml/2006/main" noGrp="1"/>
          </p:cNvSpPr>
          <p:nvPr/>
        </p:nvSpPr>
        <p:spPr>
          <a:xfrm xmlns:a="http://schemas.openxmlformats.org/drawingml/2006/main">
            <a:off x="609600" y="58388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93447"/>
                </a:solidFill>
                <a:latin typeface="Arial"/>
                <a:ea typeface="Arial"/>
                <a:cs typeface="Arial"/>
              </a:defRPr>
            </a:defPPr>
            <a:lvl1pPr>
              <a:defRPr sz="1725" b="0">
                <a:solidFill>
                  <a:srgbClr val="193447"/>
                </a:solidFill>
                <a:latin typeface="Arial"/>
                <a:ea typeface="Arial"/>
                <a:cs typeface="Arial"/>
              </a:defRPr>
            </a:lvl1pPr>
            <a:lvl2pPr>
              <a:defRPr sz="1725" b="0">
                <a:solidFill>
                  <a:srgbClr val="193447"/>
                </a:solidFill>
                <a:latin typeface="Arial"/>
                <a:ea typeface="Arial"/>
                <a:cs typeface="Arial"/>
              </a:defRPr>
            </a:lvl2pPr>
            <a:lvl3pPr>
              <a:defRPr sz="1725" b="0">
                <a:solidFill>
                  <a:srgbClr val="193447"/>
                </a:solidFill>
                <a:latin typeface="Arial"/>
                <a:ea typeface="Arial"/>
                <a:cs typeface="Arial"/>
              </a:defRPr>
            </a:lvl3pPr>
            <a:lvl4pPr>
              <a:defRPr sz="1725" b="0">
                <a:solidFill>
                  <a:srgbClr val="193447"/>
                </a:solidFill>
                <a:latin typeface="Arial"/>
                <a:ea typeface="Arial"/>
                <a:cs typeface="Arial"/>
              </a:defRPr>
            </a:lvl4pPr>
            <a:lvl5pPr>
              <a:defRPr sz="1725" b="0">
                <a:solidFill>
                  <a:srgbClr val="193447"/>
                </a:solidFill>
                <a:latin typeface="Arial"/>
                <a:ea typeface="Arial"/>
                <a:cs typeface="Arial"/>
              </a:defRPr>
            </a:lvl5pPr>
            <a:lvl6pPr>
              <a:defRPr sz="1725" b="0">
                <a:solidFill>
                  <a:srgbClr val="193447"/>
                </a:solidFill>
                <a:latin typeface="Arial"/>
                <a:ea typeface="Arial"/>
                <a:cs typeface="Arial"/>
              </a:defRPr>
            </a:lvl6pPr>
            <a:lvl7pPr>
              <a:defRPr sz="1725" b="0">
                <a:solidFill>
                  <a:srgbClr val="193447"/>
                </a:solidFill>
                <a:latin typeface="Arial"/>
                <a:ea typeface="Arial"/>
                <a:cs typeface="Arial"/>
              </a:defRPr>
            </a:lvl7pPr>
            <a:lvl8pPr>
              <a:defRPr sz="1725" b="0">
                <a:solidFill>
                  <a:srgbClr val="193447"/>
                </a:solidFill>
                <a:latin typeface="Arial"/>
                <a:ea typeface="Arial"/>
                <a:cs typeface="Arial"/>
              </a:defRPr>
            </a:lvl8pPr>
            <a:lvl9pPr>
              <a:defRPr sz="1725" b="0">
                <a:solidFill>
                  <a:srgbClr val="193447"/>
                </a:solidFill>
                <a:latin typeface="Arial"/>
                <a:ea typeface="Arial"/>
                <a:cs typeface="Arial"/>
              </a:defRPr>
            </a:lvl9pPr>
          </a:lstStyle>
          <a:p xmlns:a="http://schemas.openxmlformats.org/drawingml/2006/main">
            <a:pPr>
              <a:defRPr sz="1725" b="0">
                <a:solidFill>
                  <a:srgbClr val="193447"/>
                </a:solidFill>
                <a:latin typeface="Arial"/>
                <a:ea typeface="Arial"/>
                <a:cs typeface="Arial"/>
              </a:defRPr>
            </a:pPr>
            <a:r>
              <a:rPr sz="1725" b="0">
                <a:solidFill>
                  <a:srgbClr val="193447"/>
                </a:solidFill>
                <a:latin typeface="Arial"/>
                <a:ea typeface="Arial"/>
                <a:cs typeface="Arial"/>
              </a:rPr>
              <a:t>Constant duty needs ≥0.90 for exposure; energy permits ≤0.114 in this seed.</a:t>
            </a:r>
          </a:p>
        </p:txBody>
      </p:sp>
    </p:spTree>
    <p:extLst>
      <p:ext uri="{BB962C8B-B14F-4D97-AF65-F5344CB8AC3E}">
        <p14:creationId xmlns:p14="http://schemas.microsoft.com/office/powerpoint/2010/main" val="102979129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0A614F-8DA2-4085-B45D-0757A44FC379}"/>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SCORING CONTRACT</a:t>
            </a:r>
          </a:p>
        </p:txBody>
      </p:sp>
      <p:sp>
        <p:nvSpPr>
          <p:cNvPr id="2" name="">
            <a:extLst xmlns:a="http://schemas.openxmlformats.org/drawingml/2006/main">
              <a:ext uri="{FF2B5EF4-FFF2-40B4-BE49-F238E27FC236}">
                <a16:creationId xmlns:a16="http://schemas.microsoft.com/office/drawing/2014/main" id="{623C30A6-6256-40C6-A1B4-656A805011D6}"/>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Reward follows verified mission history</a:t>
            </a:r>
          </a:p>
        </p:txBody>
      </p:sp>
      <p:sp>
        <p:nvSpPr>
          <p:cNvPr id="3" name="">
            <a:extLst xmlns:a="http://schemas.openxmlformats.org/drawingml/2006/main">
              <a:ext uri="{FF2B5EF4-FFF2-40B4-BE49-F238E27FC236}">
                <a16:creationId xmlns:a16="http://schemas.microsoft.com/office/drawing/2014/main" id="{84E19A3E-598A-4380-9640-8EF8C1864994}"/>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63667682-C114-4A1A-8ED2-DCE58F36FB73}"/>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05</a:t>
            </a:r>
          </a:p>
        </p:txBody>
      </p:sp>
      <p:graphicFrame>
        <p:nvGraphicFramePr>
          <p:cNvPr id="5" name="">
            <a:extLst xmlns:a="http://schemas.openxmlformats.org/drawingml/2006/main">
              <a:ext uri="{FF2B5EF4-FFF2-40B4-BE49-F238E27FC236}">
                <a16:creationId xmlns:a16="http://schemas.microsoft.com/office/drawing/2014/main" id="{EE276A3C-8D32-4A3C-A4CD-878349FDBD98}"/>
              </a:ext>
            </a:extLst>
          </p:cNvPr>
          <p:cNvGraphicFramePr/>
          <p:nvPr/>
        </p:nvGraphicFramePr>
        <p:xfrm>
          <a:off xmlns:a="http://schemas.openxmlformats.org/drawingml/2006/main" x="609600" y="1971675"/>
          <a:ext xmlns:a="http://schemas.openxmlformats.org/drawingml/2006/main" cx="10972800" cy="2657475"/>
        </p:xfrm>
        <a:graphic xmlns:a="http://schemas.openxmlformats.org/drawingml/2006/main">
          <a:graphicData uri="http://schemas.openxmlformats.org/drawingml/2006/table">
            <a:tbl>
              <a:tblPr/>
              <a:tblGrid>
                <a:gridCol w="4000500"/>
                <a:gridCol w="2324100"/>
                <a:gridCol w="2324100"/>
                <a:gridCol w="2324100"/>
              </a:tblGrid>
              <a:tr h="664369">
                <a:tc>
                  <a:txBody>
                    <a:bodyPr/>
                    <a:lstStyle/>
                    <a:p>
                      <a:r>
                        <a:rPr sz="1500" b="1">
                          <a:solidFill>
                            <a:srgbClr val="FFFFFF"/>
                          </a:solidFill>
                          <a:latin typeface="Arial"/>
                          <a:ea typeface="Arial"/>
                          <a:cs typeface="Arial"/>
                        </a:rPr>
                        <a:t>Raw score family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Standard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Observation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Science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64369">
                <a:tc>
                  <a:txBody>
                    <a:bodyPr/>
                    <a:lstStyle/>
                    <a:p>
                      <a:r>
                        <a:rPr sz="1650" b="0">
                          <a:solidFill>
                            <a:srgbClr val="193447"/>
                          </a:solidFill>
                          <a:latin typeface="Arial"/>
                          <a:ea typeface="Arial"/>
                          <a:cs typeface="Arial"/>
                        </a:rPr>
                        <a:t>Power / thermal</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0.35 / 0.25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0.28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0.21 / 0.15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64369">
                <a:tc>
                  <a:txBody>
                    <a:bodyPr/>
                    <a:lstStyle/>
                    <a:p>
                      <a:r>
                        <a:rPr sz="1650" b="0">
                          <a:solidFill>
                            <a:srgbClr val="193447"/>
                          </a:solidFill>
                          <a:latin typeface="Arial"/>
                          <a:ea typeface="Arial"/>
                          <a:cs typeface="Arial"/>
                        </a:rPr>
                        <a:t>Pointing / comms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0.16 / 0.16</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0.12 / 0.12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64369">
                <a:tc>
                  <a:txBody>
                    <a:bodyPr/>
                    <a:lstStyle/>
                    <a:p>
                      <a:r>
                        <a:rPr sz="1650" b="0">
                          <a:solidFill>
                            <a:srgbClr val="193447"/>
                          </a:solidFill>
                          <a:latin typeface="Arial"/>
                          <a:ea typeface="Arial"/>
                          <a:cs typeface="Arial"/>
                        </a:rPr>
                        <a:t>Exposure / science delivery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None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0.20 / none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0AFBC6CF-28FD-445D-B9D6-4C3BDA40CB73}"/>
              </a:ext>
            </a:extLst>
          </p:cNvPr>
          <p:cNvSpPr>
            <a:spLocks xmlns:a="http://schemas.openxmlformats.org/drawingml/2006/main" noGrp="1"/>
          </p:cNvSpPr>
          <p:nvPr/>
        </p:nvSpPr>
        <p:spPr>
          <a:xfrm xmlns:a="http://schemas.openxmlformats.org/drawingml/2006/main">
            <a:off x="609600" y="48958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Progress = clamp((raw − no-op raw) / (1 − no-op raw), 0, 1)</a:t>
            </a:r>
          </a:p>
        </p:txBody>
      </p:sp>
      <p:sp>
        <p:nvSpPr>
          <p:cNvPr id="7" name="">
            <a:extLst xmlns:a="http://schemas.openxmlformats.org/drawingml/2006/main">
              <a:ext uri="{FF2B5EF4-FFF2-40B4-BE49-F238E27FC236}">
                <a16:creationId xmlns:a16="http://schemas.microsoft.com/office/drawing/2014/main" id="{C46A79DD-CA52-4A83-AFE7-66BC0A0BC1F9}"/>
              </a:ext>
            </a:extLst>
          </p:cNvPr>
          <p:cNvSpPr>
            <a:spLocks xmlns:a="http://schemas.openxmlformats.org/drawingml/2006/main" noGrp="1"/>
          </p:cNvSpPr>
          <p:nvPr/>
        </p:nvSpPr>
        <p:spPr>
          <a:xfrm xmlns:a="http://schemas.openxmlformats.org/drawingml/2006/main">
            <a:off x="609600" y="563880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93447"/>
                </a:solidFill>
                <a:latin typeface="Arial"/>
                <a:ea typeface="Arial"/>
                <a:cs typeface="Arial"/>
              </a:defRPr>
            </a:defPPr>
            <a:lvl1pPr>
              <a:defRPr sz="1800" b="0">
                <a:solidFill>
                  <a:srgbClr val="193447"/>
                </a:solidFill>
                <a:latin typeface="Arial"/>
                <a:ea typeface="Arial"/>
                <a:cs typeface="Arial"/>
              </a:defRPr>
            </a:lvl1pPr>
            <a:lvl2pPr>
              <a:defRPr sz="1800" b="0">
                <a:solidFill>
                  <a:srgbClr val="193447"/>
                </a:solidFill>
                <a:latin typeface="Arial"/>
                <a:ea typeface="Arial"/>
                <a:cs typeface="Arial"/>
              </a:defRPr>
            </a:lvl2pPr>
            <a:lvl3pPr>
              <a:defRPr sz="1800" b="0">
                <a:solidFill>
                  <a:srgbClr val="193447"/>
                </a:solidFill>
                <a:latin typeface="Arial"/>
                <a:ea typeface="Arial"/>
                <a:cs typeface="Arial"/>
              </a:defRPr>
            </a:lvl3pPr>
            <a:lvl4pPr>
              <a:defRPr sz="1800" b="0">
                <a:solidFill>
                  <a:srgbClr val="193447"/>
                </a:solidFill>
                <a:latin typeface="Arial"/>
                <a:ea typeface="Arial"/>
                <a:cs typeface="Arial"/>
              </a:defRPr>
            </a:lvl4pPr>
            <a:lvl5pPr>
              <a:defRPr sz="1800" b="0">
                <a:solidFill>
                  <a:srgbClr val="193447"/>
                </a:solidFill>
                <a:latin typeface="Arial"/>
                <a:ea typeface="Arial"/>
                <a:cs typeface="Arial"/>
              </a:defRPr>
            </a:lvl5pPr>
            <a:lvl6pPr>
              <a:defRPr sz="1800" b="0">
                <a:solidFill>
                  <a:srgbClr val="193447"/>
                </a:solidFill>
                <a:latin typeface="Arial"/>
                <a:ea typeface="Arial"/>
                <a:cs typeface="Arial"/>
              </a:defRPr>
            </a:lvl6pPr>
            <a:lvl7pPr>
              <a:defRPr sz="1800" b="0">
                <a:solidFill>
                  <a:srgbClr val="193447"/>
                </a:solidFill>
                <a:latin typeface="Arial"/>
                <a:ea typeface="Arial"/>
                <a:cs typeface="Arial"/>
              </a:defRPr>
            </a:lvl7pPr>
            <a:lvl8pPr>
              <a:defRPr sz="1800" b="0">
                <a:solidFill>
                  <a:srgbClr val="193447"/>
                </a:solidFill>
                <a:latin typeface="Arial"/>
                <a:ea typeface="Arial"/>
                <a:cs typeface="Arial"/>
              </a:defRPr>
            </a:lvl8pPr>
            <a:lvl9pPr>
              <a:defRPr sz="1800" b="0">
                <a:solidFill>
                  <a:srgbClr val="193447"/>
                </a:solidFill>
                <a:latin typeface="Arial"/>
                <a:ea typeface="Arial"/>
                <a:cs typeface="Arial"/>
              </a:defRPr>
            </a:lvl9pPr>
          </a:lstStyle>
          <a:p xmlns:a="http://schemas.openxmlformats.org/drawingml/2006/main">
            <a:pPr>
              <a:defRPr sz="1800" b="0">
                <a:solidFill>
                  <a:srgbClr val="193447"/>
                </a:solidFill>
                <a:latin typeface="Arial"/>
                <a:ea typeface="Arial"/>
                <a:cs typeface="Arial"/>
              </a:defRPr>
            </a:pPr>
            <a:r>
              <a:rPr sz="1800" b="0">
                <a:solidFill>
                  <a:srgbClr val="193447"/>
                </a:solidFill>
                <a:latin typeface="Arial"/>
                <a:ea typeface="Arial"/>
                <a:cs typeface="Arial"/>
              </a:rPr>
              <a:t>Every required check must pass. Fixed integration ticks remove timing artifacts.</a:t>
            </a:r>
          </a:p>
        </p:txBody>
      </p:sp>
    </p:spTree>
    <p:extLst>
      <p:ext uri="{BB962C8B-B14F-4D97-AF65-F5344CB8AC3E}">
        <p14:creationId xmlns:p14="http://schemas.microsoft.com/office/powerpoint/2010/main" val="7617063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B3768D-2DA2-421A-A4AC-EC3F3AA65325}"/>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TRUST BOUNDARIES</a:t>
            </a:r>
          </a:p>
        </p:txBody>
      </p:sp>
      <p:sp>
        <p:nvSpPr>
          <p:cNvPr id="2" name="">
            <a:extLst xmlns:a="http://schemas.openxmlformats.org/drawingml/2006/main">
              <a:ext uri="{FF2B5EF4-FFF2-40B4-BE49-F238E27FC236}">
                <a16:creationId xmlns:a16="http://schemas.microsoft.com/office/drawing/2014/main" id="{468E4093-D0D1-4536-BF13-8361523237D3}"/>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Separate processes protect scoring and mission facts</a:t>
            </a:r>
          </a:p>
        </p:txBody>
      </p:sp>
      <p:sp>
        <p:nvSpPr>
          <p:cNvPr id="3" name="">
            <a:extLst xmlns:a="http://schemas.openxmlformats.org/drawingml/2006/main">
              <a:ext uri="{FF2B5EF4-FFF2-40B4-BE49-F238E27FC236}">
                <a16:creationId xmlns:a16="http://schemas.microsoft.com/office/drawing/2014/main" id="{67C5DC55-7884-40D8-9119-F8954E2A6B3C}"/>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19987E6D-D76B-480D-8B84-772F8F8F3AD0}"/>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06</a:t>
            </a:r>
          </a:p>
        </p:txBody>
      </p:sp>
      <p:graphicFrame>
        <p:nvGraphicFramePr>
          <p:cNvPr id="5" name="">
            <a:extLst xmlns:a="http://schemas.openxmlformats.org/drawingml/2006/main">
              <a:ext uri="{FF2B5EF4-FFF2-40B4-BE49-F238E27FC236}">
                <a16:creationId xmlns:a16="http://schemas.microsoft.com/office/drawing/2014/main" id="{150CBA5D-8F6E-443E-94B3-4D9FCA65E370}"/>
              </a:ext>
            </a:extLst>
          </p:cNvPr>
          <p:cNvGraphicFramePr/>
          <p:nvPr/>
        </p:nvGraphicFramePr>
        <p:xfrm>
          <a:off xmlns:a="http://schemas.openxmlformats.org/drawingml/2006/main" x="609600" y="2076450"/>
          <a:ext xmlns:a="http://schemas.openxmlformats.org/drawingml/2006/main" cx="10972800" cy="3295650"/>
        </p:xfrm>
        <a:graphic xmlns:a="http://schemas.openxmlformats.org/drawingml/2006/main">
          <a:graphicData uri="http://schemas.openxmlformats.org/drawingml/2006/table">
            <a:tbl>
              <a:tblPr/>
              <a:tblGrid>
                <a:gridCol w="2428875"/>
                <a:gridCol w="4000500"/>
                <a:gridCol w="4543425"/>
              </a:tblGrid>
              <a:tr h="823913">
                <a:tc>
                  <a:txBody>
                    <a:bodyPr/>
                    <a:lstStyle/>
                    <a:p>
                      <a:r>
                        <a:rPr sz="1500" b="1">
                          <a:solidFill>
                            <a:srgbClr val="FFFFFF"/>
                          </a:solidFill>
                          <a:latin typeface="Arial"/>
                          <a:ea typeface="Arial"/>
                          <a:cs typeface="Arial"/>
                        </a:rPr>
                        <a:t>Boundary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Authority</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Protection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23913">
                <a:tc>
                  <a:txBody>
                    <a:bodyPr/>
                    <a:lstStyle/>
                    <a:p>
                      <a:r>
                        <a:rPr sz="1725" b="0">
                          <a:solidFill>
                            <a:srgbClr val="193447"/>
                          </a:solidFill>
                          <a:latin typeface="Arial"/>
                          <a:ea typeface="Arial"/>
                          <a:cs typeface="Arial"/>
                        </a:rPr>
                        <a:t>Harness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Verifier, reward, mission truth</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Separate container</a:t>
                      </a:r>
                    </a:p>
                    <a:p>
                      <a:r>
                        <a:rPr sz="1725" b="0">
                          <a:solidFill>
                            <a:srgbClr val="193447"/>
                          </a:solidFill>
                          <a:latin typeface="Arial"/>
                          <a:ea typeface="Arial"/>
                          <a:cs typeface="Arial"/>
                        </a:rPr>
                        <a:t>Authenticated controls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23913">
                <a:tc>
                  <a:txBody>
                    <a:bodyPr/>
                    <a:lstStyle/>
                    <a:p>
                      <a:r>
                        <a:rPr sz="1725" b="0">
                          <a:solidFill>
                            <a:srgbClr val="193447"/>
                          </a:solidFill>
                          <a:latin typeface="Arial"/>
                          <a:ea typeface="Arial"/>
                          <a:cs typeface="Arial"/>
                        </a:rPr>
                        <a:t>Agent worker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Workspace repairs and tools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UID 1001, no outbound route</a:t>
                      </a:r>
                    </a:p>
                    <a:p>
                      <a:r>
                        <a:rPr sz="1725" b="0">
                          <a:solidFill>
                            <a:srgbClr val="193447"/>
                          </a:solidFill>
                          <a:latin typeface="Arial"/>
                          <a:ea typeface="Arial"/>
                          <a:cs typeface="Arial"/>
                        </a:rPr>
                        <a:t>Read-only root and resource limits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23913">
                <a:tc>
                  <a:txBody>
                    <a:bodyPr/>
                    <a:lstStyle/>
                    <a:p>
                      <a:r>
                        <a:rPr sz="1725" b="0">
                          <a:solidFill>
                            <a:srgbClr val="193447"/>
                          </a:solidFill>
                          <a:latin typeface="Arial"/>
                          <a:ea typeface="Arial"/>
                          <a:cs typeface="Arial"/>
                        </a:rPr>
                        <a:t>Behavioral evaluator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Runs candidate calculation scripts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UID 1002, bounded fixtures</a:t>
                      </a:r>
                    </a:p>
                    <a:p>
                      <a:r>
                        <a:rPr sz="1725" b="0">
                          <a:solidFill>
                            <a:srgbClr val="193447"/>
                          </a:solidFill>
                          <a:latin typeface="Arial"/>
                          <a:ea typeface="Arial"/>
                          <a:cs typeface="Arial"/>
                        </a:rPr>
                        <a:t>Worker cleanup between calls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CF37702C-18D8-42B2-8DCA-C115C0E0B760}"/>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Docker and the host kernel remain part of the trust boundary.</a:t>
            </a:r>
          </a:p>
        </p:txBody>
      </p:sp>
    </p:spTree>
    <p:extLst>
      <p:ext uri="{BB962C8B-B14F-4D97-AF65-F5344CB8AC3E}">
        <p14:creationId xmlns:p14="http://schemas.microsoft.com/office/powerpoint/2010/main" val="14347936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0D153C-F6FC-46A6-945A-B3E51AA045CC}"/>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ADVERSARIAL EVIDENCE</a:t>
            </a:r>
          </a:p>
        </p:txBody>
      </p:sp>
      <p:sp>
        <p:nvSpPr>
          <p:cNvPr id="2" name="">
            <a:extLst xmlns:a="http://schemas.openxmlformats.org/drawingml/2006/main">
              <a:ext uri="{FF2B5EF4-FFF2-40B4-BE49-F238E27FC236}">
                <a16:creationId xmlns:a16="http://schemas.microsoft.com/office/drawing/2014/main" id="{9A4DCAEA-B361-4037-AB66-1F3C3A79B51F}"/>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Six executed probes fail the success checks</a:t>
            </a:r>
          </a:p>
        </p:txBody>
      </p:sp>
      <p:sp>
        <p:nvSpPr>
          <p:cNvPr id="3" name="">
            <a:extLst xmlns:a="http://schemas.openxmlformats.org/drawingml/2006/main">
              <a:ext uri="{FF2B5EF4-FFF2-40B4-BE49-F238E27FC236}">
                <a16:creationId xmlns:a16="http://schemas.microsoft.com/office/drawing/2014/main" id="{C32B3A03-64B1-467D-A583-9210222AF43D}"/>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41F0B763-4BBB-48C3-8CC2-E5EC95DC5865}"/>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07</a:t>
            </a:r>
          </a:p>
        </p:txBody>
      </p:sp>
      <p:graphicFrame>
        <p:nvGraphicFramePr>
          <p:cNvPr id="5" name="">
            <a:extLst xmlns:a="http://schemas.openxmlformats.org/drawingml/2006/main">
              <a:ext uri="{FF2B5EF4-FFF2-40B4-BE49-F238E27FC236}">
                <a16:creationId xmlns:a16="http://schemas.microsoft.com/office/drawing/2014/main" id="{F7EFD3A4-BE92-44E6-8153-34B0F381ED6B}"/>
              </a:ext>
            </a:extLst>
          </p:cNvPr>
          <p:cNvGraphicFramePr/>
          <p:nvPr/>
        </p:nvGraphicFramePr>
        <p:xfrm>
          <a:off xmlns:a="http://schemas.openxmlformats.org/drawingml/2006/main" x="609600" y="2000250"/>
          <a:ext xmlns:a="http://schemas.openxmlformats.org/drawingml/2006/main" cx="10972800" cy="3609975"/>
        </p:xfrm>
        <a:graphic xmlns:a="http://schemas.openxmlformats.org/drawingml/2006/main">
          <a:graphicData uri="http://schemas.openxmlformats.org/drawingml/2006/table">
            <a:tbl>
              <a:tblPr/>
              <a:tblGrid>
                <a:gridCol w="6381750"/>
                <a:gridCol w="1962150"/>
                <a:gridCol w="2628900"/>
              </a:tblGrid>
              <a:tr h="515711">
                <a:tc>
                  <a:txBody>
                    <a:bodyPr/>
                    <a:lstStyle/>
                    <a:p>
                      <a:r>
                        <a:rPr sz="1500" b="1">
                          <a:solidFill>
                            <a:srgbClr val="FFFFFF"/>
                          </a:solidFill>
                          <a:latin typeface="Arial"/>
                          <a:ea typeface="Arial"/>
                          <a:cs typeface="Arial"/>
                        </a:rPr>
                        <a:t>Executed probe</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515711">
                <a:tc>
                  <a:txBody>
                    <a:bodyPr/>
                    <a:lstStyle/>
                    <a:p>
                      <a:r>
                        <a:rPr sz="1725" b="0">
                          <a:solidFill>
                            <a:srgbClr val="193447"/>
                          </a:solidFill>
                          <a:latin typeface="Arial"/>
                          <a:ea typeface="Arial"/>
                          <a:cs typeface="Arial"/>
                        </a:rPr>
                        <a:t>Relaxed pointing target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Forged telemetry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0.000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15711">
                <a:tc>
                  <a:txBody>
                    <a:bodyPr/>
                    <a:lstStyle/>
                    <a:p>
                      <a:r>
                        <a:rPr sz="1725" b="0">
                          <a:solidFill>
                            <a:srgbClr val="193447"/>
                          </a:solidFill>
                          <a:latin typeface="Arial"/>
                          <a:ea typeface="Arial"/>
                          <a:cs typeface="Arial"/>
                        </a:rPr>
                        <a:t>Missed early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0.418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Missed observation</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15711">
                <a:tc>
                  <a:txBody>
                    <a:bodyPr/>
                    <a:lstStyle/>
                    <a:p>
                      <a:r>
                        <a:rPr sz="1725" b="0">
                          <a:solidFill>
                            <a:srgbClr val="193447"/>
                          </a:solidFill>
                          <a:latin typeface="Arial"/>
                          <a:ea typeface="Arial"/>
                          <a:cs typeface="Arial"/>
                        </a:rPr>
                        <a:t>Missed science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0.609</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Forged science inventory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0.521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273ABF6-CA6A-48A2-9393-68CD03B8ED9C}"/>
              </a:ext>
            </a:extLst>
          </p:cNvPr>
          <p:cNvSpPr>
            <a:spLocks xmlns:a="http://schemas.openxmlformats.org/drawingml/2006/main" noGrp="1"/>
          </p:cNvSpPr>
          <p:nvPr/>
        </p:nvSpPr>
        <p:spPr>
          <a:xfrm xmlns:a="http://schemas.openxmlformats.org/drawingml/2006/main">
            <a:off x="609600" y="5819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Writable files cannot redefine protected quotas or manufacture collected data.</a:t>
            </a:r>
          </a:p>
        </p:txBody>
      </p:sp>
    </p:spTree>
    <p:extLst>
      <p:ext uri="{BB962C8B-B14F-4D97-AF65-F5344CB8AC3E}">
        <p14:creationId xmlns:p14="http://schemas.microsoft.com/office/powerpoint/2010/main" val="6630714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3F2D0D-06FC-4C96-B018-69C462B9BF0E}"/>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FINAL SOURCE EVIDENCE</a:t>
            </a:r>
          </a:p>
        </p:txBody>
      </p:sp>
      <p:sp>
        <p:nvSpPr>
          <p:cNvPr id="2" name="">
            <a:extLst xmlns:a="http://schemas.openxmlformats.org/drawingml/2006/main">
              <a:ext uri="{FF2B5EF4-FFF2-40B4-BE49-F238E27FC236}">
                <a16:creationId xmlns:a16="http://schemas.microsoft.com/office/drawing/2014/main" id="{31681FEA-FE72-4B66-8D0B-5012DC844442}"/>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Reproducibility and shortcut comparison</a:t>
            </a:r>
          </a:p>
        </p:txBody>
      </p:sp>
      <p:sp>
        <p:nvSpPr>
          <p:cNvPr id="3" name="">
            <a:extLst xmlns:a="http://schemas.openxmlformats.org/drawingml/2006/main">
              <a:ext uri="{FF2B5EF4-FFF2-40B4-BE49-F238E27FC236}">
                <a16:creationId xmlns:a16="http://schemas.microsoft.com/office/drawing/2014/main" id="{50903330-7D38-4589-9DED-F6283E4D1989}"/>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680D7F1C-8822-4267-B95B-51D894B44A4C}"/>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4CA4185A-4DCD-4274-A4E0-B786D5E804D3}"/>
              </a:ext>
            </a:extLst>
          </p:cNvPr>
          <p:cNvSpPr>
            <a:spLocks xmlns:a="http://schemas.openxmlformats.org/drawingml/2006/main" noGrp="1"/>
          </p:cNvSpPr>
          <p:nvPr/>
        </p:nvSpPr>
        <p:spPr>
          <a:xfrm xmlns:a="http://schemas.openxmlformats.org/drawingml/2006/main">
            <a:off x="609600" y="19335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7E83"/>
                </a:solidFill>
                <a:latin typeface="Arial"/>
                <a:ea typeface="Arial"/>
                <a:cs typeface="Arial"/>
              </a:defRPr>
            </a:defPPr>
            <a:lvl1pPr>
              <a:defRPr sz="2100" b="1">
                <a:solidFill>
                  <a:srgbClr val="007E83"/>
                </a:solidFill>
                <a:latin typeface="Arial"/>
                <a:ea typeface="Arial"/>
                <a:cs typeface="Arial"/>
              </a:defRPr>
            </a:lvl1pPr>
            <a:lvl2pPr>
              <a:defRPr sz="2100" b="1">
                <a:solidFill>
                  <a:srgbClr val="007E83"/>
                </a:solidFill>
                <a:latin typeface="Arial"/>
                <a:ea typeface="Arial"/>
                <a:cs typeface="Arial"/>
              </a:defRPr>
            </a:lvl2pPr>
            <a:lvl3pPr>
              <a:defRPr sz="2100" b="1">
                <a:solidFill>
                  <a:srgbClr val="007E83"/>
                </a:solidFill>
                <a:latin typeface="Arial"/>
                <a:ea typeface="Arial"/>
                <a:cs typeface="Arial"/>
              </a:defRPr>
            </a:lvl3pPr>
            <a:lvl4pPr>
              <a:defRPr sz="2100" b="1">
                <a:solidFill>
                  <a:srgbClr val="007E83"/>
                </a:solidFill>
                <a:latin typeface="Arial"/>
                <a:ea typeface="Arial"/>
                <a:cs typeface="Arial"/>
              </a:defRPr>
            </a:lvl4pPr>
            <a:lvl5pPr>
              <a:defRPr sz="2100" b="1">
                <a:solidFill>
                  <a:srgbClr val="007E83"/>
                </a:solidFill>
                <a:latin typeface="Arial"/>
                <a:ea typeface="Arial"/>
                <a:cs typeface="Arial"/>
              </a:defRPr>
            </a:lvl5pPr>
            <a:lvl6pPr>
              <a:defRPr sz="2100" b="1">
                <a:solidFill>
                  <a:srgbClr val="007E83"/>
                </a:solidFill>
                <a:latin typeface="Arial"/>
                <a:ea typeface="Arial"/>
                <a:cs typeface="Arial"/>
              </a:defRPr>
            </a:lvl6pPr>
            <a:lvl7pPr>
              <a:defRPr sz="2100" b="1">
                <a:solidFill>
                  <a:srgbClr val="007E83"/>
                </a:solidFill>
                <a:latin typeface="Arial"/>
                <a:ea typeface="Arial"/>
                <a:cs typeface="Arial"/>
              </a:defRPr>
            </a:lvl7pPr>
            <a:lvl8pPr>
              <a:defRPr sz="2100" b="1">
                <a:solidFill>
                  <a:srgbClr val="007E83"/>
                </a:solidFill>
                <a:latin typeface="Arial"/>
                <a:ea typeface="Arial"/>
                <a:cs typeface="Arial"/>
              </a:defRPr>
            </a:lvl8pPr>
            <a:lvl9pPr>
              <a:defRPr sz="2100" b="1">
                <a:solidFill>
                  <a:srgbClr val="007E83"/>
                </a:solidFill>
                <a:latin typeface="Arial"/>
                <a:ea typeface="Arial"/>
                <a:cs typeface="Arial"/>
              </a:defRPr>
            </a:lvl9pPr>
          </a:lstStyle>
          <a:p xmlns:a="http://schemas.openxmlformats.org/drawingml/2006/main">
            <a:pPr>
              <a:defRPr sz="2100" b="1">
                <a:solidFill>
                  <a:srgbClr val="007E83"/>
                </a:solidFill>
                <a:latin typeface="Arial"/>
                <a:ea typeface="Arial"/>
                <a:cs typeface="Arial"/>
              </a:defRPr>
            </a:pPr>
            <a:r>
              <a:rPr sz="2100" b="1">
                <a:solidFill>
                  <a:srgbClr val="007E83"/>
                </a:solidFill>
                <a:latin typeface="Arial"/>
                <a:ea typeface="Arial"/>
                <a:cs typeface="Arial"/>
              </a:rPr>
              <a:t>150 Linux tests     180 task/seed pairs     12 live isolation checks</a:t>
            </a:r>
          </a:p>
        </p:txBody>
      </p:sp>
      <p:graphicFrame>
        <p:nvGraphicFramePr>
          <p:cNvPr id="6" name="">
            <a:extLst xmlns:a="http://schemas.openxmlformats.org/drawingml/2006/main">
              <a:ext uri="{FF2B5EF4-FFF2-40B4-BE49-F238E27FC236}">
                <a16:creationId xmlns:a16="http://schemas.microsoft.com/office/drawing/2014/main" id="{C4884882-8256-4FCF-A5C0-516C16735A38}"/>
              </a:ext>
            </a:extLst>
          </p:cNvPr>
          <p:cNvGraphicFramePr/>
          <p:nvPr/>
        </p:nvGraphicFramePr>
        <p:xfrm>
          <a:off xmlns:a="http://schemas.openxmlformats.org/drawingml/2006/main" x="609600" y="2762250"/>
          <a:ext xmlns:a="http://schemas.openxmlformats.org/drawingml/2006/main" cx="10972800" cy="2771775"/>
        </p:xfrm>
        <a:graphic xmlns:a="http://schemas.openxmlformats.org/drawingml/2006/main">
          <a:graphicData uri="http://schemas.openxmlformats.org/drawingml/2006/table">
            <a:tbl>
              <a:tblPr/>
              <a:tblGrid>
                <a:gridCol w="3762375"/>
                <a:gridCol w="3333750"/>
                <a:gridCol w="3876675"/>
              </a:tblGrid>
              <a:tr h="554355">
                <a:tc>
                  <a:txBody>
                    <a:bodyPr/>
                    <a:lstStyle/>
                    <a:p>
                      <a:r>
                        <a:rPr sz="1500" b="1">
                          <a:solidFill>
                            <a:srgbClr val="FFFFFF"/>
                          </a:solidFill>
                          <a:latin typeface="Arial"/>
                          <a:ea typeface="Arial"/>
                          <a:cs typeface="Arial"/>
                        </a:rPr>
                        <a:t>Check</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Observed result</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Evidence scope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554355">
                <a:tc>
                  <a:txBody>
                    <a:bodyPr/>
                    <a:lstStyle/>
                    <a:p>
                      <a:r>
                        <a:rPr sz="1575" b="0">
                          <a:solidFill>
                            <a:srgbClr val="193447"/>
                          </a:solidFill>
                          <a:latin typeface="Arial"/>
                          <a:ea typeface="Arial"/>
                          <a:cs typeface="Arial"/>
                        </a:rPr>
                        <a:t>Mission stress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474 / 474 checks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450 simulator + 24 local HTTP</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54355">
                <a:tc>
                  <a:txBody>
                    <a:bodyPr/>
                    <a:lstStyle/>
                    <a:p>
                      <a:r>
                        <a:rPr sz="1575" b="0">
                          <a:solidFill>
                            <a:srgbClr val="193447"/>
                          </a:solidFill>
                          <a:latin typeface="Arial"/>
                          <a:ea typeface="Arial"/>
                          <a:cs typeface="Arial"/>
                        </a:rPr>
                        <a:t>Independent decisions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80 feasible / 394 invalid</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Existing four hard missions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54355">
                <a:tc>
                  <a:txBody>
                    <a:bodyPr/>
                    <a:lstStyle/>
                    <a:p>
                      <a:r>
                        <a:rPr sz="1575" b="0">
                          <a:solidFill>
                            <a:srgbClr val="193447"/>
                          </a:solidFill>
                          <a:latin typeface="Arial"/>
                          <a:ea typeface="Arial"/>
                          <a:cs typeface="Arial"/>
                        </a:rPr>
                        <a:t>Synthetic model interface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13 tests / 32 HTTP requests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Local fixtures, zero model calls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54355">
                <a:tc>
                  <a:txBody>
                    <a:bodyPr/>
                    <a:lstStyle/>
                    <a:p>
                      <a:r>
                        <a:rPr sz="1575" b="0">
                          <a:solidFill>
                            <a:srgbClr val="193447"/>
                          </a:solidFill>
                          <a:latin typeface="Arial"/>
                          <a:ea typeface="Arial"/>
                          <a:cs typeface="Arial"/>
                        </a:rPr>
                        <a:t>Privileged reference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45 / 45 episodes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Feasibility baseline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91FBEB4-B89A-452D-932A-6444735FE72B}"/>
              </a:ext>
            </a:extLst>
          </p:cNvPr>
          <p:cNvSpPr>
            <a:spLocks xmlns:a="http://schemas.openxmlformats.org/drawingml/2006/main" noGrp="1"/>
          </p:cNvSpPr>
          <p:nvPr/>
        </p:nvSpPr>
        <p:spPr>
          <a:xfrm xmlns:a="http://schemas.openxmlformats.org/drawingml/2006/main">
            <a:off x="609600" y="5753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93447"/>
                </a:solidFill>
                <a:latin typeface="Arial"/>
                <a:ea typeface="Arial"/>
                <a:cs typeface="Arial"/>
              </a:defRPr>
            </a:defPPr>
            <a:lvl1pPr>
              <a:defRPr sz="1725" b="0">
                <a:solidFill>
                  <a:srgbClr val="193447"/>
                </a:solidFill>
                <a:latin typeface="Arial"/>
                <a:ea typeface="Arial"/>
                <a:cs typeface="Arial"/>
              </a:defRPr>
            </a:lvl1pPr>
            <a:lvl2pPr>
              <a:defRPr sz="1725" b="0">
                <a:solidFill>
                  <a:srgbClr val="193447"/>
                </a:solidFill>
                <a:latin typeface="Arial"/>
                <a:ea typeface="Arial"/>
                <a:cs typeface="Arial"/>
              </a:defRPr>
            </a:lvl2pPr>
            <a:lvl3pPr>
              <a:defRPr sz="1725" b="0">
                <a:solidFill>
                  <a:srgbClr val="193447"/>
                </a:solidFill>
                <a:latin typeface="Arial"/>
                <a:ea typeface="Arial"/>
                <a:cs typeface="Arial"/>
              </a:defRPr>
            </a:lvl3pPr>
            <a:lvl4pPr>
              <a:defRPr sz="1725" b="0">
                <a:solidFill>
                  <a:srgbClr val="193447"/>
                </a:solidFill>
                <a:latin typeface="Arial"/>
                <a:ea typeface="Arial"/>
                <a:cs typeface="Arial"/>
              </a:defRPr>
            </a:lvl4pPr>
            <a:lvl5pPr>
              <a:defRPr sz="1725" b="0">
                <a:solidFill>
                  <a:srgbClr val="193447"/>
                </a:solidFill>
                <a:latin typeface="Arial"/>
                <a:ea typeface="Arial"/>
                <a:cs typeface="Arial"/>
              </a:defRPr>
            </a:lvl5pPr>
            <a:lvl6pPr>
              <a:defRPr sz="1725" b="0">
                <a:solidFill>
                  <a:srgbClr val="193447"/>
                </a:solidFill>
                <a:latin typeface="Arial"/>
                <a:ea typeface="Arial"/>
                <a:cs typeface="Arial"/>
              </a:defRPr>
            </a:lvl6pPr>
            <a:lvl7pPr>
              <a:defRPr sz="1725" b="0">
                <a:solidFill>
                  <a:srgbClr val="193447"/>
                </a:solidFill>
                <a:latin typeface="Arial"/>
                <a:ea typeface="Arial"/>
                <a:cs typeface="Arial"/>
              </a:defRPr>
            </a:lvl7pPr>
            <a:lvl8pPr>
              <a:defRPr sz="1725" b="0">
                <a:solidFill>
                  <a:srgbClr val="193447"/>
                </a:solidFill>
                <a:latin typeface="Arial"/>
                <a:ea typeface="Arial"/>
                <a:cs typeface="Arial"/>
              </a:defRPr>
            </a:lvl8pPr>
            <a:lvl9pPr>
              <a:defRPr sz="1725" b="0">
                <a:solidFill>
                  <a:srgbClr val="193447"/>
                </a:solidFill>
                <a:latin typeface="Arial"/>
                <a:ea typeface="Arial"/>
                <a:cs typeface="Arial"/>
              </a:defRPr>
            </a:lvl9pPr>
          </a:lstStyle>
          <a:p xmlns:a="http://schemas.openxmlformats.org/drawingml/2006/main">
            <a:pPr>
              <a:defRPr sz="1725" b="0">
                <a:solidFill>
                  <a:srgbClr val="193447"/>
                </a:solidFill>
                <a:latin typeface="Arial"/>
                <a:ea typeface="Arial"/>
                <a:cs typeface="Arial"/>
              </a:defRPr>
            </a:pPr>
            <a:r>
              <a:rPr sz="1725" b="0">
                <a:solidFill>
                  <a:srgbClr val="193447"/>
                </a:solidFill>
                <a:latin typeface="Arial"/>
                <a:ea typeface="Arial"/>
                <a:cs typeface="Arial"/>
              </a:rPr>
              <a:t>All 9 gates pass. Static nominal and maximum radio fail all 20 hard cases.</a:t>
            </a:r>
          </a:p>
        </p:txBody>
      </p:sp>
    </p:spTree>
    <p:extLst>
      <p:ext uri="{BB962C8B-B14F-4D97-AF65-F5344CB8AC3E}">
        <p14:creationId xmlns:p14="http://schemas.microsoft.com/office/powerpoint/2010/main" val="10105404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5F2527-2E54-4718-AF9D-14BB4C8CD7CE}"/>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GPT-6-LUNA</a:t>
            </a:r>
          </a:p>
        </p:txBody>
      </p:sp>
      <p:sp>
        <p:nvSpPr>
          <p:cNvPr id="2" name="">
            <a:extLst xmlns:a="http://schemas.openxmlformats.org/drawingml/2006/main">
              <a:ext uri="{FF2B5EF4-FFF2-40B4-BE49-F238E27FC236}">
                <a16:creationId xmlns:a16="http://schemas.microsoft.com/office/drawing/2014/main" id="{62CFA0D8-8FAB-46D6-AEBD-4B83EA82984F}"/>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Four organizer-model validation attempts</a:t>
            </a:r>
          </a:p>
        </p:txBody>
      </p:sp>
      <p:sp>
        <p:nvSpPr>
          <p:cNvPr id="3" name="">
            <a:extLst xmlns:a="http://schemas.openxmlformats.org/drawingml/2006/main">
              <a:ext uri="{FF2B5EF4-FFF2-40B4-BE49-F238E27FC236}">
                <a16:creationId xmlns:a16="http://schemas.microsoft.com/office/drawing/2014/main" id="{E2B1DC7E-7AB4-403E-B29F-2C7DF0016277}"/>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D229CBE9-059C-4B0F-A60D-059B35C2D357}"/>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09</a:t>
            </a:r>
          </a:p>
        </p:txBody>
      </p:sp>
      <p:graphicFrame>
        <p:nvGraphicFramePr>
          <p:cNvPr id="5" name="">
            <a:extLst xmlns:a="http://schemas.openxmlformats.org/drawingml/2006/main">
              <a:ext uri="{FF2B5EF4-FFF2-40B4-BE49-F238E27FC236}">
                <a16:creationId xmlns:a16="http://schemas.microsoft.com/office/drawing/2014/main" id="{AF10A039-D0D0-4659-9034-649C82D7BB83}"/>
              </a:ext>
            </a:extLst>
          </p:cNvPr>
          <p:cNvGraphicFramePr/>
          <p:nvPr/>
        </p:nvGraphicFramePr>
        <p:xfrm>
          <a:off xmlns:a="http://schemas.openxmlformats.org/drawingml/2006/main" x="609600" y="2038350"/>
          <a:ext xmlns:a="http://schemas.openxmlformats.org/drawingml/2006/main" cx="10972800" cy="3238500"/>
        </p:xfrm>
        <a:graphic xmlns:a="http://schemas.openxmlformats.org/drawingml/2006/main">
          <a:graphicData uri="http://schemas.openxmlformats.org/drawingml/2006/table">
            <a:tbl>
              <a:tblPr/>
              <a:tblGrid>
                <a:gridCol w="4019550"/>
                <a:gridCol w="3333750"/>
                <a:gridCol w="1238250"/>
                <a:gridCol w="2381250"/>
              </a:tblGrid>
              <a:tr h="647700">
                <a:tc>
                  <a:txBody>
                    <a:bodyPr/>
                    <a:lstStyle/>
                    <a:p>
                      <a:r>
                        <a:rPr sz="1500" b="1">
                          <a:solidFill>
                            <a:srgbClr val="FFFFFF"/>
                          </a:solidFill>
                          <a:latin typeface="Arial"/>
                          <a:ea typeface="Arial"/>
                          <a:cs typeface="Arial"/>
                        </a:rPr>
                        <a:t>Attempt</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 / 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Replies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Harness seconds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47700">
                <a:tc>
                  <a:txBody>
                    <a:bodyPr/>
                    <a:lstStyle/>
                    <a:p>
                      <a:r>
                        <a:rPr sz="1650" b="0">
                          <a:solidFill>
                            <a:srgbClr val="193447"/>
                          </a:solidFill>
                          <a:latin typeface="Arial"/>
                          <a:ea typeface="Arial"/>
                          <a:cs typeface="Arial"/>
                        </a:rPr>
                        <a:t>EPS Run A, no append</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49.44</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Radio energy,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58.97</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47700">
                <a:tc>
                  <a:txBody>
                    <a:bodyPr/>
                    <a:lstStyle/>
                    <a:p>
                      <a:r>
                        <a:rPr sz="1650" b="0">
                          <a:solidFill>
                            <a:srgbClr val="193447"/>
                          </a:solidFill>
                          <a:latin typeface="Arial"/>
                          <a:ea typeface="Arial"/>
                          <a:cs typeface="Arial"/>
                        </a:rPr>
                        <a:t>Science,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28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193.68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Observation,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failure / 0.8</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94.39</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3A8B71E-2C3F-4786-BC8C-00A8AC24709D}"/>
              </a:ext>
            </a:extLst>
          </p:cNvPr>
          <p:cNvSpPr>
            <a:spLocks xmlns:a="http://schemas.openxmlformats.org/drawingml/2006/main" noGrp="1"/>
          </p:cNvSpPr>
          <p:nvPr/>
        </p:nvSpPr>
        <p:spPr>
          <a:xfrm xmlns:a="http://schemas.openxmlformats.org/drawingml/2006/main">
            <a:off x="609600" y="56483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E83"/>
                </a:solidFill>
                <a:latin typeface="Arial"/>
                <a:ea typeface="Arial"/>
                <a:cs typeface="Arial"/>
              </a:defRPr>
            </a:defPPr>
            <a:lvl1pPr>
              <a:defRPr sz="1800" b="1">
                <a:solidFill>
                  <a:srgbClr val="007E83"/>
                </a:solidFill>
                <a:latin typeface="Arial"/>
                <a:ea typeface="Arial"/>
                <a:cs typeface="Arial"/>
              </a:defRPr>
            </a:lvl1pPr>
            <a:lvl2pPr>
              <a:defRPr sz="1800" b="1">
                <a:solidFill>
                  <a:srgbClr val="007E83"/>
                </a:solidFill>
                <a:latin typeface="Arial"/>
                <a:ea typeface="Arial"/>
                <a:cs typeface="Arial"/>
              </a:defRPr>
            </a:lvl2pPr>
            <a:lvl3pPr>
              <a:defRPr sz="1800" b="1">
                <a:solidFill>
                  <a:srgbClr val="007E83"/>
                </a:solidFill>
                <a:latin typeface="Arial"/>
                <a:ea typeface="Arial"/>
                <a:cs typeface="Arial"/>
              </a:defRPr>
            </a:lvl3pPr>
            <a:lvl4pPr>
              <a:defRPr sz="1800" b="1">
                <a:solidFill>
                  <a:srgbClr val="007E83"/>
                </a:solidFill>
                <a:latin typeface="Arial"/>
                <a:ea typeface="Arial"/>
                <a:cs typeface="Arial"/>
              </a:defRPr>
            </a:lvl4pPr>
            <a:lvl5pPr>
              <a:defRPr sz="1800" b="1">
                <a:solidFill>
                  <a:srgbClr val="007E83"/>
                </a:solidFill>
                <a:latin typeface="Arial"/>
                <a:ea typeface="Arial"/>
                <a:cs typeface="Arial"/>
              </a:defRPr>
            </a:lvl5pPr>
            <a:lvl6pPr>
              <a:defRPr sz="1800" b="1">
                <a:solidFill>
                  <a:srgbClr val="007E83"/>
                </a:solidFill>
                <a:latin typeface="Arial"/>
                <a:ea typeface="Arial"/>
                <a:cs typeface="Arial"/>
              </a:defRPr>
            </a:lvl6pPr>
            <a:lvl7pPr>
              <a:defRPr sz="1800" b="1">
                <a:solidFill>
                  <a:srgbClr val="007E83"/>
                </a:solidFill>
                <a:latin typeface="Arial"/>
                <a:ea typeface="Arial"/>
                <a:cs typeface="Arial"/>
              </a:defRPr>
            </a:lvl7pPr>
            <a:lvl8pPr>
              <a:defRPr sz="1800" b="1">
                <a:solidFill>
                  <a:srgbClr val="007E83"/>
                </a:solidFill>
                <a:latin typeface="Arial"/>
                <a:ea typeface="Arial"/>
                <a:cs typeface="Arial"/>
              </a:defRPr>
            </a:lvl8pPr>
            <a:lvl9pPr>
              <a:defRPr sz="1800" b="1">
                <a:solidFill>
                  <a:srgbClr val="007E83"/>
                </a:solidFill>
                <a:latin typeface="Arial"/>
                <a:ea typeface="Arial"/>
                <a:cs typeface="Arial"/>
              </a:defRPr>
            </a:lvl9pPr>
          </a:lstStyle>
          <a:p xmlns:a="http://schemas.openxmlformats.org/drawingml/2006/main">
            <a:pPr>
              <a:defRPr sz="1800" b="1">
                <a:solidFill>
                  <a:srgbClr val="007E83"/>
                </a:solidFill>
                <a:latin typeface="Arial"/>
                <a:ea typeface="Arial"/>
                <a:cs typeface="Arial"/>
              </a:defRPr>
            </a:pPr>
            <a:r>
              <a:rPr sz="1800" b="1">
                <a:solidFill>
                  <a:srgbClr val="007E83"/>
                </a:solidFill>
                <a:latin typeface="Arial"/>
                <a:ea typeface="Arial"/>
                <a:cs typeface="Arial"/>
              </a:rPr>
              <a:t>3 / 4 successful attempts. Full replies, actions and failure reasons are preserved.</a:t>
            </a:r>
          </a:p>
        </p:txBody>
      </p:sp>
    </p:spTree>
    <p:extLst>
      <p:ext uri="{BB962C8B-B14F-4D97-AF65-F5344CB8AC3E}">
        <p14:creationId xmlns:p14="http://schemas.microsoft.com/office/powerpoint/2010/main" val="560317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E7CDCA-D55C-4FD8-AB38-9F8A4C629F66}"/>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RUN A AND KNOWN LIMITS</a:t>
            </a:r>
          </a:p>
        </p:txBody>
      </p:sp>
      <p:sp>
        <p:nvSpPr>
          <p:cNvPr id="2" name="">
            <a:extLst xmlns:a="http://schemas.openxmlformats.org/drawingml/2006/main">
              <a:ext uri="{FF2B5EF4-FFF2-40B4-BE49-F238E27FC236}">
                <a16:creationId xmlns:a16="http://schemas.microsoft.com/office/drawing/2014/main" id="{D51241DB-FFFF-4A24-B059-7F180878AA00}"/>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Demo and presentation defense</a:t>
            </a:r>
          </a:p>
        </p:txBody>
      </p:sp>
      <p:sp>
        <p:nvSpPr>
          <p:cNvPr id="3" name="">
            <a:extLst xmlns:a="http://schemas.openxmlformats.org/drawingml/2006/main">
              <a:ext uri="{FF2B5EF4-FFF2-40B4-BE49-F238E27FC236}">
                <a16:creationId xmlns:a16="http://schemas.microsoft.com/office/drawing/2014/main" id="{7CDD5A1E-5E15-4313-A5D5-825D7BDFE252}"/>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D77717E9-239A-4A5D-A56C-61C2B54AA6F3}"/>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451A052B-A268-41B9-B465-B3E435CCA5FE}"/>
              </a:ext>
            </a:extLst>
          </p:cNvPr>
          <p:cNvSpPr>
            <a:spLocks xmlns:a="http://schemas.openxmlformats.org/drawingml/2006/main" noGrp="1"/>
          </p:cNvSpPr>
          <p:nvPr/>
        </p:nvSpPr>
        <p:spPr>
          <a:xfrm xmlns:a="http://schemas.openxmlformats.org/drawingml/2006/main">
            <a:off x="609600" y="19716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102539"/>
                </a:solidFill>
                <a:latin typeface="Arial"/>
                <a:ea typeface="Arial"/>
                <a:cs typeface="Arial"/>
              </a:defRPr>
            </a:defPPr>
            <a:lvl1pPr>
              <a:defRPr sz="2700" b="1">
                <a:solidFill>
                  <a:srgbClr val="102539"/>
                </a:solidFill>
                <a:latin typeface="Arial"/>
                <a:ea typeface="Arial"/>
                <a:cs typeface="Arial"/>
              </a:defRPr>
            </a:lvl1pPr>
            <a:lvl2pPr>
              <a:defRPr sz="2700" b="1">
                <a:solidFill>
                  <a:srgbClr val="102539"/>
                </a:solidFill>
                <a:latin typeface="Arial"/>
                <a:ea typeface="Arial"/>
                <a:cs typeface="Arial"/>
              </a:defRPr>
            </a:lvl2pPr>
            <a:lvl3pPr>
              <a:defRPr sz="2700" b="1">
                <a:solidFill>
                  <a:srgbClr val="102539"/>
                </a:solidFill>
                <a:latin typeface="Arial"/>
                <a:ea typeface="Arial"/>
                <a:cs typeface="Arial"/>
              </a:defRPr>
            </a:lvl3pPr>
            <a:lvl4pPr>
              <a:defRPr sz="2700" b="1">
                <a:solidFill>
                  <a:srgbClr val="102539"/>
                </a:solidFill>
                <a:latin typeface="Arial"/>
                <a:ea typeface="Arial"/>
                <a:cs typeface="Arial"/>
              </a:defRPr>
            </a:lvl4pPr>
            <a:lvl5pPr>
              <a:defRPr sz="2700" b="1">
                <a:solidFill>
                  <a:srgbClr val="102539"/>
                </a:solidFill>
                <a:latin typeface="Arial"/>
                <a:ea typeface="Arial"/>
                <a:cs typeface="Arial"/>
              </a:defRPr>
            </a:lvl5pPr>
            <a:lvl6pPr>
              <a:defRPr sz="2700" b="1">
                <a:solidFill>
                  <a:srgbClr val="102539"/>
                </a:solidFill>
                <a:latin typeface="Arial"/>
                <a:ea typeface="Arial"/>
                <a:cs typeface="Arial"/>
              </a:defRPr>
            </a:lvl6pPr>
            <a:lvl7pPr>
              <a:defRPr sz="2700" b="1">
                <a:solidFill>
                  <a:srgbClr val="102539"/>
                </a:solidFill>
                <a:latin typeface="Arial"/>
                <a:ea typeface="Arial"/>
                <a:cs typeface="Arial"/>
              </a:defRPr>
            </a:lvl7pPr>
            <a:lvl8pPr>
              <a:defRPr sz="2700" b="1">
                <a:solidFill>
                  <a:srgbClr val="102539"/>
                </a:solidFill>
                <a:latin typeface="Arial"/>
                <a:ea typeface="Arial"/>
                <a:cs typeface="Arial"/>
              </a:defRPr>
            </a:lvl8pPr>
            <a:lvl9pPr>
              <a:defRPr sz="2700" b="1">
                <a:solidFill>
                  <a:srgbClr val="102539"/>
                </a:solidFill>
                <a:latin typeface="Arial"/>
                <a:ea typeface="Arial"/>
                <a:cs typeface="Arial"/>
              </a:defRPr>
            </a:lvl9pPr>
          </a:lstStyle>
          <a:p xmlns:a="http://schemas.openxmlformats.org/drawingml/2006/main">
            <a:pPr>
              <a:defRPr sz="2700" b="1">
                <a:solidFill>
                  <a:srgbClr val="102539"/>
                </a:solidFill>
                <a:latin typeface="Arial"/>
                <a:ea typeface="Arial"/>
                <a:cs typeface="Arial"/>
              </a:defRPr>
            </a:pPr>
            <a:r>
              <a:rPr sz="2700" b="1">
                <a:solidFill>
                  <a:srgbClr val="102539"/>
                </a:solidFill>
                <a:latin typeface="Arial"/>
                <a:ea typeface="Arial"/>
                <a:cs typeface="Arial"/>
              </a:rPr>
              <a:t>Run A: EPS recovery, seed 0</a:t>
            </a:r>
          </a:p>
        </p:txBody>
      </p:sp>
      <p:sp>
        <p:nvSpPr>
          <p:cNvPr id="6" name="">
            <a:extLst xmlns:a="http://schemas.openxmlformats.org/drawingml/2006/main">
              <a:ext uri="{FF2B5EF4-FFF2-40B4-BE49-F238E27FC236}">
                <a16:creationId xmlns:a16="http://schemas.microsoft.com/office/drawing/2014/main" id="{6C0D4267-5791-4578-AF8A-24DF3D268305}"/>
              </a:ext>
            </a:extLst>
          </p:cNvPr>
          <p:cNvSpPr>
            <a:spLocks xmlns:a="http://schemas.openxmlformats.org/drawingml/2006/main" noGrp="1"/>
          </p:cNvSpPr>
          <p:nvPr/>
        </p:nvSpPr>
        <p:spPr>
          <a:xfrm xmlns:a="http://schemas.openxmlformats.org/drawingml/2006/main">
            <a:off x="609600" y="27717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success     reward 1     11 replies     49.44 harness seconds</a:t>
            </a:r>
          </a:p>
        </p:txBody>
      </p:sp>
      <p:sp>
        <p:nvSpPr>
          <p:cNvPr id="7" name="">
            <a:extLst xmlns:a="http://schemas.openxmlformats.org/drawingml/2006/main">
              <a:ext uri="{FF2B5EF4-FFF2-40B4-BE49-F238E27FC236}">
                <a16:creationId xmlns:a16="http://schemas.microsoft.com/office/drawing/2014/main" id="{621E53D4-8442-42C2-AEA0-5E6B873DFFC1}"/>
              </a:ext>
            </a:extLst>
          </p:cNvPr>
          <p:cNvSpPr>
            <a:spLocks xmlns:a="http://schemas.openxmlformats.org/drawingml/2006/main" noGrp="1"/>
          </p:cNvSpPr>
          <p:nvPr/>
        </p:nvSpPr>
        <p:spPr>
          <a:xfrm xmlns:a="http://schemas.openxmlformats.org/drawingml/2006/main">
            <a:off x="609600" y="37814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539"/>
                </a:solidFill>
                <a:latin typeface="Arial"/>
                <a:ea typeface="Arial"/>
                <a:cs typeface="Arial"/>
              </a:defRPr>
            </a:defPPr>
            <a:lvl1pPr>
              <a:defRPr sz="2250" b="1">
                <a:solidFill>
                  <a:srgbClr val="102539"/>
                </a:solidFill>
                <a:latin typeface="Arial"/>
                <a:ea typeface="Arial"/>
                <a:cs typeface="Arial"/>
              </a:defRPr>
            </a:lvl1pPr>
            <a:lvl2pPr>
              <a:defRPr sz="2250" b="1">
                <a:solidFill>
                  <a:srgbClr val="102539"/>
                </a:solidFill>
                <a:latin typeface="Arial"/>
                <a:ea typeface="Arial"/>
                <a:cs typeface="Arial"/>
              </a:defRPr>
            </a:lvl2pPr>
            <a:lvl3pPr>
              <a:defRPr sz="2250" b="1">
                <a:solidFill>
                  <a:srgbClr val="102539"/>
                </a:solidFill>
                <a:latin typeface="Arial"/>
                <a:ea typeface="Arial"/>
                <a:cs typeface="Arial"/>
              </a:defRPr>
            </a:lvl3pPr>
            <a:lvl4pPr>
              <a:defRPr sz="2250" b="1">
                <a:solidFill>
                  <a:srgbClr val="102539"/>
                </a:solidFill>
                <a:latin typeface="Arial"/>
                <a:ea typeface="Arial"/>
                <a:cs typeface="Arial"/>
              </a:defRPr>
            </a:lvl4pPr>
            <a:lvl5pPr>
              <a:defRPr sz="2250" b="1">
                <a:solidFill>
                  <a:srgbClr val="102539"/>
                </a:solidFill>
                <a:latin typeface="Arial"/>
                <a:ea typeface="Arial"/>
                <a:cs typeface="Arial"/>
              </a:defRPr>
            </a:lvl5pPr>
            <a:lvl6pPr>
              <a:defRPr sz="2250" b="1">
                <a:solidFill>
                  <a:srgbClr val="102539"/>
                </a:solidFill>
                <a:latin typeface="Arial"/>
                <a:ea typeface="Arial"/>
                <a:cs typeface="Arial"/>
              </a:defRPr>
            </a:lvl6pPr>
            <a:lvl7pPr>
              <a:defRPr sz="2250" b="1">
                <a:solidFill>
                  <a:srgbClr val="102539"/>
                </a:solidFill>
                <a:latin typeface="Arial"/>
                <a:ea typeface="Arial"/>
                <a:cs typeface="Arial"/>
              </a:defRPr>
            </a:lvl7pPr>
            <a:lvl8pPr>
              <a:defRPr sz="2250" b="1">
                <a:solidFill>
                  <a:srgbClr val="102539"/>
                </a:solidFill>
                <a:latin typeface="Arial"/>
                <a:ea typeface="Arial"/>
                <a:cs typeface="Arial"/>
              </a:defRPr>
            </a:lvl8pPr>
            <a:lvl9pPr>
              <a:defRPr sz="2250" b="1">
                <a:solidFill>
                  <a:srgbClr val="102539"/>
                </a:solidFill>
                <a:latin typeface="Arial"/>
                <a:ea typeface="Arial"/>
                <a:cs typeface="Arial"/>
              </a:defRPr>
            </a:lvl9pPr>
          </a:lstStyle>
          <a:p xmlns:a="http://schemas.openxmlformats.org/drawingml/2006/main">
            <a:pPr>
              <a:defRPr sz="2250" b="1">
                <a:solidFill>
                  <a:srgbClr val="102539"/>
                </a:solidFill>
                <a:latin typeface="Arial"/>
                <a:ea typeface="Arial"/>
                <a:cs typeface="Arial"/>
              </a:defRPr>
            </a:pPr>
            <a:r>
              <a:rPr sz="2250" b="1">
                <a:solidFill>
                  <a:srgbClr val="102539"/>
                </a:solidFill>
                <a:latin typeface="Arial"/>
                <a:ea typeface="Arial"/>
                <a:cs typeface="Arial"/>
              </a:rPr>
              <a:t>Defensible claims and limits</a:t>
            </a:r>
          </a:p>
        </p:txBody>
      </p:sp>
      <p:sp>
        <p:nvSpPr>
          <p:cNvPr id="8" name="">
            <a:extLst xmlns:a="http://schemas.openxmlformats.org/drawingml/2006/main">
              <a:ext uri="{FF2B5EF4-FFF2-40B4-BE49-F238E27FC236}">
                <a16:creationId xmlns:a16="http://schemas.microsoft.com/office/drawing/2014/main" id="{AB370E88-997B-4868-917C-2887CCD94325}"/>
              </a:ext>
            </a:extLst>
          </p:cNvPr>
          <p:cNvSpPr>
            <a:spLocks xmlns:a="http://schemas.openxmlformats.org/drawingml/2006/main" noGrp="1"/>
          </p:cNvSpPr>
          <p:nvPr/>
        </p:nvSpPr>
        <p:spPr>
          <a:xfrm xmlns:a="http://schemas.openxmlformats.org/drawingml/2006/main">
            <a:off x="609600" y="4400550"/>
            <a:ext cx="109728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93447"/>
                </a:solidFill>
                <a:latin typeface="Arial"/>
                <a:ea typeface="Arial"/>
                <a:cs typeface="Arial"/>
              </a:defRPr>
            </a:defPPr>
            <a:lvl1pPr>
              <a:defRPr sz="1950" b="0">
                <a:solidFill>
                  <a:srgbClr val="193447"/>
                </a:solidFill>
                <a:latin typeface="Arial"/>
                <a:ea typeface="Arial"/>
                <a:cs typeface="Arial"/>
              </a:defRPr>
            </a:lvl1pPr>
            <a:lvl2pPr>
              <a:defRPr sz="1950" b="0">
                <a:solidFill>
                  <a:srgbClr val="193447"/>
                </a:solidFill>
                <a:latin typeface="Arial"/>
                <a:ea typeface="Arial"/>
                <a:cs typeface="Arial"/>
              </a:defRPr>
            </a:lvl2pPr>
            <a:lvl3pPr>
              <a:defRPr sz="1950" b="0">
                <a:solidFill>
                  <a:srgbClr val="193447"/>
                </a:solidFill>
                <a:latin typeface="Arial"/>
                <a:ea typeface="Arial"/>
                <a:cs typeface="Arial"/>
              </a:defRPr>
            </a:lvl3pPr>
            <a:lvl4pPr>
              <a:defRPr sz="1950" b="0">
                <a:solidFill>
                  <a:srgbClr val="193447"/>
                </a:solidFill>
                <a:latin typeface="Arial"/>
                <a:ea typeface="Arial"/>
                <a:cs typeface="Arial"/>
              </a:defRPr>
            </a:lvl4pPr>
            <a:lvl5pPr>
              <a:defRPr sz="1950" b="0">
                <a:solidFill>
                  <a:srgbClr val="193447"/>
                </a:solidFill>
                <a:latin typeface="Arial"/>
                <a:ea typeface="Arial"/>
                <a:cs typeface="Arial"/>
              </a:defRPr>
            </a:lvl5pPr>
            <a:lvl6pPr>
              <a:defRPr sz="1950" b="0">
                <a:solidFill>
                  <a:srgbClr val="193447"/>
                </a:solidFill>
                <a:latin typeface="Arial"/>
                <a:ea typeface="Arial"/>
                <a:cs typeface="Arial"/>
              </a:defRPr>
            </a:lvl6pPr>
            <a:lvl7pPr>
              <a:defRPr sz="1950" b="0">
                <a:solidFill>
                  <a:srgbClr val="193447"/>
                </a:solidFill>
                <a:latin typeface="Arial"/>
                <a:ea typeface="Arial"/>
                <a:cs typeface="Arial"/>
              </a:defRPr>
            </a:lvl7pPr>
            <a:lvl8pPr>
              <a:defRPr sz="1950" b="0">
                <a:solidFill>
                  <a:srgbClr val="193447"/>
                </a:solidFill>
                <a:latin typeface="Arial"/>
                <a:ea typeface="Arial"/>
                <a:cs typeface="Arial"/>
              </a:defRPr>
            </a:lvl8pPr>
            <a:lvl9pPr>
              <a:defRPr sz="1950" b="0">
                <a:solidFill>
                  <a:srgbClr val="193447"/>
                </a:solidFill>
                <a:latin typeface="Arial"/>
                <a:ea typeface="Arial"/>
                <a:cs typeface="Arial"/>
              </a:defRPr>
            </a:lvl9pPr>
          </a:lstStyle>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Coupled planning, deterministic resets, protected causal scoring.</a:t>
            </a:r>
          </a:p>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Simplified physics, finite exploit coverage, one live deployment tested.</a:t>
            </a:r>
          </a:p>
        </p:txBody>
      </p:sp>
      <p:sp>
        <p:nvSpPr>
          <p:cNvPr id="9" name="">
            <a:extLst xmlns:a="http://schemas.openxmlformats.org/drawingml/2006/main">
              <a:ext uri="{FF2B5EF4-FFF2-40B4-BE49-F238E27FC236}">
                <a16:creationId xmlns:a16="http://schemas.microsoft.com/office/drawing/2014/main" id="{6C61A378-855E-44B8-AADF-C7D6577FB6B7}"/>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36777"/>
                </a:solidFill>
                <a:latin typeface="Arial"/>
                <a:ea typeface="Arial"/>
                <a:cs typeface="Arial"/>
              </a:defRPr>
            </a:defPPr>
            <a:lvl1pPr>
              <a:defRPr sz="1650" b="0">
                <a:solidFill>
                  <a:srgbClr val="536777"/>
                </a:solidFill>
                <a:latin typeface="Arial"/>
                <a:ea typeface="Arial"/>
                <a:cs typeface="Arial"/>
              </a:defRPr>
            </a:lvl1pPr>
            <a:lvl2pPr>
              <a:defRPr sz="1650" b="0">
                <a:solidFill>
                  <a:srgbClr val="536777"/>
                </a:solidFill>
                <a:latin typeface="Arial"/>
                <a:ea typeface="Arial"/>
                <a:cs typeface="Arial"/>
              </a:defRPr>
            </a:lvl2pPr>
            <a:lvl3pPr>
              <a:defRPr sz="1650" b="0">
                <a:solidFill>
                  <a:srgbClr val="536777"/>
                </a:solidFill>
                <a:latin typeface="Arial"/>
                <a:ea typeface="Arial"/>
                <a:cs typeface="Arial"/>
              </a:defRPr>
            </a:lvl3pPr>
            <a:lvl4pPr>
              <a:defRPr sz="1650" b="0">
                <a:solidFill>
                  <a:srgbClr val="536777"/>
                </a:solidFill>
                <a:latin typeface="Arial"/>
                <a:ea typeface="Arial"/>
                <a:cs typeface="Arial"/>
              </a:defRPr>
            </a:lvl4pPr>
            <a:lvl5pPr>
              <a:defRPr sz="1650" b="0">
                <a:solidFill>
                  <a:srgbClr val="536777"/>
                </a:solidFill>
                <a:latin typeface="Arial"/>
                <a:ea typeface="Arial"/>
                <a:cs typeface="Arial"/>
              </a:defRPr>
            </a:lvl5pPr>
            <a:lvl6pPr>
              <a:defRPr sz="1650" b="0">
                <a:solidFill>
                  <a:srgbClr val="536777"/>
                </a:solidFill>
                <a:latin typeface="Arial"/>
                <a:ea typeface="Arial"/>
                <a:cs typeface="Arial"/>
              </a:defRPr>
            </a:lvl6pPr>
            <a:lvl7pPr>
              <a:defRPr sz="1650" b="0">
                <a:solidFill>
                  <a:srgbClr val="536777"/>
                </a:solidFill>
                <a:latin typeface="Arial"/>
                <a:ea typeface="Arial"/>
                <a:cs typeface="Arial"/>
              </a:defRPr>
            </a:lvl7pPr>
            <a:lvl8pPr>
              <a:defRPr sz="1650" b="0">
                <a:solidFill>
                  <a:srgbClr val="536777"/>
                </a:solidFill>
                <a:latin typeface="Arial"/>
                <a:ea typeface="Arial"/>
                <a:cs typeface="Arial"/>
              </a:defRPr>
            </a:lvl8pPr>
            <a:lvl9pPr>
              <a:defRPr sz="1650" b="0">
                <a:solidFill>
                  <a:srgbClr val="536777"/>
                </a:solidFill>
                <a:latin typeface="Arial"/>
                <a:ea typeface="Arial"/>
                <a:cs typeface="Arial"/>
              </a:defRPr>
            </a:lvl9pPr>
          </a:lstStyle>
          <a:p xmlns:a="http://schemas.openxmlformats.org/drawingml/2006/main">
            <a:pPr>
              <a:defRPr sz="1650" b="0">
                <a:solidFill>
                  <a:srgbClr val="536777"/>
                </a:solidFill>
                <a:latin typeface="Arial"/>
                <a:ea typeface="Arial"/>
                <a:cs typeface="Arial"/>
              </a:defRPr>
            </a:pPr>
            <a:r>
              <a:rPr sz="1650" b="0">
                <a:solidFill>
                  <a:srgbClr val="536777"/>
                </a:solidFill>
                <a:latin typeface="Arial"/>
                <a:ea typeface="Arial"/>
                <a:cs typeface="Arial"/>
              </a:rPr>
              <a:t>ASTRO naming is confirmed. Invitations await acceptance. Public visibility remains a PS exception.</a:t>
            </a:r>
          </a:p>
        </p:txBody>
      </p:sp>
    </p:spTree>
    <p:extLst>
      <p:ext uri="{BB962C8B-B14F-4D97-AF65-F5344CB8AC3E}">
        <p14:creationId xmlns:p14="http://schemas.microsoft.com/office/powerpoint/2010/main" val="15060899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2026-10-25T03:51:42.3140000Z</dcterms:created>
  <dcterms:modified xsi:type="dcterms:W3CDTF">2026-10-25T03:51:42.3140000Z</dcterms:modified>
</coreProperties>
</file>